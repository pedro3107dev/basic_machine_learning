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99" r:id="rId5"/>
    <p:sldId id="267" r:id="rId6"/>
    <p:sldId id="268" r:id="rId7"/>
    <p:sldId id="261" r:id="rId8"/>
    <p:sldId id="259" r:id="rId9"/>
    <p:sldId id="262" r:id="rId10"/>
    <p:sldId id="263" r:id="rId11"/>
    <p:sldId id="265" r:id="rId12"/>
    <p:sldId id="266" r:id="rId13"/>
    <p:sldId id="264" r:id="rId14"/>
    <p:sldId id="274" r:id="rId15"/>
    <p:sldId id="270" r:id="rId16"/>
    <p:sldId id="269" r:id="rId17"/>
    <p:sldId id="271" r:id="rId18"/>
    <p:sldId id="279" r:id="rId19"/>
    <p:sldId id="281" r:id="rId20"/>
    <p:sldId id="282" r:id="rId21"/>
    <p:sldId id="283" r:id="rId22"/>
    <p:sldId id="285" r:id="rId23"/>
    <p:sldId id="284" r:id="rId24"/>
    <p:sldId id="301" r:id="rId25"/>
    <p:sldId id="302" r:id="rId26"/>
    <p:sldId id="303" r:id="rId27"/>
    <p:sldId id="273" r:id="rId28"/>
    <p:sldId id="304" r:id="rId29"/>
    <p:sldId id="278" r:id="rId30"/>
    <p:sldId id="290" r:id="rId31"/>
    <p:sldId id="291" r:id="rId32"/>
    <p:sldId id="305" r:id="rId33"/>
    <p:sldId id="275" r:id="rId34"/>
    <p:sldId id="276" r:id="rId35"/>
    <p:sldId id="277" r:id="rId36"/>
    <p:sldId id="287" r:id="rId37"/>
    <p:sldId id="288" r:id="rId38"/>
    <p:sldId id="286" r:id="rId39"/>
    <p:sldId id="300" r:id="rId40"/>
    <p:sldId id="298" r:id="rId41"/>
    <p:sldId id="292" r:id="rId42"/>
    <p:sldId id="293" r:id="rId43"/>
    <p:sldId id="294" r:id="rId44"/>
    <p:sldId id="295" r:id="rId45"/>
    <p:sldId id="296" r:id="rId46"/>
    <p:sldId id="297" r:id="rId4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66"/>
    <p:restoredTop sz="94322"/>
  </p:normalViewPr>
  <p:slideViewPr>
    <p:cSldViewPr snapToGrid="0" snapToObjects="1">
      <p:cViewPr varScale="1">
        <p:scale>
          <a:sx n="98" d="100"/>
          <a:sy n="98" d="100"/>
        </p:scale>
        <p:origin x="3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D0B4F-8E27-48A4-9904-7B2EBCCEB7CF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DE36530-BC01-4BFB-A170-E4983DE14603}">
      <dgm:prSet custT="1"/>
      <dgm:spPr/>
      <dgm:t>
        <a:bodyPr/>
        <a:lstStyle/>
        <a:p>
          <a:r>
            <a:rPr lang="en-US" sz="2400" dirty="0"/>
            <a:t>From input Layer to hidden Layer1</a:t>
          </a:r>
        </a:p>
      </dgm:t>
    </dgm:pt>
    <dgm:pt modelId="{87247AA6-BD9A-45D2-91E9-AB04136924D3}" type="parTrans" cxnId="{23EF9C5E-22EA-462D-AF98-69F72557B55A}">
      <dgm:prSet/>
      <dgm:spPr/>
      <dgm:t>
        <a:bodyPr/>
        <a:lstStyle/>
        <a:p>
          <a:endParaRPr lang="en-US"/>
        </a:p>
      </dgm:t>
    </dgm:pt>
    <dgm:pt modelId="{39FEC3F9-E3AD-424D-9711-66BC34625662}" type="sibTrans" cxnId="{23EF9C5E-22EA-462D-AF98-69F72557B55A}">
      <dgm:prSet/>
      <dgm:spPr/>
      <dgm:t>
        <a:bodyPr/>
        <a:lstStyle/>
        <a:p>
          <a:endParaRPr lang="en-US"/>
        </a:p>
      </dgm:t>
    </dgm:pt>
    <dgm:pt modelId="{AFBD3DBD-F9A0-468B-A6BD-91E6EE0DDD8D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z</a:t>
          </a:r>
          <a:r>
            <a:rPr lang="en-US" sz="3000" baseline="-25000" dirty="0"/>
            <a:t>1</a:t>
          </a:r>
          <a:r>
            <a:rPr lang="en-US" sz="3000" dirty="0"/>
            <a:t> = w</a:t>
          </a:r>
          <a:r>
            <a:rPr lang="en-US" sz="3000" baseline="-25000" dirty="0"/>
            <a:t>1</a:t>
          </a:r>
          <a:r>
            <a:rPr lang="en-US" sz="3000" dirty="0"/>
            <a:t>*a</a:t>
          </a:r>
          <a:r>
            <a:rPr lang="en-US" sz="3000" baseline="-25000" dirty="0"/>
            <a:t>0</a:t>
          </a:r>
          <a:r>
            <a:rPr lang="en-US" sz="3000" dirty="0"/>
            <a:t> +B</a:t>
          </a:r>
          <a:r>
            <a:rPr lang="en-US" sz="3000" baseline="-25000" dirty="0"/>
            <a:t>1</a:t>
          </a:r>
          <a:endParaRPr lang="en-US" sz="3000" dirty="0"/>
        </a:p>
      </dgm:t>
    </dgm:pt>
    <dgm:pt modelId="{2455804C-F5AC-417E-A38B-CC9B81D1A8FA}" type="parTrans" cxnId="{356313BF-9E9D-445A-9AF9-A6859FC31C36}">
      <dgm:prSet/>
      <dgm:spPr/>
      <dgm:t>
        <a:bodyPr/>
        <a:lstStyle/>
        <a:p>
          <a:endParaRPr lang="en-US"/>
        </a:p>
      </dgm:t>
    </dgm:pt>
    <dgm:pt modelId="{2318406C-C60A-4248-AE65-459B42F2DEC6}" type="sibTrans" cxnId="{356313BF-9E9D-445A-9AF9-A6859FC31C36}">
      <dgm:prSet/>
      <dgm:spPr/>
      <dgm:t>
        <a:bodyPr/>
        <a:lstStyle/>
        <a:p>
          <a:endParaRPr lang="en-US"/>
        </a:p>
      </dgm:t>
    </dgm:pt>
    <dgm:pt modelId="{A68D4BCE-0C12-44F6-8DC6-ABA866684989}">
      <dgm:prSet custT="1"/>
      <dgm:spPr/>
      <dgm:t>
        <a:bodyPr/>
        <a:lstStyle/>
        <a:p>
          <a:r>
            <a:rPr lang="en-US" sz="2400" dirty="0"/>
            <a:t>From hidden Layer1 to hidden Layer2</a:t>
          </a:r>
        </a:p>
      </dgm:t>
    </dgm:pt>
    <dgm:pt modelId="{60DAE483-CD60-4956-B0B9-F5556FF79F2F}" type="parTrans" cxnId="{74BDC658-C7FF-43F4-BAC3-4BF5ED354871}">
      <dgm:prSet/>
      <dgm:spPr/>
      <dgm:t>
        <a:bodyPr/>
        <a:lstStyle/>
        <a:p>
          <a:endParaRPr lang="en-US"/>
        </a:p>
      </dgm:t>
    </dgm:pt>
    <dgm:pt modelId="{B24948CD-0057-480C-8312-3C96286DD538}" type="sibTrans" cxnId="{74BDC658-C7FF-43F4-BAC3-4BF5ED354871}">
      <dgm:prSet/>
      <dgm:spPr/>
      <dgm:t>
        <a:bodyPr/>
        <a:lstStyle/>
        <a:p>
          <a:endParaRPr lang="en-US"/>
        </a:p>
      </dgm:t>
    </dgm:pt>
    <dgm:pt modelId="{FDC03D37-6C05-4048-ABAF-5C4E3885C142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a</a:t>
          </a:r>
          <a:r>
            <a:rPr lang="en-US" sz="3000" baseline="-25000" dirty="0"/>
            <a:t>2</a:t>
          </a:r>
          <a:r>
            <a:rPr lang="en-US" sz="3000" dirty="0"/>
            <a:t> = f(z</a:t>
          </a:r>
          <a:r>
            <a:rPr lang="en-US" sz="3000" baseline="-25000" dirty="0"/>
            <a:t>2</a:t>
          </a:r>
          <a:r>
            <a:rPr lang="en-US" sz="3000" dirty="0"/>
            <a:t>) </a:t>
          </a:r>
        </a:p>
      </dgm:t>
    </dgm:pt>
    <dgm:pt modelId="{986B737C-1832-4869-A527-DBC789F1808B}" type="parTrans" cxnId="{FA4EA062-C833-4F46-A55B-AF02850295D9}">
      <dgm:prSet/>
      <dgm:spPr/>
      <dgm:t>
        <a:bodyPr/>
        <a:lstStyle/>
        <a:p>
          <a:endParaRPr lang="en-US"/>
        </a:p>
      </dgm:t>
    </dgm:pt>
    <dgm:pt modelId="{596E1798-296D-4BF3-A98B-C74306DA4B2A}" type="sibTrans" cxnId="{FA4EA062-C833-4F46-A55B-AF02850295D9}">
      <dgm:prSet/>
      <dgm:spPr/>
      <dgm:t>
        <a:bodyPr/>
        <a:lstStyle/>
        <a:p>
          <a:endParaRPr lang="en-US"/>
        </a:p>
      </dgm:t>
    </dgm:pt>
    <dgm:pt modelId="{BBEDB29F-9A3D-4E72-8904-F666DAC5DFD2}">
      <dgm:prSet custT="1"/>
      <dgm:spPr/>
      <dgm:t>
        <a:bodyPr/>
        <a:lstStyle/>
        <a:p>
          <a:r>
            <a:rPr lang="es-ES" sz="2400" dirty="0" err="1"/>
            <a:t>From</a:t>
          </a:r>
          <a:r>
            <a:rPr lang="es-ES" sz="2400" dirty="0"/>
            <a:t> </a:t>
          </a:r>
          <a:r>
            <a:rPr lang="en-US" sz="2400" dirty="0"/>
            <a:t>hidden Layer2 </a:t>
          </a:r>
          <a:r>
            <a:rPr lang="es-ES" sz="2400" dirty="0"/>
            <a:t>to output </a:t>
          </a:r>
          <a:r>
            <a:rPr lang="en-US" sz="2400" dirty="0"/>
            <a:t>Layer</a:t>
          </a:r>
        </a:p>
      </dgm:t>
    </dgm:pt>
    <dgm:pt modelId="{184E16E2-5FB2-4EAF-AF09-231E2D734C82}" type="parTrans" cxnId="{5E00E17E-2F51-43A5-A8C3-64873251A463}">
      <dgm:prSet/>
      <dgm:spPr/>
      <dgm:t>
        <a:bodyPr/>
        <a:lstStyle/>
        <a:p>
          <a:endParaRPr lang="en-US"/>
        </a:p>
      </dgm:t>
    </dgm:pt>
    <dgm:pt modelId="{6100C32B-96C7-4EFC-A0F9-AB469EB209E9}" type="sibTrans" cxnId="{5E00E17E-2F51-43A5-A8C3-64873251A463}">
      <dgm:prSet/>
      <dgm:spPr/>
      <dgm:t>
        <a:bodyPr/>
        <a:lstStyle/>
        <a:p>
          <a:endParaRPr lang="en-US"/>
        </a:p>
      </dgm:t>
    </dgm:pt>
    <dgm:pt modelId="{FE15617B-1BEA-40B5-BB8C-A9D430E207F1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z</a:t>
          </a:r>
          <a:r>
            <a:rPr lang="en-US" sz="3000" baseline="-25000" dirty="0"/>
            <a:t>3</a:t>
          </a:r>
          <a:r>
            <a:rPr lang="en-US" sz="3000" dirty="0"/>
            <a:t> = w</a:t>
          </a:r>
          <a:r>
            <a:rPr lang="en-US" sz="3000" baseline="-25000" dirty="0"/>
            <a:t>3</a:t>
          </a:r>
          <a:r>
            <a:rPr lang="en-US" sz="3000" dirty="0"/>
            <a:t>*a</a:t>
          </a:r>
          <a:r>
            <a:rPr lang="en-US" sz="3000" baseline="-25000" dirty="0"/>
            <a:t>2</a:t>
          </a:r>
          <a:r>
            <a:rPr lang="en-US" sz="3000" dirty="0"/>
            <a:t> +B</a:t>
          </a:r>
          <a:r>
            <a:rPr lang="en-US" sz="3000" baseline="-25000" dirty="0"/>
            <a:t>3</a:t>
          </a:r>
          <a:endParaRPr lang="en-US" sz="3000" dirty="0"/>
        </a:p>
      </dgm:t>
    </dgm:pt>
    <dgm:pt modelId="{5D5DDD7A-F2AD-471A-8014-386FA4183368}" type="parTrans" cxnId="{F302D8DB-1C43-4980-83E6-8B26676958CA}">
      <dgm:prSet/>
      <dgm:spPr/>
      <dgm:t>
        <a:bodyPr/>
        <a:lstStyle/>
        <a:p>
          <a:endParaRPr lang="en-US"/>
        </a:p>
      </dgm:t>
    </dgm:pt>
    <dgm:pt modelId="{68092201-1483-4432-B907-28BEFE94047A}" type="sibTrans" cxnId="{F302D8DB-1C43-4980-83E6-8B26676958CA}">
      <dgm:prSet/>
      <dgm:spPr/>
      <dgm:t>
        <a:bodyPr/>
        <a:lstStyle/>
        <a:p>
          <a:endParaRPr lang="en-US"/>
        </a:p>
      </dgm:t>
    </dgm:pt>
    <dgm:pt modelId="{FC126F9D-6DA4-45CE-B231-DFD7DDA38958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a</a:t>
          </a:r>
          <a:r>
            <a:rPr lang="en-US" sz="3000" baseline="-25000" dirty="0"/>
            <a:t>3</a:t>
          </a:r>
          <a:r>
            <a:rPr lang="en-US" sz="3000" dirty="0"/>
            <a:t> = f(z</a:t>
          </a:r>
          <a:r>
            <a:rPr lang="en-US" sz="3000" baseline="-25000" dirty="0"/>
            <a:t>3</a:t>
          </a:r>
          <a:r>
            <a:rPr lang="en-US" sz="3000" dirty="0"/>
            <a:t>) = </a:t>
          </a:r>
          <a:r>
            <a:rPr lang="en-US" sz="3000" dirty="0" err="1"/>
            <a:t>y_pred</a:t>
          </a:r>
          <a:endParaRPr lang="en-US" sz="3000" dirty="0"/>
        </a:p>
      </dgm:t>
    </dgm:pt>
    <dgm:pt modelId="{968A622B-82B5-40DF-8DC6-A775759AD9CC}" type="parTrans" cxnId="{99191FC3-F8DE-449E-A38B-7F180C52D0EB}">
      <dgm:prSet/>
      <dgm:spPr/>
      <dgm:t>
        <a:bodyPr/>
        <a:lstStyle/>
        <a:p>
          <a:endParaRPr lang="en-US"/>
        </a:p>
      </dgm:t>
    </dgm:pt>
    <dgm:pt modelId="{A7ED8E56-11E3-4D6D-9371-E56B6F1D9817}" type="sibTrans" cxnId="{99191FC3-F8DE-449E-A38B-7F180C52D0EB}">
      <dgm:prSet/>
      <dgm:spPr/>
      <dgm:t>
        <a:bodyPr/>
        <a:lstStyle/>
        <a:p>
          <a:endParaRPr lang="en-US"/>
        </a:p>
      </dgm:t>
    </dgm:pt>
    <dgm:pt modelId="{D7558084-93A5-4A52-B5A8-1BFF51275CFC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a</a:t>
          </a:r>
          <a:r>
            <a:rPr lang="en-US" sz="3000" baseline="-25000" dirty="0"/>
            <a:t>1</a:t>
          </a:r>
          <a:r>
            <a:rPr lang="en-US" sz="3000" dirty="0"/>
            <a:t> = f(z</a:t>
          </a:r>
          <a:r>
            <a:rPr lang="en-US" sz="3000" baseline="-25000" dirty="0"/>
            <a:t>1</a:t>
          </a:r>
          <a:r>
            <a:rPr lang="en-US" sz="3000" dirty="0"/>
            <a:t>) </a:t>
          </a:r>
        </a:p>
      </dgm:t>
    </dgm:pt>
    <dgm:pt modelId="{5A7A50CA-A205-4F68-8A6A-59678ED82328}" type="sibTrans" cxnId="{2EB492B6-2CEA-47C4-836E-5495526C0615}">
      <dgm:prSet/>
      <dgm:spPr/>
      <dgm:t>
        <a:bodyPr/>
        <a:lstStyle/>
        <a:p>
          <a:endParaRPr lang="en-US"/>
        </a:p>
      </dgm:t>
    </dgm:pt>
    <dgm:pt modelId="{BE3E4277-AB12-4BCE-B355-A7902DC3EB05}" type="parTrans" cxnId="{2EB492B6-2CEA-47C4-836E-5495526C0615}">
      <dgm:prSet/>
      <dgm:spPr/>
      <dgm:t>
        <a:bodyPr/>
        <a:lstStyle/>
        <a:p>
          <a:endParaRPr lang="en-US"/>
        </a:p>
      </dgm:t>
    </dgm:pt>
    <dgm:pt modelId="{EA226775-3316-438F-9555-BE8C3B795369}">
      <dgm:prSet custT="1"/>
      <dgm:spPr/>
      <dgm:t>
        <a:bodyPr/>
        <a:lstStyle/>
        <a:p>
          <a:pPr>
            <a:buFontTx/>
            <a:buNone/>
          </a:pPr>
          <a:r>
            <a:rPr lang="en-US" sz="3000" dirty="0"/>
            <a:t>z</a:t>
          </a:r>
          <a:r>
            <a:rPr lang="en-US" sz="3000" baseline="-25000" dirty="0"/>
            <a:t>2</a:t>
          </a:r>
          <a:r>
            <a:rPr lang="en-US" sz="3000" dirty="0"/>
            <a:t> = w</a:t>
          </a:r>
          <a:r>
            <a:rPr lang="en-US" sz="3000" baseline="-25000" dirty="0"/>
            <a:t>2</a:t>
          </a:r>
          <a:r>
            <a:rPr lang="en-US" sz="3000" dirty="0"/>
            <a:t>*a</a:t>
          </a:r>
          <a:r>
            <a:rPr lang="en-US" sz="3000" baseline="-25000" dirty="0"/>
            <a:t>1</a:t>
          </a:r>
          <a:r>
            <a:rPr lang="en-US" sz="3000" dirty="0"/>
            <a:t> +B</a:t>
          </a:r>
          <a:r>
            <a:rPr lang="en-US" sz="3000" baseline="-25000" dirty="0"/>
            <a:t>2</a:t>
          </a:r>
          <a:endParaRPr lang="en-US" sz="3000" dirty="0"/>
        </a:p>
      </dgm:t>
    </dgm:pt>
    <dgm:pt modelId="{1B4F83A5-1066-49D1-BF0A-1C41423A05F1}" type="sibTrans" cxnId="{EC25A18C-EBA0-4E7C-B3CF-9D48F244FC72}">
      <dgm:prSet/>
      <dgm:spPr/>
      <dgm:t>
        <a:bodyPr/>
        <a:lstStyle/>
        <a:p>
          <a:endParaRPr lang="en-US"/>
        </a:p>
      </dgm:t>
    </dgm:pt>
    <dgm:pt modelId="{B24238AD-B9F5-4BA2-B26F-661595529A80}" type="parTrans" cxnId="{EC25A18C-EBA0-4E7C-B3CF-9D48F244FC72}">
      <dgm:prSet/>
      <dgm:spPr/>
      <dgm:t>
        <a:bodyPr/>
        <a:lstStyle/>
        <a:p>
          <a:endParaRPr lang="en-US"/>
        </a:p>
      </dgm:t>
    </dgm:pt>
    <dgm:pt modelId="{60814B79-77F9-A344-9BC3-E08B3D04F6BA}" type="pres">
      <dgm:prSet presAssocID="{BF6D0B4F-8E27-48A4-9904-7B2EBCCEB7CF}" presName="Name0" presStyleCnt="0">
        <dgm:presLayoutVars>
          <dgm:dir/>
          <dgm:animLvl val="lvl"/>
          <dgm:resizeHandles val="exact"/>
        </dgm:presLayoutVars>
      </dgm:prSet>
      <dgm:spPr/>
    </dgm:pt>
    <dgm:pt modelId="{AE36EDDC-F33C-9A49-81C5-EE04293C770C}" type="pres">
      <dgm:prSet presAssocID="{5DE36530-BC01-4BFB-A170-E4983DE14603}" presName="linNode" presStyleCnt="0"/>
      <dgm:spPr/>
    </dgm:pt>
    <dgm:pt modelId="{FB8DD776-00E0-D54B-988D-D2142E560912}" type="pres">
      <dgm:prSet presAssocID="{5DE36530-BC01-4BFB-A170-E4983DE14603}" presName="parentText" presStyleLbl="node1" presStyleIdx="0" presStyleCnt="3" custScaleY="64728">
        <dgm:presLayoutVars>
          <dgm:chMax val="1"/>
          <dgm:bulletEnabled val="1"/>
        </dgm:presLayoutVars>
      </dgm:prSet>
      <dgm:spPr/>
    </dgm:pt>
    <dgm:pt modelId="{8A63A7A8-4069-7743-99CE-30DBED067B30}" type="pres">
      <dgm:prSet presAssocID="{5DE36530-BC01-4BFB-A170-E4983DE14603}" presName="descendantText" presStyleLbl="alignAccFollowNode1" presStyleIdx="0" presStyleCnt="3" custScaleY="71507">
        <dgm:presLayoutVars>
          <dgm:bulletEnabled val="1"/>
        </dgm:presLayoutVars>
      </dgm:prSet>
      <dgm:spPr/>
    </dgm:pt>
    <dgm:pt modelId="{05717F05-E992-3A44-AE52-B70799493C15}" type="pres">
      <dgm:prSet presAssocID="{39FEC3F9-E3AD-424D-9711-66BC34625662}" presName="sp" presStyleCnt="0"/>
      <dgm:spPr/>
    </dgm:pt>
    <dgm:pt modelId="{55ABB258-2CB7-BB4D-8557-D3FF144DE2E1}" type="pres">
      <dgm:prSet presAssocID="{A68D4BCE-0C12-44F6-8DC6-ABA866684989}" presName="linNode" presStyleCnt="0"/>
      <dgm:spPr/>
    </dgm:pt>
    <dgm:pt modelId="{C3F96A59-ADAD-2644-9202-B3C48CD98E5D}" type="pres">
      <dgm:prSet presAssocID="{A68D4BCE-0C12-44F6-8DC6-ABA866684989}" presName="parentText" presStyleLbl="node1" presStyleIdx="1" presStyleCnt="3" custScaleY="67597">
        <dgm:presLayoutVars>
          <dgm:chMax val="1"/>
          <dgm:bulletEnabled val="1"/>
        </dgm:presLayoutVars>
      </dgm:prSet>
      <dgm:spPr/>
    </dgm:pt>
    <dgm:pt modelId="{5BF65105-73EA-0D41-853F-C97AD2936D41}" type="pres">
      <dgm:prSet presAssocID="{A68D4BCE-0C12-44F6-8DC6-ABA866684989}" presName="descendantText" presStyleLbl="alignAccFollowNode1" presStyleIdx="1" presStyleCnt="3" custScaleY="71507">
        <dgm:presLayoutVars>
          <dgm:bulletEnabled val="1"/>
        </dgm:presLayoutVars>
      </dgm:prSet>
      <dgm:spPr/>
    </dgm:pt>
    <dgm:pt modelId="{1821CCA2-8BE6-8F40-977F-36676A0018FF}" type="pres">
      <dgm:prSet presAssocID="{B24948CD-0057-480C-8312-3C96286DD538}" presName="sp" presStyleCnt="0"/>
      <dgm:spPr/>
    </dgm:pt>
    <dgm:pt modelId="{C99250F3-BDF8-7841-80D1-C1E7E76C8B80}" type="pres">
      <dgm:prSet presAssocID="{BBEDB29F-9A3D-4E72-8904-F666DAC5DFD2}" presName="linNode" presStyleCnt="0"/>
      <dgm:spPr/>
    </dgm:pt>
    <dgm:pt modelId="{C397D2C4-8D7C-E14F-8904-FE09C55FE7B2}" type="pres">
      <dgm:prSet presAssocID="{BBEDB29F-9A3D-4E72-8904-F666DAC5DFD2}" presName="parentText" presStyleLbl="node1" presStyleIdx="2" presStyleCnt="3" custScaleX="99955" custScaleY="68866">
        <dgm:presLayoutVars>
          <dgm:chMax val="1"/>
          <dgm:bulletEnabled val="1"/>
        </dgm:presLayoutVars>
      </dgm:prSet>
      <dgm:spPr/>
    </dgm:pt>
    <dgm:pt modelId="{18DD9E59-F0D5-F74A-A332-4482DACEF833}" type="pres">
      <dgm:prSet presAssocID="{BBEDB29F-9A3D-4E72-8904-F666DAC5DFD2}" presName="descendantText" presStyleLbl="alignAccFollowNode1" presStyleIdx="2" presStyleCnt="3" custScaleY="71507">
        <dgm:presLayoutVars>
          <dgm:bulletEnabled val="1"/>
        </dgm:presLayoutVars>
      </dgm:prSet>
      <dgm:spPr/>
    </dgm:pt>
  </dgm:ptLst>
  <dgm:cxnLst>
    <dgm:cxn modelId="{75B0EF02-33B9-FB4E-9D02-00B921B79E25}" type="presOf" srcId="{EA226775-3316-438F-9555-BE8C3B795369}" destId="{5BF65105-73EA-0D41-853F-C97AD2936D41}" srcOrd="0" destOrd="0" presId="urn:microsoft.com/office/officeart/2005/8/layout/vList5"/>
    <dgm:cxn modelId="{52705927-D087-BE4F-993F-05CE25BF14AA}" type="presOf" srcId="{FE15617B-1BEA-40B5-BB8C-A9D430E207F1}" destId="{18DD9E59-F0D5-F74A-A332-4482DACEF833}" srcOrd="0" destOrd="0" presId="urn:microsoft.com/office/officeart/2005/8/layout/vList5"/>
    <dgm:cxn modelId="{67A38050-6122-C141-B87F-3621897ED9A5}" type="presOf" srcId="{D7558084-93A5-4A52-B5A8-1BFF51275CFC}" destId="{8A63A7A8-4069-7743-99CE-30DBED067B30}" srcOrd="0" destOrd="1" presId="urn:microsoft.com/office/officeart/2005/8/layout/vList5"/>
    <dgm:cxn modelId="{74BDC658-C7FF-43F4-BAC3-4BF5ED354871}" srcId="{BF6D0B4F-8E27-48A4-9904-7B2EBCCEB7CF}" destId="{A68D4BCE-0C12-44F6-8DC6-ABA866684989}" srcOrd="1" destOrd="0" parTransId="{60DAE483-CD60-4956-B0B9-F5556FF79F2F}" sibTransId="{B24948CD-0057-480C-8312-3C96286DD538}"/>
    <dgm:cxn modelId="{7E63225E-0CF5-244A-8A8C-A0DC855F6BF2}" type="presOf" srcId="{FDC03D37-6C05-4048-ABAF-5C4E3885C142}" destId="{5BF65105-73EA-0D41-853F-C97AD2936D41}" srcOrd="0" destOrd="1" presId="urn:microsoft.com/office/officeart/2005/8/layout/vList5"/>
    <dgm:cxn modelId="{23EF9C5E-22EA-462D-AF98-69F72557B55A}" srcId="{BF6D0B4F-8E27-48A4-9904-7B2EBCCEB7CF}" destId="{5DE36530-BC01-4BFB-A170-E4983DE14603}" srcOrd="0" destOrd="0" parTransId="{87247AA6-BD9A-45D2-91E9-AB04136924D3}" sibTransId="{39FEC3F9-E3AD-424D-9711-66BC34625662}"/>
    <dgm:cxn modelId="{FA4EA062-C833-4F46-A55B-AF02850295D9}" srcId="{A68D4BCE-0C12-44F6-8DC6-ABA866684989}" destId="{FDC03D37-6C05-4048-ABAF-5C4E3885C142}" srcOrd="1" destOrd="0" parTransId="{986B737C-1832-4869-A527-DBC789F1808B}" sibTransId="{596E1798-296D-4BF3-A98B-C74306DA4B2A}"/>
    <dgm:cxn modelId="{5E00E17E-2F51-43A5-A8C3-64873251A463}" srcId="{BF6D0B4F-8E27-48A4-9904-7B2EBCCEB7CF}" destId="{BBEDB29F-9A3D-4E72-8904-F666DAC5DFD2}" srcOrd="2" destOrd="0" parTransId="{184E16E2-5FB2-4EAF-AF09-231E2D734C82}" sibTransId="{6100C32B-96C7-4EFC-A0F9-AB469EB209E9}"/>
    <dgm:cxn modelId="{EC25A18C-EBA0-4E7C-B3CF-9D48F244FC72}" srcId="{A68D4BCE-0C12-44F6-8DC6-ABA866684989}" destId="{EA226775-3316-438F-9555-BE8C3B795369}" srcOrd="0" destOrd="0" parTransId="{B24238AD-B9F5-4BA2-B26F-661595529A80}" sibTransId="{1B4F83A5-1066-49D1-BF0A-1C41423A05F1}"/>
    <dgm:cxn modelId="{E9B4EEA5-CF08-F047-876C-5533C2E8A777}" type="presOf" srcId="{AFBD3DBD-F9A0-468B-A6BD-91E6EE0DDD8D}" destId="{8A63A7A8-4069-7743-99CE-30DBED067B30}" srcOrd="0" destOrd="0" presId="urn:microsoft.com/office/officeart/2005/8/layout/vList5"/>
    <dgm:cxn modelId="{B63DF5AC-7CA6-0141-B2DE-D21FB3DEEE2A}" type="presOf" srcId="{BBEDB29F-9A3D-4E72-8904-F666DAC5DFD2}" destId="{C397D2C4-8D7C-E14F-8904-FE09C55FE7B2}" srcOrd="0" destOrd="0" presId="urn:microsoft.com/office/officeart/2005/8/layout/vList5"/>
    <dgm:cxn modelId="{2EB492B6-2CEA-47C4-836E-5495526C0615}" srcId="{5DE36530-BC01-4BFB-A170-E4983DE14603}" destId="{D7558084-93A5-4A52-B5A8-1BFF51275CFC}" srcOrd="1" destOrd="0" parTransId="{BE3E4277-AB12-4BCE-B355-A7902DC3EB05}" sibTransId="{5A7A50CA-A205-4F68-8A6A-59678ED82328}"/>
    <dgm:cxn modelId="{9FBF96B8-8926-594E-A406-3F6296C9C30C}" type="presOf" srcId="{A68D4BCE-0C12-44F6-8DC6-ABA866684989}" destId="{C3F96A59-ADAD-2644-9202-B3C48CD98E5D}" srcOrd="0" destOrd="0" presId="urn:microsoft.com/office/officeart/2005/8/layout/vList5"/>
    <dgm:cxn modelId="{356313BF-9E9D-445A-9AF9-A6859FC31C36}" srcId="{5DE36530-BC01-4BFB-A170-E4983DE14603}" destId="{AFBD3DBD-F9A0-468B-A6BD-91E6EE0DDD8D}" srcOrd="0" destOrd="0" parTransId="{2455804C-F5AC-417E-A38B-CC9B81D1A8FA}" sibTransId="{2318406C-C60A-4248-AE65-459B42F2DEC6}"/>
    <dgm:cxn modelId="{99191FC3-F8DE-449E-A38B-7F180C52D0EB}" srcId="{BBEDB29F-9A3D-4E72-8904-F666DAC5DFD2}" destId="{FC126F9D-6DA4-45CE-B231-DFD7DDA38958}" srcOrd="1" destOrd="0" parTransId="{968A622B-82B5-40DF-8DC6-A775759AD9CC}" sibTransId="{A7ED8E56-11E3-4D6D-9371-E56B6F1D9817}"/>
    <dgm:cxn modelId="{847C65D4-DD87-1C4E-9685-C7657F46D439}" type="presOf" srcId="{5DE36530-BC01-4BFB-A170-E4983DE14603}" destId="{FB8DD776-00E0-D54B-988D-D2142E560912}" srcOrd="0" destOrd="0" presId="urn:microsoft.com/office/officeart/2005/8/layout/vList5"/>
    <dgm:cxn modelId="{F302D8DB-1C43-4980-83E6-8B26676958CA}" srcId="{BBEDB29F-9A3D-4E72-8904-F666DAC5DFD2}" destId="{FE15617B-1BEA-40B5-BB8C-A9D430E207F1}" srcOrd="0" destOrd="0" parTransId="{5D5DDD7A-F2AD-471A-8014-386FA4183368}" sibTransId="{68092201-1483-4432-B907-28BEFE94047A}"/>
    <dgm:cxn modelId="{F8DF05DF-8573-ED4C-A141-50D68D6681A9}" type="presOf" srcId="{BF6D0B4F-8E27-48A4-9904-7B2EBCCEB7CF}" destId="{60814B79-77F9-A344-9BC3-E08B3D04F6BA}" srcOrd="0" destOrd="0" presId="urn:microsoft.com/office/officeart/2005/8/layout/vList5"/>
    <dgm:cxn modelId="{3E3977F6-3358-484E-87DA-916751B6226F}" type="presOf" srcId="{FC126F9D-6DA4-45CE-B231-DFD7DDA38958}" destId="{18DD9E59-F0D5-F74A-A332-4482DACEF833}" srcOrd="0" destOrd="1" presId="urn:microsoft.com/office/officeart/2005/8/layout/vList5"/>
    <dgm:cxn modelId="{4C1D17AA-757E-3640-8D91-FEB7127A4001}" type="presParOf" srcId="{60814B79-77F9-A344-9BC3-E08B3D04F6BA}" destId="{AE36EDDC-F33C-9A49-81C5-EE04293C770C}" srcOrd="0" destOrd="0" presId="urn:microsoft.com/office/officeart/2005/8/layout/vList5"/>
    <dgm:cxn modelId="{D160BB3D-94CF-644B-A27B-E7A55F021BC6}" type="presParOf" srcId="{AE36EDDC-F33C-9A49-81C5-EE04293C770C}" destId="{FB8DD776-00E0-D54B-988D-D2142E560912}" srcOrd="0" destOrd="0" presId="urn:microsoft.com/office/officeart/2005/8/layout/vList5"/>
    <dgm:cxn modelId="{FCB1712C-2AAF-184B-A80F-91C9A2498D06}" type="presParOf" srcId="{AE36EDDC-F33C-9A49-81C5-EE04293C770C}" destId="{8A63A7A8-4069-7743-99CE-30DBED067B30}" srcOrd="1" destOrd="0" presId="urn:microsoft.com/office/officeart/2005/8/layout/vList5"/>
    <dgm:cxn modelId="{27D29F33-60DE-8B41-9EBA-26407E0C6F70}" type="presParOf" srcId="{60814B79-77F9-A344-9BC3-E08B3D04F6BA}" destId="{05717F05-E992-3A44-AE52-B70799493C15}" srcOrd="1" destOrd="0" presId="urn:microsoft.com/office/officeart/2005/8/layout/vList5"/>
    <dgm:cxn modelId="{1F02A90D-5099-7443-9B9A-416EFAA6CC2E}" type="presParOf" srcId="{60814B79-77F9-A344-9BC3-E08B3D04F6BA}" destId="{55ABB258-2CB7-BB4D-8557-D3FF144DE2E1}" srcOrd="2" destOrd="0" presId="urn:microsoft.com/office/officeart/2005/8/layout/vList5"/>
    <dgm:cxn modelId="{F5DF5C9F-3294-6047-B291-E0EC88EE7153}" type="presParOf" srcId="{55ABB258-2CB7-BB4D-8557-D3FF144DE2E1}" destId="{C3F96A59-ADAD-2644-9202-B3C48CD98E5D}" srcOrd="0" destOrd="0" presId="urn:microsoft.com/office/officeart/2005/8/layout/vList5"/>
    <dgm:cxn modelId="{31F8FB50-E8FA-3A4C-831D-29CFB1E5BD34}" type="presParOf" srcId="{55ABB258-2CB7-BB4D-8557-D3FF144DE2E1}" destId="{5BF65105-73EA-0D41-853F-C97AD2936D41}" srcOrd="1" destOrd="0" presId="urn:microsoft.com/office/officeart/2005/8/layout/vList5"/>
    <dgm:cxn modelId="{D8FB3D06-2148-F346-BFEF-2354FA051150}" type="presParOf" srcId="{60814B79-77F9-A344-9BC3-E08B3D04F6BA}" destId="{1821CCA2-8BE6-8F40-977F-36676A0018FF}" srcOrd="3" destOrd="0" presId="urn:microsoft.com/office/officeart/2005/8/layout/vList5"/>
    <dgm:cxn modelId="{5B39D161-B36E-5D4B-BC9F-C9E59AAE2628}" type="presParOf" srcId="{60814B79-77F9-A344-9BC3-E08B3D04F6BA}" destId="{C99250F3-BDF8-7841-80D1-C1E7E76C8B80}" srcOrd="4" destOrd="0" presId="urn:microsoft.com/office/officeart/2005/8/layout/vList5"/>
    <dgm:cxn modelId="{1C376EF5-7412-EA41-B7B5-389352FEBC6C}" type="presParOf" srcId="{C99250F3-BDF8-7841-80D1-C1E7E76C8B80}" destId="{C397D2C4-8D7C-E14F-8904-FE09C55FE7B2}" srcOrd="0" destOrd="0" presId="urn:microsoft.com/office/officeart/2005/8/layout/vList5"/>
    <dgm:cxn modelId="{9243599C-4E36-D848-BB94-12B0AEA1F30E}" type="presParOf" srcId="{C99250F3-BDF8-7841-80D1-C1E7E76C8B80}" destId="{18DD9E59-F0D5-F74A-A332-4482DACEF83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3A7A8-4069-7743-99CE-30DBED067B30}">
      <dsp:nvSpPr>
        <dsp:cNvPr id="0" name=""/>
        <dsp:cNvSpPr/>
      </dsp:nvSpPr>
      <dsp:spPr>
        <a:xfrm rot="5400000">
          <a:off x="4098180" y="-1456274"/>
          <a:ext cx="1423127" cy="452681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z</a:t>
          </a:r>
          <a:r>
            <a:rPr lang="en-US" sz="3000" kern="1200" baseline="-25000" dirty="0"/>
            <a:t>1</a:t>
          </a:r>
          <a:r>
            <a:rPr lang="en-US" sz="3000" kern="1200" dirty="0"/>
            <a:t> = w</a:t>
          </a:r>
          <a:r>
            <a:rPr lang="en-US" sz="3000" kern="1200" baseline="-25000" dirty="0"/>
            <a:t>1</a:t>
          </a:r>
          <a:r>
            <a:rPr lang="en-US" sz="3000" kern="1200" dirty="0"/>
            <a:t>*a</a:t>
          </a:r>
          <a:r>
            <a:rPr lang="en-US" sz="3000" kern="1200" baseline="-25000" dirty="0"/>
            <a:t>0</a:t>
          </a:r>
          <a:r>
            <a:rPr lang="en-US" sz="3000" kern="1200" dirty="0"/>
            <a:t> +B</a:t>
          </a:r>
          <a:r>
            <a:rPr lang="en-US" sz="3000" kern="1200" baseline="-25000" dirty="0"/>
            <a:t>1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a</a:t>
          </a:r>
          <a:r>
            <a:rPr lang="en-US" sz="3000" kern="1200" baseline="-25000" dirty="0"/>
            <a:t>1</a:t>
          </a:r>
          <a:r>
            <a:rPr lang="en-US" sz="3000" kern="1200" dirty="0"/>
            <a:t> = f(z</a:t>
          </a:r>
          <a:r>
            <a:rPr lang="en-US" sz="3000" kern="1200" baseline="-25000" dirty="0"/>
            <a:t>1</a:t>
          </a:r>
          <a:r>
            <a:rPr lang="en-US" sz="3000" kern="1200" dirty="0"/>
            <a:t>) </a:t>
          </a:r>
        </a:p>
      </dsp:txBody>
      <dsp:txXfrm rot="-5400000">
        <a:off x="2546335" y="165042"/>
        <a:ext cx="4457347" cy="1284185"/>
      </dsp:txXfrm>
    </dsp:sp>
    <dsp:sp modelId="{FB8DD776-00E0-D54B-988D-D2142E560912}">
      <dsp:nvSpPr>
        <dsp:cNvPr id="0" name=""/>
        <dsp:cNvSpPr/>
      </dsp:nvSpPr>
      <dsp:spPr>
        <a:xfrm>
          <a:off x="0" y="2001"/>
          <a:ext cx="2546335" cy="16102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From input Layer to hidden Layer1</a:t>
          </a:r>
        </a:p>
      </dsp:txBody>
      <dsp:txXfrm>
        <a:off x="78607" y="80608"/>
        <a:ext cx="2389121" cy="1453051"/>
      </dsp:txXfrm>
    </dsp:sp>
    <dsp:sp modelId="{5BF65105-73EA-0D41-853F-C97AD2936D41}">
      <dsp:nvSpPr>
        <dsp:cNvPr id="0" name=""/>
        <dsp:cNvSpPr/>
      </dsp:nvSpPr>
      <dsp:spPr>
        <a:xfrm rot="5400000">
          <a:off x="4098180" y="314064"/>
          <a:ext cx="1423127" cy="452681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z</a:t>
          </a:r>
          <a:r>
            <a:rPr lang="en-US" sz="3000" kern="1200" baseline="-25000" dirty="0"/>
            <a:t>2</a:t>
          </a:r>
          <a:r>
            <a:rPr lang="en-US" sz="3000" kern="1200" dirty="0"/>
            <a:t> = w</a:t>
          </a:r>
          <a:r>
            <a:rPr lang="en-US" sz="3000" kern="1200" baseline="-25000" dirty="0"/>
            <a:t>2</a:t>
          </a:r>
          <a:r>
            <a:rPr lang="en-US" sz="3000" kern="1200" dirty="0"/>
            <a:t>*a</a:t>
          </a:r>
          <a:r>
            <a:rPr lang="en-US" sz="3000" kern="1200" baseline="-25000" dirty="0"/>
            <a:t>1</a:t>
          </a:r>
          <a:r>
            <a:rPr lang="en-US" sz="3000" kern="1200" dirty="0"/>
            <a:t> +B</a:t>
          </a:r>
          <a:r>
            <a:rPr lang="en-US" sz="3000" kern="1200" baseline="-25000" dirty="0"/>
            <a:t>2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a</a:t>
          </a:r>
          <a:r>
            <a:rPr lang="en-US" sz="3000" kern="1200" baseline="-25000" dirty="0"/>
            <a:t>2</a:t>
          </a:r>
          <a:r>
            <a:rPr lang="en-US" sz="3000" kern="1200" dirty="0"/>
            <a:t> = f(z</a:t>
          </a:r>
          <a:r>
            <a:rPr lang="en-US" sz="3000" kern="1200" baseline="-25000" dirty="0"/>
            <a:t>2</a:t>
          </a:r>
          <a:r>
            <a:rPr lang="en-US" sz="3000" kern="1200" dirty="0"/>
            <a:t>) </a:t>
          </a:r>
        </a:p>
      </dsp:txBody>
      <dsp:txXfrm rot="-5400000">
        <a:off x="2546335" y="1935381"/>
        <a:ext cx="4457347" cy="1284185"/>
      </dsp:txXfrm>
    </dsp:sp>
    <dsp:sp modelId="{C3F96A59-ADAD-2644-9202-B3C48CD98E5D}">
      <dsp:nvSpPr>
        <dsp:cNvPr id="0" name=""/>
        <dsp:cNvSpPr/>
      </dsp:nvSpPr>
      <dsp:spPr>
        <a:xfrm>
          <a:off x="0" y="1736654"/>
          <a:ext cx="2546335" cy="1681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From hidden Layer1 to hidden Layer2</a:t>
          </a:r>
        </a:p>
      </dsp:txBody>
      <dsp:txXfrm>
        <a:off x="82091" y="1818745"/>
        <a:ext cx="2382153" cy="1517457"/>
      </dsp:txXfrm>
    </dsp:sp>
    <dsp:sp modelId="{18DD9E59-F0D5-F74A-A332-4482DACEF833}">
      <dsp:nvSpPr>
        <dsp:cNvPr id="0" name=""/>
        <dsp:cNvSpPr/>
      </dsp:nvSpPr>
      <dsp:spPr>
        <a:xfrm rot="5400000">
          <a:off x="4097034" y="2135875"/>
          <a:ext cx="1423127" cy="452681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z</a:t>
          </a:r>
          <a:r>
            <a:rPr lang="en-US" sz="3000" kern="1200" baseline="-25000" dirty="0"/>
            <a:t>3</a:t>
          </a:r>
          <a:r>
            <a:rPr lang="en-US" sz="3000" kern="1200" dirty="0"/>
            <a:t> = w</a:t>
          </a:r>
          <a:r>
            <a:rPr lang="en-US" sz="3000" kern="1200" baseline="-25000" dirty="0"/>
            <a:t>3</a:t>
          </a:r>
          <a:r>
            <a:rPr lang="en-US" sz="3000" kern="1200" dirty="0"/>
            <a:t>*a</a:t>
          </a:r>
          <a:r>
            <a:rPr lang="en-US" sz="3000" kern="1200" baseline="-25000" dirty="0"/>
            <a:t>2</a:t>
          </a:r>
          <a:r>
            <a:rPr lang="en-US" sz="3000" kern="1200" dirty="0"/>
            <a:t> +B</a:t>
          </a:r>
          <a:r>
            <a:rPr lang="en-US" sz="3000" kern="1200" baseline="-25000" dirty="0"/>
            <a:t>3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a</a:t>
          </a:r>
          <a:r>
            <a:rPr lang="en-US" sz="3000" kern="1200" baseline="-25000" dirty="0"/>
            <a:t>3</a:t>
          </a:r>
          <a:r>
            <a:rPr lang="en-US" sz="3000" kern="1200" dirty="0"/>
            <a:t> = f(z</a:t>
          </a:r>
          <a:r>
            <a:rPr lang="en-US" sz="3000" kern="1200" baseline="-25000" dirty="0"/>
            <a:t>3</a:t>
          </a:r>
          <a:r>
            <a:rPr lang="en-US" sz="3000" kern="1200" dirty="0"/>
            <a:t>) = </a:t>
          </a:r>
          <a:r>
            <a:rPr lang="en-US" sz="3000" kern="1200" dirty="0" err="1"/>
            <a:t>y_pred</a:t>
          </a:r>
          <a:endParaRPr lang="en-US" sz="3000" kern="1200" dirty="0"/>
        </a:p>
      </dsp:txBody>
      <dsp:txXfrm rot="-5400000">
        <a:off x="2545189" y="3757192"/>
        <a:ext cx="4457347" cy="1284185"/>
      </dsp:txXfrm>
    </dsp:sp>
    <dsp:sp modelId="{C397D2C4-8D7C-E14F-8904-FE09C55FE7B2}">
      <dsp:nvSpPr>
        <dsp:cNvPr id="0" name=""/>
        <dsp:cNvSpPr/>
      </dsp:nvSpPr>
      <dsp:spPr>
        <a:xfrm>
          <a:off x="0" y="3542680"/>
          <a:ext cx="2545189" cy="1713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 err="1"/>
            <a:t>From</a:t>
          </a:r>
          <a:r>
            <a:rPr lang="es-ES" sz="2400" kern="1200" dirty="0"/>
            <a:t> </a:t>
          </a:r>
          <a:r>
            <a:rPr lang="en-US" sz="2400" kern="1200" dirty="0"/>
            <a:t>hidden Layer2 </a:t>
          </a:r>
          <a:r>
            <a:rPr lang="es-ES" sz="2400" kern="1200" dirty="0"/>
            <a:t>to output </a:t>
          </a:r>
          <a:r>
            <a:rPr lang="en-US" sz="2400" kern="1200" dirty="0"/>
            <a:t>Layer</a:t>
          </a:r>
        </a:p>
      </dsp:txBody>
      <dsp:txXfrm>
        <a:off x="83632" y="3626312"/>
        <a:ext cx="2377925" cy="15459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63686-2D6F-4F47-903C-5A460A22F574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56CB0-6637-394D-8D09-475B34DCF41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1091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56CB0-6637-394D-8D09-475B34DCF41E}" type="slidenum">
              <a:rPr lang="en-MX" smtClean="0"/>
              <a:t>17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8665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E1FE-A7B6-2E49-AB5A-D1621512C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3165B-D35D-924C-9F60-72B75982F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D7595-C032-3A47-BA30-B30BF506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A55D3-EFDE-1F48-8161-0DAB1D6B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5C5EF-4387-FD4D-A18D-9B9F9579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9011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355-7398-6C45-B8DA-EDE55934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BB01-B174-D143-A72B-3CD81B1D0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1279C-5227-7947-8DF2-41A3DFBA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7FF7-D42F-D642-B0E5-0E9A6BDE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8978-F97C-2242-8BD8-9040EE0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4427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11E7-EAC0-DB4F-82B1-7AC36A79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4FFF-F24E-9840-8220-5BA34316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11394-2C2E-F049-8CDE-BF1DF630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3142-B80C-8043-A86F-34E9732C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E000-0C1C-7A4D-8F81-D7324F02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489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5490-6AF1-F44C-A25A-7C264E6C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8E4C-23B2-6048-B3B9-DE86788BC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9EBA6-8B67-AD45-8048-32302C783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61557-9335-7E48-B582-98DE03F2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DA82B-D8B6-4D4D-8B41-D736353C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59F2-3246-E54F-875E-3CB7B1E9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9130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A6F1-23D8-EC48-8EC9-6F7E7DA7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0EBFD-A1F2-9344-8836-9E133BA2A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29F4B-C5A9-F34F-961B-88928B5A9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DB4C7-F3C9-B149-96C2-457B5A376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7FA6F-D9FC-394F-9618-7CCBB45B3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E0C77-9CBB-AD49-9AF3-C61B593A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C2ED7-6A3B-964D-91F2-02157F28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6BB8F-8B56-4A4D-82F1-FF06D981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4695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3FCF-B6E0-2D42-96D1-46EE7604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6E8DD-8B9C-EF47-BA5C-75710302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1C767-48EE-3841-A3D3-6E9A4BD5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C388B-C35B-E543-A68E-FE323145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6732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A9588-9553-1D40-BF89-037B2D56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36AD3-232A-1B4C-BF7E-6E39A567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D91CF-2058-FD47-B10B-5C24CB6D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2152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2937-A432-F94C-B7FE-B14F2EAE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2CDC-D9C1-4C42-B36E-ACA718F33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7339F-9D4E-BD43-9977-3D1AC16A8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E9306-A607-6D4A-86F3-0B1E2EF9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51628-89C2-D34D-A383-7776EA34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E455D-C47C-0F47-98E9-A9D94ED0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6223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8EE4-B62D-3246-8FDE-A84D5D08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23A0A-1373-F743-807D-B93DDEE53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914B9-5447-AF43-AEF2-04E5DB82B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D5D07-8918-CA44-A452-581029E4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2AB5A-9E43-6547-997C-BBBAE7EA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CBFFB-580D-8144-A521-431E2B1D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2192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9D7F-4556-8F4F-92E3-BA8396AA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E5ACF-736F-0A4F-AF8F-A77D44650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BD468-F49E-1643-B837-C46FF0B6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159C1-E00A-E14A-80AD-AB795855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CAC6B-F451-BE49-90D5-F4A53B9D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4447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3B695-F591-EB41-A9D8-D68B72E6D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13C43-527A-274B-980E-3DA5C89DE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48DE6-E726-814C-9F8E-45B94D5D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E61-BFC0-5F42-8D5D-CB6A3FA5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C984-53A6-6C4B-9B6E-01BB54D5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8967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C3E6D-FDF7-5D41-9236-CC01E185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DC971-9816-2A45-B152-6CF094C2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21490-4247-374D-9B04-3CE9E077B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078DD-80E0-EF46-A06B-A773AA1E3B02}" type="datetimeFigureOut">
              <a:rPr lang="en-MX" smtClean="0"/>
              <a:t>20/05/26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116DA-0285-C64D-94A3-21FC46FFF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4945-6581-B142-9DFA-931A30B93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2B8E-7A85-0943-9BF8-B617E5C72F3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210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DD832-2E43-6A46-B75A-D2D08C7B0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MX" sz="8000" dirty="0"/>
              <a:t>Machine Learning</a:t>
            </a:r>
            <a:br>
              <a:rPr lang="en-MX" sz="8000" dirty="0"/>
            </a:br>
            <a:r>
              <a:rPr lang="en-MX" sz="8000" dirty="0"/>
              <a:t>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D4298-4602-264E-AD7E-2EA5556B8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MX"/>
              <a:t>Dr. Ahmed Aljarah</a:t>
            </a:r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69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E1635-363A-1144-B9D6-54DF8AF8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sz="5400" dirty="0"/>
              <a:t>Neural networks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EB7BE-9BDD-4D4D-8280-031258EF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Neural networks are machine learning models inspired by the structure and operation of the human brain. </a:t>
            </a:r>
          </a:p>
          <a:p>
            <a:pPr algn="just"/>
            <a:endParaRPr lang="en-US" sz="2200" dirty="0"/>
          </a:p>
          <a:p>
            <a:pPr algn="just">
              <a:lnSpc>
                <a:spcPct val="100000"/>
              </a:lnSpc>
            </a:pPr>
            <a:r>
              <a:rPr lang="en-US" sz="2200" dirty="0"/>
              <a:t>They are designed to mimic how the brain processes information and perform similar tasks.</a:t>
            </a:r>
          </a:p>
          <a:p>
            <a:pPr marL="0" indent="0"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They are composed of interconnected nodes, called neurons, that work together to :</a:t>
            </a:r>
          </a:p>
          <a:p>
            <a:pPr lvl="1" algn="just"/>
            <a:r>
              <a:rPr lang="en-US" sz="2200" dirty="0"/>
              <a:t>Process information</a:t>
            </a:r>
          </a:p>
          <a:p>
            <a:pPr lvl="1" algn="just"/>
            <a:r>
              <a:rPr lang="en-US" sz="2200" dirty="0"/>
              <a:t>Learn patterns from data</a:t>
            </a:r>
          </a:p>
          <a:p>
            <a:pPr lvl="1" algn="just"/>
            <a:r>
              <a:rPr lang="en-US" sz="2200" dirty="0"/>
              <a:t>Pattern recognition</a:t>
            </a:r>
          </a:p>
          <a:p>
            <a:pPr lvl="1" algn="just"/>
            <a:r>
              <a:rPr lang="en-US" sz="2200" dirty="0"/>
              <a:t>Decision-making</a:t>
            </a:r>
            <a:endParaRPr lang="en-MX" sz="2200" dirty="0"/>
          </a:p>
        </p:txBody>
      </p:sp>
    </p:spTree>
    <p:extLst>
      <p:ext uri="{BB962C8B-B14F-4D97-AF65-F5344CB8AC3E}">
        <p14:creationId xmlns:p14="http://schemas.microsoft.com/office/powerpoint/2010/main" val="309667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1DEAC-F79F-3C4E-BD22-5736BCD3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From brain to machine neural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B99C3-5555-3240-93BE-858AE22DFEA2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Neural networks are computational models that emulate the structure of biological neural systems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rtificial-Neural-Networks">
            <a:extLst>
              <a:ext uri="{FF2B5EF4-FFF2-40B4-BE49-F238E27FC236}">
                <a16:creationId xmlns:a16="http://schemas.microsoft.com/office/drawing/2014/main" id="{F7CED427-4386-0048-9083-43039728D5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" t="12474" r="2567" b="11367"/>
          <a:stretch/>
        </p:blipFill>
        <p:spPr bwMode="auto">
          <a:xfrm>
            <a:off x="1631583" y="2633472"/>
            <a:ext cx="8925785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63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BDFCB-5C93-2942-B0EA-018C3C7E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/>
              <a:t>Biological Neuron (Brain)</a:t>
            </a:r>
            <a:endParaRPr lang="en-MX" sz="5000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9F25-FA21-F345-BC63-D2FFBD2F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75" y="2761488"/>
            <a:ext cx="10960050" cy="4096512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A neuron in the brain has several main parts: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Dendrites receive signals (inputs) from other neurons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Cell body processes the received information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Nucleus controls neuron activity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Axon carries the signal forward</a:t>
            </a:r>
          </a:p>
          <a:p>
            <a:pPr algn="just"/>
            <a:r>
              <a:rPr lang="en-US" sz="2000" dirty="0"/>
              <a:t>A synapse is the connection point between two neurons in the brain. It is where the output signal from one neuron is transmitted to another neuron</a:t>
            </a:r>
          </a:p>
          <a:p>
            <a:pPr algn="just"/>
            <a:r>
              <a:rPr lang="en-US" sz="2000" dirty="0"/>
              <a:t>The outputs send information through the synapse to communicate with other neurons</a:t>
            </a:r>
          </a:p>
          <a:p>
            <a:pPr algn="just"/>
            <a:r>
              <a:rPr lang="en-US" sz="2000" dirty="0"/>
              <a:t>The biological neuron receives information, processes it, and produces an output signal</a:t>
            </a:r>
          </a:p>
        </p:txBody>
      </p:sp>
      <p:pic>
        <p:nvPicPr>
          <p:cNvPr id="1026" name="Picture 2" descr="2 A neuron forming synapse (Mujeeb, 2012) | Download Scientific Diagram">
            <a:extLst>
              <a:ext uri="{FF2B5EF4-FFF2-40B4-BE49-F238E27FC236}">
                <a16:creationId xmlns:a16="http://schemas.microsoft.com/office/drawing/2014/main" id="{F7E30B29-6937-4D4E-869A-0B197ABA7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2178" y="2115230"/>
            <a:ext cx="4523359" cy="262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37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5FECE-3B5F-674C-B957-7D7C82741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dirty="0"/>
              <a:t>Human brain 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he 35 Cutest Dog Breeds That Will Make You Melt">
            <a:extLst>
              <a:ext uri="{FF2B5EF4-FFF2-40B4-BE49-F238E27FC236}">
                <a16:creationId xmlns:a16="http://schemas.microsoft.com/office/drawing/2014/main" id="{94FD839D-723E-5449-86DB-07488C2F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9837" y="2642616"/>
            <a:ext cx="3614821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 descr="A close-up of a brain&#10;&#10;Description automatically generated">
            <a:extLst>
              <a:ext uri="{FF2B5EF4-FFF2-40B4-BE49-F238E27FC236}">
                <a16:creationId xmlns:a16="http://schemas.microsoft.com/office/drawing/2014/main" id="{4DAD0A65-20AC-E64F-A8EA-A098C2D0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549" r="27608" b="13860"/>
          <a:stretch/>
        </p:blipFill>
        <p:spPr>
          <a:xfrm>
            <a:off x="6471220" y="2642616"/>
            <a:ext cx="5180968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9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1E57F-4419-5B40-B510-6F008FC2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networks in ML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Description automatically generated">
            <a:extLst>
              <a:ext uri="{FF2B5EF4-FFF2-40B4-BE49-F238E27FC236}">
                <a16:creationId xmlns:a16="http://schemas.microsoft.com/office/drawing/2014/main" id="{334E2EE0-A7B8-754D-9211-AB6EF4868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005" y="2469308"/>
            <a:ext cx="9893392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3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734B8-3EBD-D843-B039-FD1F3722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sz="5400" b="1" dirty="0"/>
              <a:t>Neural networks components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90130-7933-FD44-9569-1CB0A4D3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976"/>
            <a:ext cx="10684764" cy="4702126"/>
          </a:xfrm>
        </p:spPr>
        <p:txBody>
          <a:bodyPr>
            <a:normAutofit fontScale="92500"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200" dirty="0"/>
              <a:t>Neurons: The basic units that receive inputs, calculate f(z) and apply an activation function.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Connections: Links between neurons that carry information, regulated by weights and biases.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Weights and Biases: These parameters determine the strength and influence of connections.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Propagation functions: Mechanisms that help process and transfer data across layers of neurons.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/>
              <a:t>Learning rule: The method that adjusts weights and biases over time to improve accuracy.</a:t>
            </a:r>
          </a:p>
        </p:txBody>
      </p:sp>
    </p:spTree>
    <p:extLst>
      <p:ext uri="{BB962C8B-B14F-4D97-AF65-F5344CB8AC3E}">
        <p14:creationId xmlns:p14="http://schemas.microsoft.com/office/powerpoint/2010/main" val="193668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A9DE5-825C-094C-A3CF-3B099A6B9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MX" sz="5400" b="1" dirty="0"/>
              <a:t>Neural networks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7055C-F821-3B45-A41C-278A3EC3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8805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Neural networks are systems composed of processing elements (PEs) along with the connections and communication between them.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A processing element is a simplified representation of a biological neuron, commonly referred to as an artificial neuron. Each PE receives input data, processes it, and generates an output.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Neuron</a:t>
            </a:r>
          </a:p>
          <a:p>
            <a:pPr lvl="1" algn="just">
              <a:buSzPct val="77000"/>
            </a:pPr>
            <a:r>
              <a:rPr lang="en-US" sz="2000" dirty="0"/>
              <a:t>Receives inputs </a:t>
            </a:r>
          </a:p>
          <a:p>
            <a:pPr lvl="1" algn="just">
              <a:buSzPct val="77000"/>
            </a:pPr>
            <a:r>
              <a:rPr lang="en-US" sz="2000" dirty="0"/>
              <a:t>Multiplies by weights </a:t>
            </a:r>
          </a:p>
          <a:p>
            <a:pPr lvl="1" algn="just">
              <a:buSzPct val="77000"/>
            </a:pPr>
            <a:r>
              <a:rPr lang="en-US" sz="2000" dirty="0"/>
              <a:t>Adds bias </a:t>
            </a:r>
          </a:p>
          <a:p>
            <a:pPr lvl="1" algn="just">
              <a:buSzPct val="77000"/>
            </a:pPr>
            <a:r>
              <a:rPr lang="en-US" sz="2000" dirty="0"/>
              <a:t>Applies activation </a:t>
            </a:r>
          </a:p>
          <a:p>
            <a:pPr lvl="1" algn="just">
              <a:buSzPct val="77000"/>
            </a:pPr>
            <a:r>
              <a:rPr lang="en-US" sz="2000" dirty="0"/>
              <a:t>function Produces output</a:t>
            </a:r>
            <a:endParaRPr lang="en-MX" sz="2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D6617A-ABF3-5345-A1DB-C0C4AA08B9A1}"/>
              </a:ext>
            </a:extLst>
          </p:cNvPr>
          <p:cNvSpPr/>
          <p:nvPr/>
        </p:nvSpPr>
        <p:spPr>
          <a:xfrm>
            <a:off x="7204841" y="4725050"/>
            <a:ext cx="1749973" cy="16251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X" dirty="0"/>
              <a:t>F(x) =0.69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A6A3DC-EE6F-1D40-840B-B0895FAAC568}"/>
              </a:ext>
            </a:extLst>
          </p:cNvPr>
          <p:cNvCxnSpPr>
            <a:cxnSpLocks/>
          </p:cNvCxnSpPr>
          <p:nvPr/>
        </p:nvCxnSpPr>
        <p:spPr>
          <a:xfrm>
            <a:off x="5975131" y="5569137"/>
            <a:ext cx="12297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1868AB-1142-8343-9648-5CFAB2C61520}"/>
              </a:ext>
            </a:extLst>
          </p:cNvPr>
          <p:cNvCxnSpPr>
            <a:cxnSpLocks/>
          </p:cNvCxnSpPr>
          <p:nvPr/>
        </p:nvCxnSpPr>
        <p:spPr>
          <a:xfrm>
            <a:off x="8954814" y="5569137"/>
            <a:ext cx="12297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9F76B4-E57E-8A40-87A0-B00AA924FF87}"/>
              </a:ext>
            </a:extLst>
          </p:cNvPr>
          <p:cNvSpPr txBox="1"/>
          <p:nvPr/>
        </p:nvSpPr>
        <p:spPr>
          <a:xfrm>
            <a:off x="7634288" y="4039514"/>
            <a:ext cx="891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Neuron</a:t>
            </a:r>
          </a:p>
        </p:txBody>
      </p:sp>
    </p:spTree>
    <p:extLst>
      <p:ext uri="{BB962C8B-B14F-4D97-AF65-F5344CB8AC3E}">
        <p14:creationId xmlns:p14="http://schemas.microsoft.com/office/powerpoint/2010/main" val="277016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085F6-A087-E642-9969-75317BD0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Connections</a:t>
            </a:r>
            <a:endParaRPr lang="en-MX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0DE57-BB03-8944-82D0-08176A28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2281602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Connections, also known as synaptic links, are the pathways that connect neurons in a neural network. </a:t>
            </a:r>
          </a:p>
          <a:p>
            <a:pPr algn="just"/>
            <a:r>
              <a:rPr lang="en-US" sz="2200" dirty="0"/>
              <a:t>They allow information to flow from one neuron to another.</a:t>
            </a:r>
          </a:p>
          <a:p>
            <a:pPr algn="just"/>
            <a:r>
              <a:rPr lang="en-US" sz="2200" dirty="0"/>
              <a:t>Each connection has a weight, that determines the importance of the signal.</a:t>
            </a:r>
          </a:p>
          <a:p>
            <a:pPr algn="just"/>
            <a:r>
              <a:rPr lang="en-US" sz="2200" dirty="0"/>
              <a:t>During learning, these weights are adjusted to improve the network’s performance.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EABA21-71F3-974C-9EB1-3C6EDAB15BA1}"/>
              </a:ext>
            </a:extLst>
          </p:cNvPr>
          <p:cNvSpPr txBox="1"/>
          <p:nvPr/>
        </p:nvSpPr>
        <p:spPr>
          <a:xfrm rot="869311">
            <a:off x="7323201" y="450028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>
                <a:solidFill>
                  <a:schemeClr val="accent2"/>
                </a:solidFill>
              </a:rPr>
              <a:t>w</a:t>
            </a:r>
            <a:r>
              <a:rPr lang="en-MX" baseline="-25000" dirty="0">
                <a:solidFill>
                  <a:schemeClr val="accent2"/>
                </a:solidFill>
              </a:rPr>
              <a:t>36</a:t>
            </a:r>
            <a:endParaRPr lang="en-MX" dirty="0">
              <a:solidFill>
                <a:schemeClr val="accent2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43CC036-C13C-854A-89DD-1C901E8A0B1D}"/>
              </a:ext>
            </a:extLst>
          </p:cNvPr>
          <p:cNvGrpSpPr/>
          <p:nvPr/>
        </p:nvGrpSpPr>
        <p:grpSpPr>
          <a:xfrm>
            <a:off x="2363573" y="4272666"/>
            <a:ext cx="6769993" cy="2513985"/>
            <a:chOff x="1674254" y="4272666"/>
            <a:chExt cx="6769993" cy="251398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4C8CB6-F6B3-1246-9619-D2DB2764270C}"/>
                </a:ext>
              </a:extLst>
            </p:cNvPr>
            <p:cNvSpPr/>
            <p:nvPr/>
          </p:nvSpPr>
          <p:spPr>
            <a:xfrm>
              <a:off x="1674254" y="4877973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1</a:t>
              </a:r>
              <a:endParaRPr lang="en-MX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A9781A-DB89-7748-B7EF-B33C974D2115}"/>
                </a:ext>
              </a:extLst>
            </p:cNvPr>
            <p:cNvSpPr/>
            <p:nvPr/>
          </p:nvSpPr>
          <p:spPr>
            <a:xfrm>
              <a:off x="1674254" y="5823531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2</a:t>
              </a:r>
              <a:endParaRPr lang="en-MX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F070E67-7EEC-6F4B-BCE3-455DA03311D1}"/>
                </a:ext>
              </a:extLst>
            </p:cNvPr>
            <p:cNvSpPr/>
            <p:nvPr/>
          </p:nvSpPr>
          <p:spPr>
            <a:xfrm>
              <a:off x="4711522" y="4272666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3</a:t>
              </a:r>
              <a:endParaRPr lang="en-MX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73BEB7-4535-2A48-AAC1-23B6891D4642}"/>
                </a:ext>
              </a:extLst>
            </p:cNvPr>
            <p:cNvSpPr/>
            <p:nvPr/>
          </p:nvSpPr>
          <p:spPr>
            <a:xfrm>
              <a:off x="4711521" y="5227005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4</a:t>
              </a:r>
              <a:endParaRPr lang="en-MX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CB736A-CA5E-B94A-820B-95A9B68CC49F}"/>
                </a:ext>
              </a:extLst>
            </p:cNvPr>
            <p:cNvSpPr/>
            <p:nvPr/>
          </p:nvSpPr>
          <p:spPr>
            <a:xfrm>
              <a:off x="4711520" y="6181344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5</a:t>
              </a:r>
              <a:endParaRPr lang="en-MX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EDFD744-4BA5-0046-8B4F-BA4D6A5F1A07}"/>
                </a:ext>
              </a:extLst>
            </p:cNvPr>
            <p:cNvSpPr/>
            <p:nvPr/>
          </p:nvSpPr>
          <p:spPr>
            <a:xfrm>
              <a:off x="7748788" y="5180626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6</a:t>
              </a:r>
              <a:endParaRPr lang="en-MX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289D3ED-A364-0848-80E4-25773D9D4934}"/>
                </a:ext>
              </a:extLst>
            </p:cNvPr>
            <p:cNvCxnSpPr>
              <a:cxnSpLocks/>
              <a:stCxn id="4" idx="7"/>
              <a:endCxn id="9" idx="2"/>
            </p:cNvCxnSpPr>
            <p:nvPr/>
          </p:nvCxnSpPr>
          <p:spPr>
            <a:xfrm flipV="1">
              <a:off x="2267865" y="4575320"/>
              <a:ext cx="2443657" cy="3912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1479DE6-8990-5341-AC3F-D9761AA89CED}"/>
                </a:ext>
              </a:extLst>
            </p:cNvPr>
            <p:cNvCxnSpPr>
              <a:cxnSpLocks/>
              <a:stCxn id="4" idx="6"/>
              <a:endCxn id="11" idx="1"/>
            </p:cNvCxnSpPr>
            <p:nvPr/>
          </p:nvCxnSpPr>
          <p:spPr>
            <a:xfrm>
              <a:off x="2369713" y="5180627"/>
              <a:ext cx="2443656" cy="1350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04E47D2-90FE-DB47-AAA4-FC958E74823D}"/>
                </a:ext>
              </a:extLst>
            </p:cNvPr>
            <p:cNvCxnSpPr>
              <a:cxnSpLocks/>
            </p:cNvCxnSpPr>
            <p:nvPr/>
          </p:nvCxnSpPr>
          <p:spPr>
            <a:xfrm>
              <a:off x="2283470" y="5374902"/>
              <a:ext cx="2616142" cy="816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10CBE0C-7593-794A-956E-C8A9AAA1FFBC}"/>
                </a:ext>
              </a:extLst>
            </p:cNvPr>
            <p:cNvCxnSpPr>
              <a:cxnSpLocks/>
              <a:stCxn id="7" idx="7"/>
              <a:endCxn id="9" idx="3"/>
            </p:cNvCxnSpPr>
            <p:nvPr/>
          </p:nvCxnSpPr>
          <p:spPr>
            <a:xfrm flipV="1">
              <a:off x="2267865" y="4789328"/>
              <a:ext cx="2545505" cy="112284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826A4E-9EC0-9D44-8088-6D3D68F5A452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V="1">
              <a:off x="2354107" y="5743667"/>
              <a:ext cx="2459262" cy="3306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02855C-8924-494E-854A-37AD8D511162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260060" y="6329224"/>
              <a:ext cx="2451460" cy="15477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25F4B28-301D-3E45-B60B-9154502E30C3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389580" y="4551237"/>
              <a:ext cx="2461056" cy="718034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424C780-58EF-9F42-8284-B24FCBC2A77A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 flipV="1">
              <a:off x="5406980" y="5483280"/>
              <a:ext cx="2341808" cy="46379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C2D3AC-5065-8E41-B1E1-0455504D095B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V="1">
              <a:off x="5389580" y="5697288"/>
              <a:ext cx="2461056" cy="679706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C94C7E-5B21-8640-9587-DB3007616C88}"/>
                </a:ext>
              </a:extLst>
            </p:cNvPr>
            <p:cNvSpPr txBox="1"/>
            <p:nvPr/>
          </p:nvSpPr>
          <p:spPr>
            <a:xfrm>
              <a:off x="3101788" y="4464424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13</a:t>
              </a:r>
              <a:endParaRPr lang="en-MX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23FDEB1-5236-D743-BE8D-CA3D5C79B98A}"/>
                </a:ext>
              </a:extLst>
            </p:cNvPr>
            <p:cNvSpPr txBox="1"/>
            <p:nvPr/>
          </p:nvSpPr>
          <p:spPr>
            <a:xfrm>
              <a:off x="3046476" y="4844634"/>
              <a:ext cx="6954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14</a:t>
              </a:r>
              <a:endParaRPr lang="en-MX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52F1A8-D843-5E4D-8EF6-230CAA65B182}"/>
                </a:ext>
              </a:extLst>
            </p:cNvPr>
            <p:cNvSpPr txBox="1"/>
            <p:nvPr/>
          </p:nvSpPr>
          <p:spPr>
            <a:xfrm>
              <a:off x="3442891" y="5415710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15</a:t>
              </a:r>
              <a:endParaRPr lang="en-MX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2ED6BE5-FE10-4547-9360-F36DAED1666A}"/>
                </a:ext>
              </a:extLst>
            </p:cNvPr>
            <p:cNvSpPr txBox="1"/>
            <p:nvPr/>
          </p:nvSpPr>
          <p:spPr>
            <a:xfrm rot="19526007">
              <a:off x="3908613" y="4607860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23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02129EF-4025-4E49-8AB8-77D59896682C}"/>
                </a:ext>
              </a:extLst>
            </p:cNvPr>
            <p:cNvSpPr txBox="1"/>
            <p:nvPr/>
          </p:nvSpPr>
          <p:spPr>
            <a:xfrm rot="20533810">
              <a:off x="2636911" y="5647646"/>
              <a:ext cx="632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24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8586EF-D90F-2942-B9FC-34678DB55C18}"/>
                </a:ext>
              </a:extLst>
            </p:cNvPr>
            <p:cNvSpPr txBox="1"/>
            <p:nvPr/>
          </p:nvSpPr>
          <p:spPr>
            <a:xfrm>
              <a:off x="3317844" y="605950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25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9D4096B-06E8-F746-9D94-E0EB316F5527}"/>
                </a:ext>
              </a:extLst>
            </p:cNvPr>
            <p:cNvSpPr txBox="1"/>
            <p:nvPr/>
          </p:nvSpPr>
          <p:spPr>
            <a:xfrm rot="21390991">
              <a:off x="6291569" y="5145079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chemeClr val="accent2"/>
                  </a:solidFill>
                </a:rPr>
                <a:t>w</a:t>
              </a:r>
              <a:r>
                <a:rPr lang="en-MX" baseline="-25000" dirty="0">
                  <a:solidFill>
                    <a:schemeClr val="accent2"/>
                  </a:solidFill>
                </a:rPr>
                <a:t>46</a:t>
              </a:r>
              <a:endParaRPr lang="en-MX" dirty="0">
                <a:solidFill>
                  <a:schemeClr val="accent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9BE34A-A6F8-494E-B3EA-ABCCB31753B4}"/>
                </a:ext>
              </a:extLst>
            </p:cNvPr>
            <p:cNvSpPr txBox="1"/>
            <p:nvPr/>
          </p:nvSpPr>
          <p:spPr>
            <a:xfrm rot="20340164">
              <a:off x="6166522" y="570128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chemeClr val="accent2"/>
                  </a:solidFill>
                </a:rPr>
                <a:t>w</a:t>
              </a:r>
              <a:r>
                <a:rPr lang="en-MX" baseline="-25000" dirty="0">
                  <a:solidFill>
                    <a:schemeClr val="accent2"/>
                  </a:solidFill>
                </a:rPr>
                <a:t>56</a:t>
              </a:r>
              <a:endParaRPr lang="en-MX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36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37F27-B1C5-0E44-8DB7-53A02722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Weights and Biases</a:t>
            </a:r>
            <a:endParaRPr lang="en-MX" sz="54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12DF-160B-0147-B41B-FD9EE3171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/>
              <a:t>Weights (w): control the importance of each input </a:t>
            </a:r>
          </a:p>
          <a:p>
            <a:r>
              <a:rPr lang="en-US" sz="2400" dirty="0"/>
              <a:t>Bias (b): shifts the output value</a:t>
            </a:r>
          </a:p>
          <a:p>
            <a:r>
              <a:rPr lang="en-US" sz="2400" dirty="0"/>
              <a:t>Help the model adjust and learn patterns </a:t>
            </a:r>
          </a:p>
          <a:p>
            <a:r>
              <a:rPr lang="en-US" sz="2400" dirty="0"/>
              <a:t>Updated during training to reduce error</a:t>
            </a:r>
            <a:endParaRPr lang="en-MX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A14965-4F0E-1341-B99A-F59B0FA6D981}"/>
              </a:ext>
            </a:extLst>
          </p:cNvPr>
          <p:cNvGrpSpPr/>
          <p:nvPr/>
        </p:nvGrpSpPr>
        <p:grpSpPr>
          <a:xfrm>
            <a:off x="2194762" y="4174190"/>
            <a:ext cx="6769993" cy="2513985"/>
            <a:chOff x="1674254" y="4272666"/>
            <a:chExt cx="6769993" cy="251398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B649E76-E2CB-D544-8207-463D3F7D4A3D}"/>
                </a:ext>
              </a:extLst>
            </p:cNvPr>
            <p:cNvSpPr/>
            <p:nvPr/>
          </p:nvSpPr>
          <p:spPr>
            <a:xfrm>
              <a:off x="1674254" y="4877973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1</a:t>
              </a:r>
              <a:endParaRPr lang="en-MX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6C1A50-D3F8-084F-871D-C7859387936B}"/>
                </a:ext>
              </a:extLst>
            </p:cNvPr>
            <p:cNvSpPr/>
            <p:nvPr/>
          </p:nvSpPr>
          <p:spPr>
            <a:xfrm>
              <a:off x="1674254" y="5823531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2</a:t>
              </a:r>
              <a:endParaRPr lang="en-MX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2D778C-C662-C74A-A771-00F0522BD7CF}"/>
                </a:ext>
              </a:extLst>
            </p:cNvPr>
            <p:cNvSpPr/>
            <p:nvPr/>
          </p:nvSpPr>
          <p:spPr>
            <a:xfrm>
              <a:off x="4711522" y="4272666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3</a:t>
              </a:r>
              <a:endParaRPr lang="en-MX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EB59EC2-9A61-9D40-BB2D-85CA73E5119B}"/>
                </a:ext>
              </a:extLst>
            </p:cNvPr>
            <p:cNvSpPr/>
            <p:nvPr/>
          </p:nvSpPr>
          <p:spPr>
            <a:xfrm>
              <a:off x="4711521" y="5227005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4</a:t>
              </a:r>
              <a:endParaRPr lang="en-MX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80E3E6-5FBB-6F48-8122-362ED333349A}"/>
                </a:ext>
              </a:extLst>
            </p:cNvPr>
            <p:cNvSpPr/>
            <p:nvPr/>
          </p:nvSpPr>
          <p:spPr>
            <a:xfrm>
              <a:off x="4711520" y="6181344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5</a:t>
              </a:r>
              <a:endParaRPr lang="en-MX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917AA-E322-AD40-BDAB-550A0816E536}"/>
                </a:ext>
              </a:extLst>
            </p:cNvPr>
            <p:cNvSpPr/>
            <p:nvPr/>
          </p:nvSpPr>
          <p:spPr>
            <a:xfrm>
              <a:off x="7748788" y="5180626"/>
              <a:ext cx="695459" cy="60530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a</a:t>
              </a:r>
              <a:r>
                <a:rPr lang="en-MX" baseline="-25000" dirty="0"/>
                <a:t>6</a:t>
              </a:r>
              <a:endParaRPr lang="en-MX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3B0A37-2AFB-D347-A151-3A53038F7B40}"/>
                </a:ext>
              </a:extLst>
            </p:cNvPr>
            <p:cNvCxnSpPr>
              <a:cxnSpLocks/>
              <a:stCxn id="7" idx="7"/>
              <a:endCxn id="11" idx="2"/>
            </p:cNvCxnSpPr>
            <p:nvPr/>
          </p:nvCxnSpPr>
          <p:spPr>
            <a:xfrm flipV="1">
              <a:off x="2267865" y="4575320"/>
              <a:ext cx="2443657" cy="3912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CC1C6F2-03D4-494E-A856-20F7D40BB14A}"/>
                </a:ext>
              </a:extLst>
            </p:cNvPr>
            <p:cNvCxnSpPr>
              <a:cxnSpLocks/>
              <a:stCxn id="7" idx="6"/>
              <a:endCxn id="12" idx="1"/>
            </p:cNvCxnSpPr>
            <p:nvPr/>
          </p:nvCxnSpPr>
          <p:spPr>
            <a:xfrm>
              <a:off x="2369713" y="5180627"/>
              <a:ext cx="2443656" cy="1350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6CC11B-F828-5145-BFD9-E8B5CED65B18}"/>
                </a:ext>
              </a:extLst>
            </p:cNvPr>
            <p:cNvCxnSpPr>
              <a:cxnSpLocks/>
            </p:cNvCxnSpPr>
            <p:nvPr/>
          </p:nvCxnSpPr>
          <p:spPr>
            <a:xfrm>
              <a:off x="2283470" y="5374902"/>
              <a:ext cx="2616142" cy="816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D8D7C0-0FB6-D94E-A232-BB4B73C7F814}"/>
                </a:ext>
              </a:extLst>
            </p:cNvPr>
            <p:cNvCxnSpPr>
              <a:cxnSpLocks/>
              <a:stCxn id="9" idx="7"/>
              <a:endCxn id="11" idx="3"/>
            </p:cNvCxnSpPr>
            <p:nvPr/>
          </p:nvCxnSpPr>
          <p:spPr>
            <a:xfrm flipV="1">
              <a:off x="2267865" y="4789328"/>
              <a:ext cx="2545505" cy="112284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5D5515-FB59-544E-B5D7-CE94ED15DB8D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2354107" y="5743667"/>
              <a:ext cx="2459262" cy="3306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FBEFDF-1BB2-6449-8E3D-40F082EE5639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2260060" y="6329224"/>
              <a:ext cx="2451460" cy="15477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4DF9B7-88DE-E843-8301-AB4623D42793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5389580" y="4551237"/>
              <a:ext cx="2461056" cy="718034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4DFE95-8C73-474B-A486-D8C7E6093A6F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5406980" y="5483280"/>
              <a:ext cx="2341808" cy="46379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5D34F08-827D-3141-B85C-B1F52775A736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V="1">
              <a:off x="5389580" y="5697288"/>
              <a:ext cx="2461056" cy="679706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B769B7-BD93-554C-A11E-920DF904EDC7}"/>
                </a:ext>
              </a:extLst>
            </p:cNvPr>
            <p:cNvSpPr txBox="1"/>
            <p:nvPr/>
          </p:nvSpPr>
          <p:spPr>
            <a:xfrm>
              <a:off x="3101788" y="4464424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13</a:t>
              </a:r>
              <a:endParaRPr lang="en-MX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3041CC-1A63-AD4F-BC5C-93458CB7E3AD}"/>
                </a:ext>
              </a:extLst>
            </p:cNvPr>
            <p:cNvSpPr txBox="1"/>
            <p:nvPr/>
          </p:nvSpPr>
          <p:spPr>
            <a:xfrm>
              <a:off x="3046476" y="4844634"/>
              <a:ext cx="6954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14</a:t>
              </a:r>
              <a:endParaRPr lang="en-MX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A72403-9398-AB47-926A-1DDE8BF0C2B8}"/>
                </a:ext>
              </a:extLst>
            </p:cNvPr>
            <p:cNvSpPr txBox="1"/>
            <p:nvPr/>
          </p:nvSpPr>
          <p:spPr>
            <a:xfrm>
              <a:off x="3442891" y="5415710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w</a:t>
              </a:r>
              <a:r>
                <a:rPr lang="en-MX" baseline="-25000" dirty="0"/>
                <a:t>15</a:t>
              </a:r>
              <a:endParaRPr lang="en-MX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AFB886-B34A-A944-B010-A44E7AE13E56}"/>
                </a:ext>
              </a:extLst>
            </p:cNvPr>
            <p:cNvSpPr txBox="1"/>
            <p:nvPr/>
          </p:nvSpPr>
          <p:spPr>
            <a:xfrm rot="19526007">
              <a:off x="3908613" y="4607860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23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FAB03A-B1B9-AA42-83E8-E58619631CDB}"/>
                </a:ext>
              </a:extLst>
            </p:cNvPr>
            <p:cNvSpPr txBox="1"/>
            <p:nvPr/>
          </p:nvSpPr>
          <p:spPr>
            <a:xfrm rot="20533810">
              <a:off x="2636911" y="5647646"/>
              <a:ext cx="632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24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11651C-FB9B-9146-8664-3BACB65A3608}"/>
                </a:ext>
              </a:extLst>
            </p:cNvPr>
            <p:cNvSpPr txBox="1"/>
            <p:nvPr/>
          </p:nvSpPr>
          <p:spPr>
            <a:xfrm>
              <a:off x="3317844" y="605950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rgbClr val="0070C0"/>
                  </a:solidFill>
                </a:rPr>
                <a:t>w</a:t>
              </a:r>
              <a:r>
                <a:rPr lang="en-MX" baseline="-25000" dirty="0">
                  <a:solidFill>
                    <a:srgbClr val="0070C0"/>
                  </a:solidFill>
                </a:rPr>
                <a:t>25</a:t>
              </a:r>
              <a:endParaRPr lang="en-MX" dirty="0">
                <a:solidFill>
                  <a:srgbClr val="0070C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CFB9F74-E754-DD4E-A62A-788879C9F3C3}"/>
                </a:ext>
              </a:extLst>
            </p:cNvPr>
            <p:cNvSpPr txBox="1"/>
            <p:nvPr/>
          </p:nvSpPr>
          <p:spPr>
            <a:xfrm rot="21390991">
              <a:off x="6291569" y="5145079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chemeClr val="accent2"/>
                  </a:solidFill>
                </a:rPr>
                <a:t>w</a:t>
              </a:r>
              <a:r>
                <a:rPr lang="en-MX" baseline="-25000" dirty="0">
                  <a:solidFill>
                    <a:schemeClr val="accent2"/>
                  </a:solidFill>
                </a:rPr>
                <a:t>46</a:t>
              </a:r>
              <a:endParaRPr lang="en-MX" dirty="0">
                <a:solidFill>
                  <a:schemeClr val="accent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064081-165E-684E-A84D-C43060AD7B12}"/>
                </a:ext>
              </a:extLst>
            </p:cNvPr>
            <p:cNvSpPr txBox="1"/>
            <p:nvPr/>
          </p:nvSpPr>
          <p:spPr>
            <a:xfrm rot="20340164">
              <a:off x="6166522" y="570128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>
                  <a:solidFill>
                    <a:schemeClr val="accent2"/>
                  </a:solidFill>
                </a:rPr>
                <a:t>w</a:t>
              </a:r>
              <a:r>
                <a:rPr lang="en-MX" baseline="-25000" dirty="0">
                  <a:solidFill>
                    <a:schemeClr val="accent2"/>
                  </a:solidFill>
                </a:rPr>
                <a:t>56</a:t>
              </a:r>
              <a:endParaRPr lang="en-MX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BE3280-DA26-EE45-9A8D-E17C47C890F7}"/>
              </a:ext>
            </a:extLst>
          </p:cNvPr>
          <p:cNvSpPr txBox="1"/>
          <p:nvPr/>
        </p:nvSpPr>
        <p:spPr>
          <a:xfrm>
            <a:off x="5397311" y="3774278"/>
            <a:ext cx="38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dirty="0"/>
              <a:t>b</a:t>
            </a:r>
            <a:r>
              <a:rPr lang="en-MX" baseline="-25000" dirty="0"/>
              <a:t>3</a:t>
            </a:r>
            <a:endParaRPr lang="en-MX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426FC-98C3-8344-A57D-2A7FE36AD4F4}"/>
              </a:ext>
            </a:extLst>
          </p:cNvPr>
          <p:cNvSpPr txBox="1"/>
          <p:nvPr/>
        </p:nvSpPr>
        <p:spPr>
          <a:xfrm>
            <a:off x="5443399" y="4735280"/>
            <a:ext cx="38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dirty="0"/>
              <a:t>b</a:t>
            </a:r>
            <a:r>
              <a:rPr lang="en-MX" baseline="-25000" dirty="0"/>
              <a:t>4</a:t>
            </a:r>
            <a:endParaRPr lang="en-MX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714F7E-CA51-1546-BE97-BD4A4E8E2A1E}"/>
              </a:ext>
            </a:extLst>
          </p:cNvPr>
          <p:cNvSpPr txBox="1"/>
          <p:nvPr/>
        </p:nvSpPr>
        <p:spPr>
          <a:xfrm>
            <a:off x="5460066" y="5737546"/>
            <a:ext cx="38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dirty="0"/>
              <a:t>b</a:t>
            </a:r>
            <a:r>
              <a:rPr lang="en-MX" baseline="-25000" dirty="0"/>
              <a:t>5</a:t>
            </a:r>
            <a:endParaRPr lang="en-MX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41DA2D-04CC-C843-AAAD-8EEF8C8ADC66}"/>
              </a:ext>
            </a:extLst>
          </p:cNvPr>
          <p:cNvSpPr txBox="1"/>
          <p:nvPr/>
        </p:nvSpPr>
        <p:spPr>
          <a:xfrm>
            <a:off x="8454272" y="4679709"/>
            <a:ext cx="38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dirty="0"/>
              <a:t>b</a:t>
            </a:r>
            <a:r>
              <a:rPr lang="en-MX" baseline="-25000" dirty="0"/>
              <a:t>6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90003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9B396-B18C-334C-BB3A-49363258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Learning rule</a:t>
            </a:r>
            <a:endParaRPr lang="en-MX" sz="54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2EC72-5848-764F-8501-6FDD89757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The learning rule defines how a neural network improves by updating its weights and biases based on the error.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Compares predicted output with the correct output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Calculates the error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Adjusts weights and biases to reduce the error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Repeats until the model improves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MX" sz="2200" dirty="0"/>
          </a:p>
        </p:txBody>
      </p:sp>
    </p:spTree>
    <p:extLst>
      <p:ext uri="{BB962C8B-B14F-4D97-AF65-F5344CB8AC3E}">
        <p14:creationId xmlns:p14="http://schemas.microsoft.com/office/powerpoint/2010/main" val="428696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90B6D-59B2-834C-ADEF-2312A856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sz="5400" b="1" dirty="0"/>
              <a:t>Neural networks layers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EDB8-3B81-9647-AF0E-5195A5140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515600" cy="480904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900" b="1" dirty="0"/>
              <a:t>Input Layer:</a:t>
            </a:r>
            <a:endParaRPr lang="en-US" sz="1900" dirty="0"/>
          </a:p>
          <a:p>
            <a:pPr lvl="1"/>
            <a:r>
              <a:rPr lang="en-US" sz="1900" dirty="0"/>
              <a:t>Entry point of the network </a:t>
            </a:r>
          </a:p>
          <a:p>
            <a:pPr lvl="1"/>
            <a:r>
              <a:rPr lang="en-US" sz="1900" dirty="0"/>
              <a:t>Receives raw data (features) </a:t>
            </a:r>
          </a:p>
          <a:p>
            <a:pPr lvl="1"/>
            <a:r>
              <a:rPr lang="en-US" sz="1900" dirty="0"/>
              <a:t>Each neuron = one input feature</a:t>
            </a:r>
          </a:p>
          <a:p>
            <a:pPr lvl="1"/>
            <a:endParaRPr lang="en-US" sz="1900" dirty="0"/>
          </a:p>
          <a:p>
            <a:pPr marL="514350" indent="-514350">
              <a:buFont typeface="+mj-lt"/>
              <a:buAutoNum type="arabicPeriod"/>
            </a:pPr>
            <a:r>
              <a:rPr lang="en-US" sz="1900" b="1" dirty="0"/>
              <a:t>Hidden Layers:</a:t>
            </a:r>
            <a:endParaRPr lang="en-US" sz="1900" dirty="0"/>
          </a:p>
          <a:p>
            <a:pPr lvl="1"/>
            <a:r>
              <a:rPr lang="en-US" sz="1900" dirty="0"/>
              <a:t>Perform the main computations </a:t>
            </a:r>
          </a:p>
          <a:p>
            <a:pPr lvl="1"/>
            <a:r>
              <a:rPr lang="en-US" sz="1900" dirty="0"/>
              <a:t>Learn patterns and relationships in data </a:t>
            </a:r>
          </a:p>
          <a:p>
            <a:pPr lvl="1"/>
            <a:r>
              <a:rPr lang="en-US" sz="1900" dirty="0"/>
              <a:t>Each layer transforms the data step by step </a:t>
            </a:r>
          </a:p>
          <a:p>
            <a:pPr lvl="1"/>
            <a:r>
              <a:rPr lang="en-US" sz="1900" dirty="0"/>
              <a:t>Can have one or multiple layers</a:t>
            </a:r>
          </a:p>
          <a:p>
            <a:pPr lvl="1"/>
            <a:endParaRPr lang="en-US" sz="1900" dirty="0"/>
          </a:p>
          <a:p>
            <a:pPr marL="514350" indent="-514350">
              <a:buFont typeface="+mj-lt"/>
              <a:buAutoNum type="arabicPeriod"/>
            </a:pPr>
            <a:r>
              <a:rPr lang="en-US" sz="1900" b="1" dirty="0"/>
              <a:t>Output Layer:</a:t>
            </a:r>
            <a:endParaRPr lang="en-US" sz="1900" dirty="0"/>
          </a:p>
          <a:p>
            <a:pPr lvl="1"/>
            <a:r>
              <a:rPr lang="en-US" sz="1900" dirty="0"/>
              <a:t>Produces the final prediction </a:t>
            </a:r>
          </a:p>
          <a:p>
            <a:pPr lvl="1"/>
            <a:r>
              <a:rPr lang="en-US" sz="1900" dirty="0"/>
              <a:t>Format depends on the task, Classification or Regression</a:t>
            </a:r>
          </a:p>
          <a:p>
            <a:endParaRPr lang="en-MX" sz="1900" dirty="0"/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2FF21185-C815-2940-ACA5-04705D4500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18" t="10934" r="9402" b="7190"/>
          <a:stretch/>
        </p:blipFill>
        <p:spPr>
          <a:xfrm>
            <a:off x="7057225" y="2055813"/>
            <a:ext cx="4592348" cy="35712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5E6A83-591C-C745-BB98-82CBD30A3C46}"/>
              </a:ext>
            </a:extLst>
          </p:cNvPr>
          <p:cNvSpPr txBox="1"/>
          <p:nvPr/>
        </p:nvSpPr>
        <p:spPr>
          <a:xfrm>
            <a:off x="9681693" y="5270565"/>
            <a:ext cx="35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77057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A8BA2-D279-8E49-8861-11D4F7A3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Propagation functions</a:t>
            </a:r>
            <a:endParaRPr lang="en-MX" sz="54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45670-6FC2-B74A-9411-911875571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kern="1200" dirty="0">
                <a:ea typeface="+mj-ea"/>
                <a:cs typeface="+mj-cs"/>
              </a:rPr>
              <a:t>Forward propagation:</a:t>
            </a:r>
          </a:p>
          <a:p>
            <a:pPr marL="0" indent="0">
              <a:buNone/>
            </a:pPr>
            <a:endParaRPr lang="en-US" sz="2200" dirty="0"/>
          </a:p>
          <a:p>
            <a:pPr marL="250825" lvl="1" indent="-250825">
              <a:lnSpc>
                <a:spcPct val="150000"/>
              </a:lnSpc>
            </a:pPr>
            <a:r>
              <a:rPr lang="en-US" sz="2200" dirty="0"/>
              <a:t>Forward propagation define how data moves and is processed inside a neural network.</a:t>
            </a:r>
          </a:p>
          <a:p>
            <a:pPr marL="250825" lvl="1" indent="-250825">
              <a:lnSpc>
                <a:spcPct val="150000"/>
              </a:lnSpc>
            </a:pPr>
            <a:r>
              <a:rPr lang="en-US" sz="2200" dirty="0"/>
              <a:t>Combine inputs using weights and bias </a:t>
            </a:r>
          </a:p>
          <a:p>
            <a:pPr marL="250825" lvl="1" indent="-250825">
              <a:lnSpc>
                <a:spcPct val="150000"/>
              </a:lnSpc>
            </a:pPr>
            <a:r>
              <a:rPr lang="en-US" sz="2200" dirty="0"/>
              <a:t>Compute a value called net input (z)</a:t>
            </a:r>
          </a:p>
          <a:p>
            <a:pPr marL="250825" lvl="1" indent="-250825">
              <a:lnSpc>
                <a:spcPct val="150000"/>
              </a:lnSpc>
            </a:pPr>
            <a:r>
              <a:rPr lang="en-US" sz="2200" dirty="0"/>
              <a:t>Pass the result to the activation function(Sigmoid, Tanh or </a:t>
            </a:r>
            <a:r>
              <a:rPr lang="en-US" sz="2200" dirty="0" err="1"/>
              <a:t>ReLU</a:t>
            </a:r>
            <a:r>
              <a:rPr lang="en-US" sz="2200" dirty="0"/>
              <a:t>)</a:t>
            </a:r>
          </a:p>
          <a:p>
            <a:pPr marL="250825" lvl="1" indent="-250825">
              <a:lnSpc>
                <a:spcPct val="150000"/>
              </a:lnSpc>
            </a:pPr>
            <a:r>
              <a:rPr lang="en-US" sz="2200" dirty="0"/>
              <a:t>Send the output to the next layer</a:t>
            </a:r>
            <a:endParaRPr lang="en-MX" sz="2200" dirty="0"/>
          </a:p>
        </p:txBody>
      </p:sp>
    </p:spTree>
    <p:extLst>
      <p:ext uri="{BB962C8B-B14F-4D97-AF65-F5344CB8AC3E}">
        <p14:creationId xmlns:p14="http://schemas.microsoft.com/office/powerpoint/2010/main" val="1670633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10673-5FB7-D243-9A3D-3E5A557D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Forward propagation</a:t>
            </a:r>
            <a:endParaRPr lang="en-MX" sz="5400" b="1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EAFE2-9E01-B844-AD98-88A84809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29384"/>
            <a:ext cx="10514779" cy="46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Forward propagation is the process in a neural network where input data moves through the network layer by layer to produce a prediction.</a:t>
            </a:r>
          </a:p>
          <a:p>
            <a:pPr marL="0" indent="0" algn="just">
              <a:buNone/>
            </a:pPr>
            <a:r>
              <a:rPr lang="en-US" sz="2000" dirty="0"/>
              <a:t>	Input → Hidden → Output</a:t>
            </a:r>
          </a:p>
          <a:p>
            <a:pPr marL="0" indent="0" algn="just">
              <a:buNone/>
            </a:pPr>
            <a:r>
              <a:rPr lang="en-US" sz="2000" dirty="0"/>
              <a:t>The model: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Takes input data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Processes it through layers  </a:t>
            </a: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200" dirty="0"/>
              <a:t>z</a:t>
            </a:r>
            <a:r>
              <a:rPr lang="en-MX" sz="2200" baseline="30000" dirty="0"/>
              <a:t>[l]</a:t>
            </a:r>
            <a:r>
              <a:rPr lang="en-US" sz="2200" dirty="0"/>
              <a:t> =W</a:t>
            </a:r>
            <a:r>
              <a:rPr lang="en-MX" sz="2200" baseline="30000" dirty="0"/>
              <a:t>[l] </a:t>
            </a:r>
            <a:r>
              <a:rPr lang="en-US" sz="2200" dirty="0"/>
              <a:t>*a</a:t>
            </a:r>
            <a:r>
              <a:rPr lang="en-MX" sz="2200" baseline="30000" dirty="0"/>
              <a:t>[l-1] </a:t>
            </a:r>
            <a:r>
              <a:rPr lang="en-MX" sz="2200" dirty="0"/>
              <a:t>+ </a:t>
            </a:r>
            <a:r>
              <a:rPr lang="en-US" sz="2200" dirty="0"/>
              <a:t>b</a:t>
            </a:r>
            <a:r>
              <a:rPr lang="en-MX" sz="2200" baseline="30000" dirty="0"/>
              <a:t>[l] </a:t>
            </a:r>
            <a:endParaRPr lang="en-US" sz="2200" baseline="30000" dirty="0"/>
          </a:p>
          <a:p>
            <a:pPr marL="0" indent="0" algn="just">
              <a:buNone/>
            </a:pPr>
            <a:r>
              <a:rPr lang="en-US" sz="2200" dirty="0"/>
              <a:t>	a</a:t>
            </a:r>
            <a:r>
              <a:rPr lang="en-MX" sz="2200" baseline="30000" dirty="0"/>
              <a:t>[l]</a:t>
            </a:r>
            <a:r>
              <a:rPr lang="en-US" sz="2200" dirty="0"/>
              <a:t> = f(z</a:t>
            </a:r>
            <a:r>
              <a:rPr lang="en-MX" sz="2200" baseline="30000" dirty="0"/>
              <a:t>[l] </a:t>
            </a:r>
            <a:r>
              <a:rPr lang="en-US" sz="2200" dirty="0"/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Produces an output (prediction) </a:t>
            </a:r>
          </a:p>
          <a:p>
            <a:pPr algn="just"/>
            <a:r>
              <a:rPr lang="en-US" sz="2000" dirty="0"/>
              <a:t>Then we compare:</a:t>
            </a:r>
          </a:p>
          <a:p>
            <a:pPr lvl="2" algn="just"/>
            <a:r>
              <a:rPr lang="en-US" sz="1600" dirty="0"/>
              <a:t>Predicted value vs correct answer</a:t>
            </a:r>
          </a:p>
          <a:p>
            <a:pPr lvl="2" algn="just"/>
            <a:r>
              <a:rPr lang="en-US" sz="1600" dirty="0"/>
              <a:t>This difference is called the error (loss)</a:t>
            </a:r>
          </a:p>
        </p:txBody>
      </p:sp>
      <p:pic>
        <p:nvPicPr>
          <p:cNvPr id="7" name="Content Placeholder 4" descr="A diagram of a number of circles and a number of letters&#10;&#10;Description automatically generated with medium confidence">
            <a:extLst>
              <a:ext uri="{FF2B5EF4-FFF2-40B4-BE49-F238E27FC236}">
                <a16:creationId xmlns:a16="http://schemas.microsoft.com/office/drawing/2014/main" id="{212C7E1C-859F-8649-BB9A-55FA8A67FF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" r="61912" b="3617"/>
          <a:stretch/>
        </p:blipFill>
        <p:spPr>
          <a:xfrm>
            <a:off x="6831128" y="2631369"/>
            <a:ext cx="4183876" cy="4226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BEC229-D1A9-D648-A894-272E95AAF9B5}"/>
                  </a:ext>
                </a:extLst>
              </p:cNvPr>
              <p:cNvSpPr txBox="1"/>
              <p:nvPr/>
            </p:nvSpPr>
            <p:spPr>
              <a:xfrm>
                <a:off x="9206062" y="3038476"/>
                <a:ext cx="716963" cy="44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MX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MX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s-ES" sz="20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MX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BEC229-D1A9-D648-A894-272E95AAF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062" y="3038476"/>
                <a:ext cx="716963" cy="441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88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42D1-26DC-D84B-8726-A61C25A8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4391"/>
            <a:ext cx="10515600" cy="1325563"/>
          </a:xfrm>
        </p:spPr>
        <p:txBody>
          <a:bodyPr/>
          <a:lstStyle/>
          <a:p>
            <a:pPr algn="ctr"/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Forward propagation</a:t>
            </a:r>
            <a:endParaRPr lang="en-MX" b="1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9D195E9-DEE9-E9EA-7A98-701B2B546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427697"/>
              </p:ext>
            </p:extLst>
          </p:nvPr>
        </p:nvGraphicFramePr>
        <p:xfrm>
          <a:off x="696350" y="1370807"/>
          <a:ext cx="7073154" cy="5257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2B7BF0A-BC67-7F41-92C6-87D4CEC13015}"/>
              </a:ext>
            </a:extLst>
          </p:cNvPr>
          <p:cNvSpPr/>
          <p:nvPr/>
        </p:nvSpPr>
        <p:spPr>
          <a:xfrm>
            <a:off x="8514108" y="1304382"/>
            <a:ext cx="2855741" cy="11024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2800" dirty="0">
                <a:solidFill>
                  <a:schemeClr val="tx1"/>
                </a:solidFill>
              </a:rPr>
              <a:t>Random weights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7B4C1-09FD-B14D-8382-4193D6795E13}"/>
              </a:ext>
            </a:extLst>
          </p:cNvPr>
          <p:cNvSpPr/>
          <p:nvPr/>
        </p:nvSpPr>
        <p:spPr>
          <a:xfrm>
            <a:off x="8514108" y="5171472"/>
            <a:ext cx="2855741" cy="1102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2800" dirty="0">
                <a:solidFill>
                  <a:schemeClr val="tx1"/>
                </a:solidFill>
              </a:rPr>
              <a:t>Trained weights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5E8C1-0AAD-4441-82C5-15BD87227C5F}"/>
              </a:ext>
            </a:extLst>
          </p:cNvPr>
          <p:cNvSpPr/>
          <p:nvPr/>
        </p:nvSpPr>
        <p:spPr>
          <a:xfrm>
            <a:off x="8514108" y="3227449"/>
            <a:ext cx="2855741" cy="1102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sz="2800" dirty="0">
                <a:solidFill>
                  <a:schemeClr val="tx1"/>
                </a:solidFill>
              </a:rPr>
              <a:t>After training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6DF2C99E-DD4F-2E4B-B96B-0A318BFDF39F}"/>
              </a:ext>
            </a:extLst>
          </p:cNvPr>
          <p:cNvSpPr/>
          <p:nvPr/>
        </p:nvSpPr>
        <p:spPr>
          <a:xfrm>
            <a:off x="9737997" y="2449076"/>
            <a:ext cx="407964" cy="74229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CCF122A-573C-A24D-800D-628372D55333}"/>
              </a:ext>
            </a:extLst>
          </p:cNvPr>
          <p:cNvSpPr/>
          <p:nvPr/>
        </p:nvSpPr>
        <p:spPr>
          <a:xfrm>
            <a:off x="9737996" y="4379561"/>
            <a:ext cx="407964" cy="74229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4075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40D9D-8524-9744-9458-C4585727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Forward propagation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Forward Propagation - Naukri Code 360">
            <a:extLst>
              <a:ext uri="{FF2B5EF4-FFF2-40B4-BE49-F238E27FC236}">
                <a16:creationId xmlns:a16="http://schemas.microsoft.com/office/drawing/2014/main" id="{0B584ED6-2466-FD43-A87F-FC1B8C53D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55"/>
          <a:stretch/>
        </p:blipFill>
        <p:spPr bwMode="auto">
          <a:xfrm>
            <a:off x="585616" y="1988978"/>
            <a:ext cx="5731494" cy="423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E8451-8511-EA45-B94E-34F046B6F906}"/>
              </a:ext>
            </a:extLst>
          </p:cNvPr>
          <p:cNvSpPr txBox="1"/>
          <p:nvPr/>
        </p:nvSpPr>
        <p:spPr>
          <a:xfrm>
            <a:off x="2869325" y="244365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W</a:t>
            </a:r>
            <a:r>
              <a:rPr lang="en-MX" baseline="-25000" dirty="0"/>
              <a:t>11</a:t>
            </a:r>
            <a:r>
              <a:rPr lang="en-MX" baseline="30000" dirty="0"/>
              <a:t>[1]</a:t>
            </a:r>
            <a:endParaRPr lang="en-MX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BB3D6-DE75-0549-A654-0ABF49ED2FCC}"/>
              </a:ext>
            </a:extLst>
          </p:cNvPr>
          <p:cNvSpPr txBox="1"/>
          <p:nvPr/>
        </p:nvSpPr>
        <p:spPr>
          <a:xfrm>
            <a:off x="3133160" y="268089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W</a:t>
            </a:r>
            <a:r>
              <a:rPr lang="en-MX" baseline="-25000" dirty="0"/>
              <a:t>12</a:t>
            </a:r>
            <a:r>
              <a:rPr lang="en-MX" baseline="30000" dirty="0"/>
              <a:t>[1]</a:t>
            </a:r>
            <a:endParaRPr lang="en-MX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FB583-B74F-0A4A-BE1B-FD6FF1F74746}"/>
              </a:ext>
            </a:extLst>
          </p:cNvPr>
          <p:cNvSpPr txBox="1"/>
          <p:nvPr/>
        </p:nvSpPr>
        <p:spPr>
          <a:xfrm>
            <a:off x="6468176" y="2299048"/>
            <a:ext cx="57238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a</a:t>
            </a:r>
            <a:r>
              <a:rPr lang="en-MX" sz="2600" baseline="-25000" dirty="0"/>
              <a:t>1</a:t>
            </a:r>
            <a:r>
              <a:rPr lang="en-MX" sz="2600" baseline="30000" dirty="0"/>
              <a:t>[1] </a:t>
            </a:r>
            <a:r>
              <a:rPr lang="en-MX" sz="2600" dirty="0"/>
              <a:t>= activation function(</a:t>
            </a:r>
            <a:r>
              <a:rPr lang="en-US" sz="2600" dirty="0"/>
              <a:t>w</a:t>
            </a:r>
            <a:r>
              <a:rPr lang="en-MX" sz="2600" baseline="-25000" dirty="0"/>
              <a:t>11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1</a:t>
            </a:r>
            <a:r>
              <a:rPr lang="en-MX" sz="2600" baseline="30000" dirty="0"/>
              <a:t>[0]</a:t>
            </a:r>
            <a:r>
              <a:rPr lang="en-MX" sz="2600" dirty="0"/>
              <a:t>+</a:t>
            </a:r>
            <a:r>
              <a:rPr lang="en-US" sz="2600" dirty="0"/>
              <a:t> w</a:t>
            </a:r>
            <a:r>
              <a:rPr lang="en-MX" sz="2600" baseline="-25000" dirty="0"/>
              <a:t>12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2</a:t>
            </a:r>
            <a:r>
              <a:rPr lang="en-MX" sz="2600" baseline="30000" dirty="0"/>
              <a:t>[0]</a:t>
            </a:r>
            <a:r>
              <a:rPr lang="en-MX" sz="2600" dirty="0"/>
              <a:t>+ </a:t>
            </a:r>
            <a:r>
              <a:rPr lang="en-US" sz="2600" dirty="0"/>
              <a:t>w</a:t>
            </a:r>
            <a:r>
              <a:rPr lang="en-MX" sz="2600" baseline="-25000" dirty="0"/>
              <a:t>13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3</a:t>
            </a:r>
            <a:r>
              <a:rPr lang="en-MX" sz="2600" baseline="30000" dirty="0"/>
              <a:t>[0] </a:t>
            </a:r>
            <a:r>
              <a:rPr lang="en-MX" sz="2600" dirty="0"/>
              <a:t>+ B1)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77377-64B6-C94C-AB44-08A961448D1E}"/>
              </a:ext>
            </a:extLst>
          </p:cNvPr>
          <p:cNvSpPr txBox="1"/>
          <p:nvPr/>
        </p:nvSpPr>
        <p:spPr>
          <a:xfrm>
            <a:off x="6468176" y="3666401"/>
            <a:ext cx="57238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a</a:t>
            </a:r>
            <a:r>
              <a:rPr lang="en-MX" sz="2600" baseline="-25000" dirty="0"/>
              <a:t>2</a:t>
            </a:r>
            <a:r>
              <a:rPr lang="en-MX" sz="2600" baseline="30000" dirty="0"/>
              <a:t>[1]</a:t>
            </a:r>
            <a:r>
              <a:rPr lang="en-MX" sz="2600" dirty="0"/>
              <a:t>=activation function(</a:t>
            </a:r>
            <a:r>
              <a:rPr lang="en-US" sz="2600" dirty="0"/>
              <a:t>w</a:t>
            </a:r>
            <a:r>
              <a:rPr lang="en-MX" sz="2600" baseline="-25000" dirty="0"/>
              <a:t>21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1</a:t>
            </a:r>
            <a:r>
              <a:rPr lang="en-MX" sz="2600" baseline="30000" dirty="0"/>
              <a:t>[0]</a:t>
            </a:r>
            <a:r>
              <a:rPr lang="en-MX" sz="2600" dirty="0"/>
              <a:t>+</a:t>
            </a:r>
            <a:r>
              <a:rPr lang="en-US" sz="2600" dirty="0"/>
              <a:t> w</a:t>
            </a:r>
            <a:r>
              <a:rPr lang="en-MX" sz="2600" baseline="-25000" dirty="0"/>
              <a:t>22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2</a:t>
            </a:r>
            <a:r>
              <a:rPr lang="en-MX" sz="2600" baseline="30000" dirty="0"/>
              <a:t>[0] </a:t>
            </a:r>
            <a:r>
              <a:rPr lang="en-MX" sz="2600" dirty="0"/>
              <a:t>+ </a:t>
            </a:r>
            <a:r>
              <a:rPr lang="en-US" sz="2600" dirty="0"/>
              <a:t>w</a:t>
            </a:r>
            <a:r>
              <a:rPr lang="en-MX" sz="2600" baseline="-25000" dirty="0"/>
              <a:t>23</a:t>
            </a:r>
            <a:r>
              <a:rPr lang="en-MX" sz="2600" baseline="30000" dirty="0"/>
              <a:t>[1]</a:t>
            </a:r>
            <a:r>
              <a:rPr lang="en-MX" sz="2600" dirty="0"/>
              <a:t>* </a:t>
            </a:r>
            <a:r>
              <a:rPr lang="en-US" sz="2600" dirty="0"/>
              <a:t>a</a:t>
            </a:r>
            <a:r>
              <a:rPr lang="en-MX" sz="2600" baseline="-25000" dirty="0"/>
              <a:t>3</a:t>
            </a:r>
            <a:r>
              <a:rPr lang="en-MX" sz="2600" baseline="30000" dirty="0"/>
              <a:t>0] </a:t>
            </a:r>
            <a:r>
              <a:rPr lang="en-MX" sz="2600" dirty="0"/>
              <a:t>+ B1)</a:t>
            </a:r>
          </a:p>
        </p:txBody>
      </p:sp>
    </p:spTree>
    <p:extLst>
      <p:ext uri="{BB962C8B-B14F-4D97-AF65-F5344CB8AC3E}">
        <p14:creationId xmlns:p14="http://schemas.microsoft.com/office/powerpoint/2010/main" val="2611794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a number of circles and a number of letters&#10;&#10;Description automatically generated with medium confidence">
            <a:extLst>
              <a:ext uri="{FF2B5EF4-FFF2-40B4-BE49-F238E27FC236}">
                <a16:creationId xmlns:a16="http://schemas.microsoft.com/office/drawing/2014/main" id="{F8CCDD40-76CC-264B-9CA1-0E3E6ECFB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09" b="4972"/>
          <a:stretch>
            <a:fillRect/>
          </a:stretch>
        </p:blipFill>
        <p:spPr>
          <a:xfrm>
            <a:off x="271985" y="153599"/>
            <a:ext cx="11648029" cy="6550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5243B4-FE76-6249-8305-A8F499726A70}"/>
              </a:ext>
            </a:extLst>
          </p:cNvPr>
          <p:cNvSpPr txBox="1"/>
          <p:nvPr/>
        </p:nvSpPr>
        <p:spPr>
          <a:xfrm>
            <a:off x="8682915" y="4276579"/>
            <a:ext cx="17973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X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49310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26F74-DACF-F246-B988-F2FABD54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MX" b="1">
                <a:solidFill>
                  <a:srgbClr val="FFFFFF"/>
                </a:solidFill>
              </a:rPr>
              <a:t>Activation functions Types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9B6F-F806-FD4D-B966-1596A058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313283" cy="59475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MX" sz="2400" dirty="0"/>
              <a:t>Output layer: </a:t>
            </a:r>
          </a:p>
          <a:p>
            <a:pPr marL="0" indent="0">
              <a:buNone/>
            </a:pPr>
            <a:endParaRPr lang="en-MX" sz="2400" dirty="0"/>
          </a:p>
          <a:p>
            <a:pPr lvl="1"/>
            <a:r>
              <a:rPr lang="en-MX" dirty="0"/>
              <a:t>Binary classicication: Sigmoid function </a:t>
            </a:r>
          </a:p>
          <a:p>
            <a:pPr lvl="1"/>
            <a:r>
              <a:rPr lang="en-MX" dirty="0"/>
              <a:t>Multi-class classifiction: Softmax function</a:t>
            </a:r>
          </a:p>
          <a:p>
            <a:pPr lvl="1"/>
            <a:r>
              <a:rPr lang="en-MX" dirty="0"/>
              <a:t>Regression: no need for activation function on the output neuron</a:t>
            </a:r>
          </a:p>
          <a:p>
            <a:pPr lvl="1"/>
            <a:endParaRPr lang="en-MX" dirty="0"/>
          </a:p>
          <a:p>
            <a:pPr lvl="1"/>
            <a:endParaRPr lang="en-MX" dirty="0"/>
          </a:p>
          <a:p>
            <a:pPr marL="0" indent="0">
              <a:buNone/>
            </a:pPr>
            <a:r>
              <a:rPr lang="en-MX" sz="2400" dirty="0"/>
              <a:t>Hidden layers:</a:t>
            </a:r>
          </a:p>
          <a:p>
            <a:pPr marL="0" indent="0">
              <a:buNone/>
            </a:pPr>
            <a:endParaRPr lang="en-MX" sz="2400" dirty="0"/>
          </a:p>
          <a:p>
            <a:pPr lvl="1"/>
            <a:r>
              <a:rPr lang="en-MX" dirty="0"/>
              <a:t>Sigmoid function</a:t>
            </a:r>
          </a:p>
          <a:p>
            <a:pPr lvl="1"/>
            <a:r>
              <a:rPr lang="en-MX" dirty="0"/>
              <a:t>Tanh Function </a:t>
            </a:r>
          </a:p>
          <a:p>
            <a:pPr lvl="1"/>
            <a:r>
              <a:rPr lang="en-MX" dirty="0"/>
              <a:t>Relu (Rectified Linear Unit) Function</a:t>
            </a:r>
          </a:p>
          <a:p>
            <a:pPr marL="0" indent="0">
              <a:buNone/>
            </a:pPr>
            <a:endParaRPr lang="en-MX" sz="2400" dirty="0"/>
          </a:p>
        </p:txBody>
      </p:sp>
    </p:spTree>
    <p:extLst>
      <p:ext uri="{BB962C8B-B14F-4D97-AF65-F5344CB8AC3E}">
        <p14:creationId xmlns:p14="http://schemas.microsoft.com/office/powerpoint/2010/main" val="316210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7DF5-DA03-2C4D-AFC2-A4651750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0" y="304505"/>
            <a:ext cx="5562600" cy="790199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MX" b="1" dirty="0"/>
              <a:t>Sigmoid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B79A-C9D9-9345-B15A-4378F45981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8090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4800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MX" sz="4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sz="4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MX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MX" sz="4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B79A-C9D9-9345-B15A-4378F45981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80909" cy="4351338"/>
              </a:xfrm>
              <a:blipFill>
                <a:blip r:embed="rId2"/>
                <a:stretch>
                  <a:fillRect l="-4239" t="-145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image">
            <a:extLst>
              <a:ext uri="{FF2B5EF4-FFF2-40B4-BE49-F238E27FC236}">
                <a16:creationId xmlns:a16="http://schemas.microsoft.com/office/drawing/2014/main" id="{9C0A1B59-EAE3-0049-91F5-43C494C87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" t="15260" r="54414" b="43251"/>
          <a:stretch/>
        </p:blipFill>
        <p:spPr bwMode="auto">
          <a:xfrm>
            <a:off x="6856539" y="1825625"/>
            <a:ext cx="4900353" cy="269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B2FCDD-7F27-CF4D-AB01-6D0672C9605F}"/>
              </a:ext>
            </a:extLst>
          </p:cNvPr>
          <p:cNvSpPr/>
          <p:nvPr/>
        </p:nvSpPr>
        <p:spPr>
          <a:xfrm>
            <a:off x="1100902" y="4803609"/>
            <a:ext cx="1517607" cy="973736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X" dirty="0"/>
              <a:t>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537C-A917-0C4C-8D0D-94814EFE7265}"/>
              </a:ext>
            </a:extLst>
          </p:cNvPr>
          <p:cNvSpPr txBox="1"/>
          <p:nvPr/>
        </p:nvSpPr>
        <p:spPr>
          <a:xfrm>
            <a:off x="3068781" y="4607303"/>
            <a:ext cx="53270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3200" dirty="0">
                <a:sym typeface="Wingdings" pitchFamily="2" charset="2"/>
              </a:rPr>
              <a:t>      f(z) &gt;= 0.5  1</a:t>
            </a:r>
          </a:p>
          <a:p>
            <a:r>
              <a:rPr lang="en-MX" sz="3200" dirty="0">
                <a:sym typeface="Wingdings" pitchFamily="2" charset="2"/>
              </a:rPr>
              <a:t></a:t>
            </a:r>
          </a:p>
          <a:p>
            <a:r>
              <a:rPr lang="en-MX" sz="3200" dirty="0">
                <a:sym typeface="Wingdings" pitchFamily="2" charset="2"/>
              </a:rPr>
              <a:t>      f(z) &lt; 0.5    0</a:t>
            </a:r>
          </a:p>
          <a:p>
            <a:r>
              <a:rPr lang="en-MX" sz="3200" dirty="0">
                <a:sym typeface="Wingdings" pitchFamily="2" charset="2"/>
              </a:rPr>
              <a:t> </a:t>
            </a:r>
            <a:endParaRPr lang="en-MX" sz="3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87ABB4-5234-F941-A6ED-7DBCE4FC6B77}"/>
              </a:ext>
            </a:extLst>
          </p:cNvPr>
          <p:cNvCxnSpPr>
            <a:endCxn id="5" idx="1"/>
          </p:cNvCxnSpPr>
          <p:nvPr/>
        </p:nvCxnSpPr>
        <p:spPr>
          <a:xfrm>
            <a:off x="665018" y="4523373"/>
            <a:ext cx="658132" cy="4228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AF64F5-836C-5E4F-B160-49096E6B4CA9}"/>
              </a:ext>
            </a:extLst>
          </p:cNvPr>
          <p:cNvCxnSpPr>
            <a:cxnSpLocks/>
          </p:cNvCxnSpPr>
          <p:nvPr/>
        </p:nvCxnSpPr>
        <p:spPr>
          <a:xfrm>
            <a:off x="166233" y="5350168"/>
            <a:ext cx="9975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85A002-35CB-9645-BFFE-1AC21AB9547A}"/>
              </a:ext>
            </a:extLst>
          </p:cNvPr>
          <p:cNvCxnSpPr>
            <a:cxnSpLocks/>
          </p:cNvCxnSpPr>
          <p:nvPr/>
        </p:nvCxnSpPr>
        <p:spPr>
          <a:xfrm flipV="1">
            <a:off x="706582" y="5751949"/>
            <a:ext cx="831314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333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7309-A82B-E140-9579-4C91501D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75" y="210754"/>
            <a:ext cx="4049908" cy="816140"/>
          </a:xfr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MX" b="1" dirty="0"/>
              <a:t>Softmax funtion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F4A4F-0570-974B-882E-6C2C97162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5275" y="1312703"/>
                <a:ext cx="3428462" cy="152079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Softmax = f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(z​)=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s-E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MX" sz="2400" dirty="0"/>
              </a:p>
              <a:p>
                <a:pPr marL="0" indent="0">
                  <a:buNone/>
                </a:pPr>
                <a:r>
                  <a:rPr lang="en-MX" sz="2400" dirty="0"/>
                  <a:t> </a:t>
                </a:r>
              </a:p>
              <a:p>
                <a:pPr marL="0" indent="0">
                  <a:buNone/>
                </a:pPr>
                <a:r>
                  <a:rPr lang="en-MX" sz="2400" dirty="0"/>
                  <a:t>Example: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F4A4F-0570-974B-882E-6C2C97162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5275" y="1312703"/>
                <a:ext cx="3428462" cy="1520791"/>
              </a:xfrm>
              <a:blipFill>
                <a:blip r:embed="rId2"/>
                <a:stretch>
                  <a:fillRect l="-2952" t="-12397" b="-247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4E1E41F-95CD-8848-BD7D-EFC9649C2E99}"/>
              </a:ext>
            </a:extLst>
          </p:cNvPr>
          <p:cNvGrpSpPr/>
          <p:nvPr/>
        </p:nvGrpSpPr>
        <p:grpSpPr>
          <a:xfrm>
            <a:off x="1515805" y="2883265"/>
            <a:ext cx="1323109" cy="976744"/>
            <a:chOff x="166233" y="4523373"/>
            <a:chExt cx="2452276" cy="187742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33BF9C4-AAA5-2B44-99AB-2AB5B5B02F84}"/>
                </a:ext>
              </a:extLst>
            </p:cNvPr>
            <p:cNvSpPr/>
            <p:nvPr/>
          </p:nvSpPr>
          <p:spPr>
            <a:xfrm>
              <a:off x="1100902" y="4803609"/>
              <a:ext cx="1517607" cy="973736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7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7FF3FF1-3A94-3443-B4FB-09A0E2BD50EC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665018" y="4523373"/>
              <a:ext cx="658132" cy="4228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33845E-AC2A-CA48-9E3A-16C71E9B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66233" y="5350168"/>
              <a:ext cx="99754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81C1EB4-B0D8-4D43-97E0-E5768303A7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582" y="5751949"/>
              <a:ext cx="831314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E4FA4B-AE50-A248-A9E9-3C50675285F3}"/>
              </a:ext>
            </a:extLst>
          </p:cNvPr>
          <p:cNvGrpSpPr/>
          <p:nvPr/>
        </p:nvGrpSpPr>
        <p:grpSpPr>
          <a:xfrm>
            <a:off x="1430315" y="3865017"/>
            <a:ext cx="1323109" cy="976744"/>
            <a:chOff x="166233" y="4523373"/>
            <a:chExt cx="2452276" cy="187742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EB2384-E21E-6946-8714-548C4A77308C}"/>
                </a:ext>
              </a:extLst>
            </p:cNvPr>
            <p:cNvSpPr/>
            <p:nvPr/>
          </p:nvSpPr>
          <p:spPr>
            <a:xfrm>
              <a:off x="1100902" y="4803609"/>
              <a:ext cx="1517607" cy="973736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0.5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3103D26-E451-524D-9891-BA049050969D}"/>
                </a:ext>
              </a:extLst>
            </p:cNvPr>
            <p:cNvCxnSpPr>
              <a:endCxn id="26" idx="1"/>
            </p:cNvCxnSpPr>
            <p:nvPr/>
          </p:nvCxnSpPr>
          <p:spPr>
            <a:xfrm>
              <a:off x="665018" y="4523373"/>
              <a:ext cx="658132" cy="4228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A24FCF0-5092-094A-9AB9-BCF8D54A73F2}"/>
                </a:ext>
              </a:extLst>
            </p:cNvPr>
            <p:cNvCxnSpPr>
              <a:cxnSpLocks/>
            </p:cNvCxnSpPr>
            <p:nvPr/>
          </p:nvCxnSpPr>
          <p:spPr>
            <a:xfrm>
              <a:off x="166233" y="5350168"/>
              <a:ext cx="99754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B42B9D-7EA9-8640-BCB7-B36081A966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582" y="5751949"/>
              <a:ext cx="831314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A7A9CE-2807-B249-AA58-019E8FCC7FDF}"/>
              </a:ext>
            </a:extLst>
          </p:cNvPr>
          <p:cNvGrpSpPr/>
          <p:nvPr/>
        </p:nvGrpSpPr>
        <p:grpSpPr>
          <a:xfrm>
            <a:off x="1515805" y="4852668"/>
            <a:ext cx="1323109" cy="976744"/>
            <a:chOff x="166233" y="4523373"/>
            <a:chExt cx="2452276" cy="1877427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7B2B6D6-D7FA-C14C-BFDE-6CBD2122DA87}"/>
                </a:ext>
              </a:extLst>
            </p:cNvPr>
            <p:cNvSpPr/>
            <p:nvPr/>
          </p:nvSpPr>
          <p:spPr>
            <a:xfrm>
              <a:off x="1100902" y="4803609"/>
              <a:ext cx="1517607" cy="973736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1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99049CF-3F5F-AA46-8FD7-9E37CA124B81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665018" y="4523373"/>
              <a:ext cx="658132" cy="4228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4913A4D-6184-D143-ACFB-5DB9DA9E5D51}"/>
                </a:ext>
              </a:extLst>
            </p:cNvPr>
            <p:cNvCxnSpPr>
              <a:cxnSpLocks/>
            </p:cNvCxnSpPr>
            <p:nvPr/>
          </p:nvCxnSpPr>
          <p:spPr>
            <a:xfrm>
              <a:off x="166233" y="5350168"/>
              <a:ext cx="99754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6C082E3-D7EC-1243-944B-54D60FC44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582" y="5751949"/>
              <a:ext cx="831314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EC80D5-A618-0845-9BA1-BF92F55BFFAA}"/>
              </a:ext>
            </a:extLst>
          </p:cNvPr>
          <p:cNvGrpSpPr/>
          <p:nvPr/>
        </p:nvGrpSpPr>
        <p:grpSpPr>
          <a:xfrm>
            <a:off x="1370057" y="5834420"/>
            <a:ext cx="1323109" cy="976744"/>
            <a:chOff x="166233" y="4523373"/>
            <a:chExt cx="2452276" cy="187742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C0425CB-C4EE-8F4C-8936-9E16231BF515}"/>
                </a:ext>
              </a:extLst>
            </p:cNvPr>
            <p:cNvSpPr/>
            <p:nvPr/>
          </p:nvSpPr>
          <p:spPr>
            <a:xfrm>
              <a:off x="1100902" y="4803609"/>
              <a:ext cx="1517607" cy="973736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3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345BE97-284F-F347-8DD1-A82E15CD44F5}"/>
                </a:ext>
              </a:extLst>
            </p:cNvPr>
            <p:cNvCxnSpPr>
              <a:endCxn id="36" idx="1"/>
            </p:cNvCxnSpPr>
            <p:nvPr/>
          </p:nvCxnSpPr>
          <p:spPr>
            <a:xfrm>
              <a:off x="665018" y="4523373"/>
              <a:ext cx="658132" cy="4228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A2C0552-E2DA-C344-BEEF-1FA6792C08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233" y="5350168"/>
              <a:ext cx="99754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D7212BF-188A-0449-90CF-E22FA793C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582" y="5751949"/>
              <a:ext cx="831314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D5B417D-A642-F64A-85EF-3F85D4412AEC}"/>
              </a:ext>
            </a:extLst>
          </p:cNvPr>
          <p:cNvSpPr txBox="1"/>
          <p:nvPr/>
        </p:nvSpPr>
        <p:spPr>
          <a:xfrm>
            <a:off x="3357820" y="4295163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>
                <a:sym typeface="Wingdings" pitchFamily="2" charset="2"/>
              </a:rPr>
              <a:t></a:t>
            </a:r>
            <a:endParaRPr lang="en-MX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15C744-6433-8145-8812-EF87592E5FBB}"/>
                  </a:ext>
                </a:extLst>
              </p:cNvPr>
              <p:cNvSpPr txBox="1"/>
              <p:nvPr/>
            </p:nvSpPr>
            <p:spPr>
              <a:xfrm>
                <a:off x="4272218" y="3029060"/>
                <a:ext cx="6288259" cy="666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MX" sz="2400" dirty="0"/>
                  <a:t>(7)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MX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1096.6331</m:t>
                        </m:r>
                      </m:num>
                      <m:den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1121.08</m:t>
                        </m:r>
                      </m:den>
                    </m:f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   =0.9782</m:t>
                    </m:r>
                  </m:oMath>
                </a14:m>
                <a:endParaRPr lang="en-MX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15C744-6433-8145-8812-EF87592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218" y="3029060"/>
                <a:ext cx="6288259" cy="666336"/>
              </a:xfrm>
              <a:prstGeom prst="rect">
                <a:avLst/>
              </a:prstGeom>
              <a:blipFill>
                <a:blip r:embed="rId3"/>
                <a:stretch>
                  <a:fillRect l="-1613" b="-943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461CC3-F21B-3441-B03F-E47CE80510DF}"/>
                  </a:ext>
                </a:extLst>
              </p:cNvPr>
              <p:cNvSpPr txBox="1"/>
              <p:nvPr/>
            </p:nvSpPr>
            <p:spPr>
              <a:xfrm>
                <a:off x="4272219" y="3981205"/>
                <a:ext cx="7448506" cy="672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MX" sz="2400" dirty="0"/>
                  <a:t>(0.5)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MX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1.6487</m:t>
                        </m:r>
                      </m:num>
                      <m:den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1121.08</m:t>
                        </m:r>
                      </m:den>
                    </m:f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   =0.00147</m:t>
                    </m:r>
                  </m:oMath>
                </a14:m>
                <a:endParaRPr lang="en-MX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461CC3-F21B-3441-B03F-E47CE8051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219" y="3981205"/>
                <a:ext cx="7448506" cy="672428"/>
              </a:xfrm>
              <a:prstGeom prst="rect">
                <a:avLst/>
              </a:prstGeom>
              <a:blipFill>
                <a:blip r:embed="rId4"/>
                <a:stretch>
                  <a:fillRect l="-1361" b="-925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AD6DE1-39D5-C64E-B966-22429480169D}"/>
                  </a:ext>
                </a:extLst>
              </p:cNvPr>
              <p:cNvSpPr txBox="1"/>
              <p:nvPr/>
            </p:nvSpPr>
            <p:spPr>
              <a:xfrm>
                <a:off x="4354281" y="4845886"/>
                <a:ext cx="7677124" cy="66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MX" sz="2400" dirty="0"/>
                  <a:t>(1)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MX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2.7182</m:t>
                        </m:r>
                      </m:num>
                      <m:den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1121.08</m:t>
                        </m:r>
                      </m:den>
                    </m:f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     =0.00242</m:t>
                    </m:r>
                  </m:oMath>
                </a14:m>
                <a:endParaRPr lang="en-MX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AD6DE1-39D5-C64E-B966-224294801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81" y="4845886"/>
                <a:ext cx="7677124" cy="667555"/>
              </a:xfrm>
              <a:prstGeom prst="rect">
                <a:avLst/>
              </a:prstGeom>
              <a:blipFill>
                <a:blip r:embed="rId5"/>
                <a:stretch>
                  <a:fillRect l="-1155" b="-943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3C41F1-6A0F-B24A-B4E5-F668507E6502}"/>
                  </a:ext>
                </a:extLst>
              </p:cNvPr>
              <p:cNvSpPr txBox="1"/>
              <p:nvPr/>
            </p:nvSpPr>
            <p:spPr>
              <a:xfrm>
                <a:off x="4354281" y="5701698"/>
                <a:ext cx="7489766" cy="668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MX" sz="2400" dirty="0"/>
                  <a:t>(3)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MX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20.0855</m:t>
                        </m:r>
                      </m:num>
                      <m:den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1121.08</m:t>
                        </m:r>
                      </m:den>
                    </m:f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     =0.0179</m:t>
                    </m:r>
                  </m:oMath>
                </a14:m>
                <a:endParaRPr lang="en-MX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3C41F1-6A0F-B24A-B4E5-F668507E6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81" y="5701698"/>
                <a:ext cx="7489766" cy="668388"/>
              </a:xfrm>
              <a:prstGeom prst="rect">
                <a:avLst/>
              </a:prstGeom>
              <a:blipFill>
                <a:blip r:embed="rId6"/>
                <a:stretch>
                  <a:fillRect l="-1184" b="-925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C1D13355-60E8-8B43-BEB1-5FF02A75E5A1}"/>
              </a:ext>
            </a:extLst>
          </p:cNvPr>
          <p:cNvSpPr txBox="1"/>
          <p:nvPr/>
        </p:nvSpPr>
        <p:spPr>
          <a:xfrm>
            <a:off x="7797649" y="487914"/>
            <a:ext cx="3793138" cy="193899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z=[z</a:t>
            </a:r>
            <a:r>
              <a:rPr lang="en-US" sz="2400" baseline="-25000" dirty="0"/>
              <a:t>1</a:t>
            </a:r>
            <a:r>
              <a:rPr lang="en-US" sz="2400" dirty="0"/>
              <a:t>​,z</a:t>
            </a:r>
            <a:r>
              <a:rPr lang="en-US" sz="2400" baseline="-25000" dirty="0"/>
              <a:t>2</a:t>
            </a:r>
            <a:r>
              <a:rPr lang="en-US" sz="2400" dirty="0"/>
              <a:t>​,...,</a:t>
            </a:r>
            <a:r>
              <a:rPr lang="en-US" sz="2400" dirty="0" err="1"/>
              <a:t>z</a:t>
            </a:r>
            <a:r>
              <a:rPr lang="en-US" sz="2400" baseline="-25000" dirty="0" err="1"/>
              <a:t>k</a:t>
            </a:r>
            <a:r>
              <a:rPr lang="en-US" sz="2400" dirty="0"/>
              <a:t>​] are just scores</a:t>
            </a:r>
          </a:p>
          <a:p>
            <a:endParaRPr lang="en-US" sz="2400" dirty="0"/>
          </a:p>
          <a:p>
            <a:r>
              <a:rPr lang="en-US" sz="2400" dirty="0" err="1"/>
              <a:t>Softmax</a:t>
            </a:r>
            <a:r>
              <a:rPr lang="en-US" sz="2400" dirty="0"/>
              <a:t> turns them into:</a:t>
            </a:r>
          </a:p>
          <a:p>
            <a:r>
              <a:rPr lang="en-US" sz="2400" dirty="0" err="1"/>
              <a:t>Y_pred</a:t>
            </a:r>
            <a:r>
              <a:rPr lang="en-US" sz="2400" dirty="0"/>
              <a:t>=[p</a:t>
            </a:r>
            <a:r>
              <a:rPr lang="en-US" sz="2400" baseline="-25000" dirty="0"/>
              <a:t>1</a:t>
            </a:r>
            <a:r>
              <a:rPr lang="en-US" sz="2400" dirty="0"/>
              <a:t>,p</a:t>
            </a:r>
            <a:r>
              <a:rPr lang="en-US" sz="2400" baseline="-25000" dirty="0"/>
              <a:t>2</a:t>
            </a:r>
            <a:r>
              <a:rPr lang="en-US" sz="2400" dirty="0"/>
              <a:t>,...,p</a:t>
            </a:r>
            <a:r>
              <a:rPr lang="en-US" sz="2400" baseline="-25000" dirty="0"/>
              <a:t>k</a:t>
            </a:r>
            <a:r>
              <a:rPr lang="en-US" sz="2400" dirty="0"/>
              <a:t>]</a:t>
            </a:r>
          </a:p>
          <a:p>
            <a:r>
              <a:rPr lang="en-US" sz="2400" dirty="0"/>
              <a:t>k is total number of classes</a:t>
            </a:r>
            <a:endParaRPr lang="en-MX" sz="2400" dirty="0"/>
          </a:p>
        </p:txBody>
      </p:sp>
    </p:spTree>
    <p:extLst>
      <p:ext uri="{BB962C8B-B14F-4D97-AF65-F5344CB8AC3E}">
        <p14:creationId xmlns:p14="http://schemas.microsoft.com/office/powerpoint/2010/main" val="228119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07F1F-E693-204A-8C62-5D4A18EC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MX" sz="5400" b="1" dirty="0"/>
              <a:t>Tanh function 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60AAE-1658-4948-9604-9FE3C4BB2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997132" cy="380635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MX" sz="3600" dirty="0"/>
                  <a:t>f(z)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3600" b="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s-ES" sz="36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36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3600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s-ES" sz="3600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36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36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36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3600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s-ES" sz="3600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3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MX" sz="36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With tanh values centered around 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Better balance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Faster convergence: </a:t>
                </a:r>
              </a:p>
              <a:p>
                <a:pPr marL="800100" lvl="1" indent="-342900"/>
                <a:r>
                  <a:rPr lang="en-US" sz="1800" dirty="0"/>
                  <a:t>Has larger gradients</a:t>
                </a:r>
              </a:p>
              <a:p>
                <a:pPr marL="800100" lvl="1" indent="-342900"/>
                <a:r>
                  <a:rPr lang="en-US" sz="1800" dirty="0"/>
                  <a:t>Learning is more efficient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60AAE-1658-4948-9604-9FE3C4BB2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997132" cy="3806350"/>
              </a:xfrm>
              <a:blipFill>
                <a:blip r:embed="rId2"/>
                <a:stretch>
                  <a:fillRect l="-3544" t="-997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etter Activation functions: (tanh &gt; sigmoid) - MLS Resources -  DeepLearning.AI">
            <a:extLst>
              <a:ext uri="{FF2B5EF4-FFF2-40B4-BE49-F238E27FC236}">
                <a16:creationId xmlns:a16="http://schemas.microsoft.com/office/drawing/2014/main" id="{405FB524-3827-2E4B-BE4A-B2EC2E36F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634364"/>
            <a:ext cx="5458968" cy="358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836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B1CC-7957-D040-B139-D8D90572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91" y="249568"/>
            <a:ext cx="10515600" cy="1325563"/>
          </a:xfrm>
        </p:spPr>
        <p:txBody>
          <a:bodyPr/>
          <a:lstStyle/>
          <a:p>
            <a:r>
              <a:rPr lang="en-MX" b="1" dirty="0"/>
              <a:t>ReLU (Rectified Linear Unit)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6EA06-0864-8B4F-B48B-A6EDCB98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34" y="2513934"/>
            <a:ext cx="37961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f(z)=max(0,z) </a:t>
            </a:r>
            <a:r>
              <a:rPr lang="en-US" sz="3400" dirty="0">
                <a:sym typeface="Wingdings" pitchFamily="2" charset="2"/>
              </a:rPr>
              <a:t></a:t>
            </a:r>
            <a:r>
              <a:rPr lang="en-US" sz="3400" dirty="0"/>
              <a:t> </a:t>
            </a:r>
          </a:p>
          <a:p>
            <a:pPr marL="0" indent="0">
              <a:buNone/>
            </a:pPr>
            <a:endParaRPr lang="en-MX" sz="2800" dirty="0"/>
          </a:p>
          <a:p>
            <a:pPr marL="0" indent="0">
              <a:buNone/>
            </a:pPr>
            <a:endParaRPr lang="en-MX" dirty="0"/>
          </a:p>
          <a:p>
            <a:pPr marL="0" indent="0">
              <a:buNone/>
            </a:pPr>
            <a:r>
              <a:rPr lang="en-MX" sz="2800" dirty="0"/>
              <a:t> </a:t>
            </a:r>
            <a:r>
              <a:rPr lang="en-US" sz="2200" dirty="0"/>
              <a:t>Examples: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/>
              <a:t>ReLU</a:t>
            </a:r>
            <a:r>
              <a:rPr lang="en-US" sz="2200" dirty="0"/>
              <a:t>(5) = 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/>
              <a:t>ReLU</a:t>
            </a:r>
            <a:r>
              <a:rPr lang="en-US" sz="2200" dirty="0"/>
              <a:t>(−3) = 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/>
              <a:t>ReLU</a:t>
            </a:r>
            <a:r>
              <a:rPr lang="en-US" sz="2200" dirty="0"/>
              <a:t>(0) = 0</a:t>
            </a:r>
          </a:p>
          <a:p>
            <a:pPr marL="0" indent="0">
              <a:buNone/>
            </a:pPr>
            <a:endParaRPr lang="en-MX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3EC3B-938B-8444-8F42-E1AE05770886}"/>
              </a:ext>
            </a:extLst>
          </p:cNvPr>
          <p:cNvSpPr txBox="1"/>
          <p:nvPr/>
        </p:nvSpPr>
        <p:spPr>
          <a:xfrm>
            <a:off x="2937246" y="2228671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If x &gt; 0 → output = z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If x ≤ 0 → output = 0 </a:t>
            </a:r>
          </a:p>
        </p:txBody>
      </p:sp>
      <p:pic>
        <p:nvPicPr>
          <p:cNvPr id="3074" name="Picture 2" descr="Why is ReLU a Non-Linear Activation Function?">
            <a:extLst>
              <a:ext uri="{FF2B5EF4-FFF2-40B4-BE49-F238E27FC236}">
                <a16:creationId xmlns:a16="http://schemas.microsoft.com/office/drawing/2014/main" id="{BDF86D63-2706-814F-9BD2-439A637FCD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18438" r="6996" b="6228"/>
          <a:stretch/>
        </p:blipFill>
        <p:spPr bwMode="auto">
          <a:xfrm>
            <a:off x="6407095" y="2815352"/>
            <a:ext cx="5291171" cy="286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C8C331-7F84-1C45-845D-9DCF2D128995}"/>
              </a:ext>
            </a:extLst>
          </p:cNvPr>
          <p:cNvSpPr txBox="1"/>
          <p:nvPr/>
        </p:nvSpPr>
        <p:spPr>
          <a:xfrm>
            <a:off x="7511842" y="5681188"/>
            <a:ext cx="304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2400" dirty="0"/>
              <a:t>Piece wise linear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C2F79-6F3F-304C-8521-5FE2564F6428}"/>
              </a:ext>
            </a:extLst>
          </p:cNvPr>
          <p:cNvSpPr txBox="1"/>
          <p:nvPr/>
        </p:nvSpPr>
        <p:spPr>
          <a:xfrm>
            <a:off x="477591" y="1586900"/>
            <a:ext cx="5726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It passes positive values and block negative ones</a:t>
            </a:r>
            <a:endParaRPr lang="en-MX" sz="2200" dirty="0"/>
          </a:p>
        </p:txBody>
      </p:sp>
    </p:spTree>
    <p:extLst>
      <p:ext uri="{BB962C8B-B14F-4D97-AF65-F5344CB8AC3E}">
        <p14:creationId xmlns:p14="http://schemas.microsoft.com/office/powerpoint/2010/main" val="3938925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84AE2-113A-2245-B52C-B38E7826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83" y="193329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Vanishing gradient problem</a:t>
            </a:r>
            <a:endParaRPr lang="en-MX" sz="4800" dirty="0"/>
          </a:p>
        </p:txBody>
      </p:sp>
      <p:sp>
        <p:nvSpPr>
          <p:cNvPr id="2062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elu_sigmoid_tanh-gradient">
            <a:extLst>
              <a:ext uri="{FF2B5EF4-FFF2-40B4-BE49-F238E27FC236}">
                <a16:creationId xmlns:a16="http://schemas.microsoft.com/office/drawing/2014/main" id="{42C5B377-BB90-2140-A931-05024D1F6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1242" y="2984302"/>
            <a:ext cx="5150277" cy="271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DDEB4-6287-5D46-AB42-2E9C7F2027A5}"/>
              </a:ext>
            </a:extLst>
          </p:cNvPr>
          <p:cNvSpPr txBox="1"/>
          <p:nvPr/>
        </p:nvSpPr>
        <p:spPr>
          <a:xfrm>
            <a:off x="375813" y="2767413"/>
            <a:ext cx="604932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It occurs when gradients become very small during backpropagation, causing slow or no learning, especially in deep neural networks.</a:t>
            </a:r>
          </a:p>
          <a:p>
            <a:pPr algn="just"/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Gradients move backward through many layers.</a:t>
            </a:r>
          </a:p>
          <a:p>
            <a:pPr algn="just"/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Gradients become smaller, making it difficult for deep networks to learn complex patterns.</a:t>
            </a:r>
          </a:p>
          <a:p>
            <a:pPr algn="just"/>
            <a:endParaRPr lang="en-MX" sz="2200" dirty="0"/>
          </a:p>
        </p:txBody>
      </p:sp>
    </p:spTree>
    <p:extLst>
      <p:ext uri="{BB962C8B-B14F-4D97-AF65-F5344CB8AC3E}">
        <p14:creationId xmlns:p14="http://schemas.microsoft.com/office/powerpoint/2010/main" val="107221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5D223-BDA0-BB46-9879-A248875E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20" y="234143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MX" sz="4800" b="1" dirty="0"/>
              <a:t>Sigmoid </a:t>
            </a:r>
            <a:r>
              <a:rPr lang="en-US" sz="4800" b="1" dirty="0"/>
              <a:t>d</a:t>
            </a:r>
            <a:r>
              <a:rPr lang="en-MX" sz="4800" b="1" dirty="0"/>
              <a:t>erivative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0C7878-345A-FE47-907A-1C58BC150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919" y="2436452"/>
                <a:ext cx="4530898" cy="1459570"/>
              </a:xfrm>
            </p:spPr>
            <p:txBody>
              <a:bodyPr anchor="ctr">
                <a:normAutofit/>
              </a:bodyPr>
              <a:lstStyle/>
              <a:p>
                <a:r>
                  <a:rPr lang="es-MX" sz="2000" dirty="0"/>
                  <a:t>Sigmoid </a:t>
                </a:r>
                <a:r>
                  <a:rPr lang="es-MX" sz="2000" dirty="0">
                    <a:sym typeface="Wingdings" pitchFamily="2" charset="2"/>
                  </a:rPr>
                  <a:t> </a:t>
                </a:r>
                <a:r>
                  <a:rPr lang="es-MX" sz="2000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MX" sz="20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sz="2000" b="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MX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2000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MX" sz="2000" dirty="0"/>
              </a:p>
              <a:p>
                <a:endParaRPr lang="en-US" sz="2000" dirty="0"/>
              </a:p>
              <a:p>
                <a:r>
                  <a:rPr lang="en-US" sz="2000" dirty="0"/>
                  <a:t>D</a:t>
                </a:r>
                <a:r>
                  <a:rPr lang="en-MX" sz="2000" dirty="0"/>
                  <a:t>erivative </a:t>
                </a:r>
                <a:r>
                  <a:rPr lang="en-MX" sz="2000" dirty="0">
                    <a:sym typeface="Wingdings" pitchFamily="2" charset="2"/>
                  </a:rPr>
                  <a:t></a:t>
                </a:r>
                <a:r>
                  <a:rPr lang="en-MX" sz="2000" dirty="0"/>
                  <a:t> </a:t>
                </a:r>
                <a:r>
                  <a:rPr lang="en-US" sz="2000" dirty="0"/>
                  <a:t>f′</a:t>
                </a:r>
                <a:r>
                  <a:rPr lang="en-MX" sz="2000" dirty="0"/>
                  <a:t>(z) = </a:t>
                </a:r>
                <a:r>
                  <a:rPr lang="es-MX" sz="2000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sz="2000" b="0" i="1">
                        <a:latin typeface="Cambria Math" panose="02040503050406030204" pitchFamily="18" charset="0"/>
                      </a:rPr>
                      <m:t>.  (1−</m:t>
                    </m:r>
                    <m:r>
                      <m:rPr>
                        <m:nor/>
                      </m:rPr>
                      <a:rPr lang="es-MX" sz="2000"/>
                      <m:t>f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X" sz="2000" dirty="0"/>
              </a:p>
              <a:p>
                <a:pPr marL="0" indent="0">
                  <a:buNone/>
                </a:pPr>
                <a:endParaRPr lang="en-MX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0C7878-345A-FE47-907A-1C58BC150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919" y="2436452"/>
                <a:ext cx="4530898" cy="1459570"/>
              </a:xfrm>
              <a:blipFill>
                <a:blip r:embed="rId2"/>
                <a:stretch>
                  <a:fillRect l="-1120" t="-869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Vanishing Gradient Problem | Kaggle">
            <a:extLst>
              <a:ext uri="{FF2B5EF4-FFF2-40B4-BE49-F238E27FC236}">
                <a16:creationId xmlns:a16="http://schemas.microsoft.com/office/drawing/2014/main" id="{7892EC81-982E-0D4B-B527-F93B839A2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559" y="2673917"/>
            <a:ext cx="5995332" cy="332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A1BCF-D2B1-EF47-955F-1ADDAD2A0F93}"/>
              </a:ext>
            </a:extLst>
          </p:cNvPr>
          <p:cNvSpPr txBox="1"/>
          <p:nvPr/>
        </p:nvSpPr>
        <p:spPr>
          <a:xfrm>
            <a:off x="496919" y="3896022"/>
            <a:ext cx="45308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maximum derivative of sigmoid is 0.25 this happens at z=0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For very large positive or negative values of z, the derivative becomes close to 0, that  contributes to the vanishing gradient problem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650761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19C2-2A28-BE45-A814-1B11D876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20" y="15329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Tanh d</a:t>
            </a:r>
            <a:r>
              <a:rPr lang="en-MX" sz="4800" b="1" dirty="0"/>
              <a:t>erivative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9C90F-7AEC-2049-8DC9-4A0015BF5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367398"/>
                <a:ext cx="8775342" cy="3871561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MX" sz="2000" dirty="0">
                    <a:sym typeface="Wingdings" pitchFamily="2" charset="2"/>
                  </a:rPr>
                  <a:t>Tanh </a:t>
                </a:r>
                <a:r>
                  <a:rPr lang="en-MX" sz="2000" dirty="0"/>
                  <a:t>f(z)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s-ES" sz="20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000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000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MX" sz="2000" dirty="0"/>
              </a:p>
              <a:p>
                <a:pPr marL="0" indent="0">
                  <a:buNone/>
                </a:pPr>
                <a:r>
                  <a:rPr lang="en-US" sz="2000" dirty="0"/>
                  <a:t>D</a:t>
                </a:r>
                <a:r>
                  <a:rPr lang="en-MX" sz="2000" dirty="0"/>
                  <a:t>erivative </a:t>
                </a:r>
                <a:r>
                  <a:rPr lang="en-MX" sz="2000" dirty="0">
                    <a:sym typeface="Wingdings" pitchFamily="2" charset="2"/>
                  </a:rPr>
                  <a:t></a:t>
                </a:r>
                <a:r>
                  <a:rPr lang="en-MX" sz="2000" dirty="0"/>
                  <a:t> </a:t>
                </a:r>
                <a:r>
                  <a:rPr lang="en-US" sz="2000" dirty="0"/>
                  <a:t>f′</a:t>
                </a:r>
                <a:r>
                  <a:rPr lang="en-MX" sz="2000" dirty="0"/>
                  <a:t>(z) = 1 - (f(z))</a:t>
                </a:r>
                <a:r>
                  <a:rPr lang="en-MX" sz="2000" baseline="30000" dirty="0"/>
                  <a:t>2</a:t>
                </a:r>
                <a:r>
                  <a:rPr lang="en-MX" sz="2000" dirty="0"/>
                  <a:t> </a:t>
                </a:r>
              </a:p>
              <a:p>
                <a:pPr marL="0" indent="0">
                  <a:buNone/>
                </a:pPr>
                <a:endParaRPr lang="en-MX" sz="2000" dirty="0"/>
              </a:p>
              <a:p>
                <a:r>
                  <a:rPr lang="en-US" sz="2000" dirty="0"/>
                  <a:t>The maximum of the D</a:t>
                </a:r>
                <a:r>
                  <a:rPr lang="en-MX" sz="2000" dirty="0"/>
                  <a:t>erivative  is 1. </a:t>
                </a:r>
              </a:p>
              <a:p>
                <a:r>
                  <a:rPr lang="en-MX" sz="2000" dirty="0"/>
                  <a:t>O</a:t>
                </a:r>
                <a:r>
                  <a:rPr lang="en-US" sz="2000" dirty="0" err="1"/>
                  <a:t>ccurs</a:t>
                </a:r>
                <a:r>
                  <a:rPr lang="en-US" sz="2000" dirty="0"/>
                  <a:t> when f(z)=0</a:t>
                </a:r>
              </a:p>
              <a:p>
                <a:r>
                  <a:rPr lang="en-US" sz="2000" dirty="0"/>
                  <a:t>Happens at: z=0,  then: f′(0)=1−0</a:t>
                </a:r>
                <a:r>
                  <a:rPr lang="en-US" sz="2000" baseline="30000" dirty="0"/>
                  <a:t>2</a:t>
                </a:r>
              </a:p>
              <a:p>
                <a:r>
                  <a:rPr lang="en-US" sz="2000" dirty="0"/>
                  <a:t>Tanh has larger gradients, which helps learning happen faster than sigmoid</a:t>
                </a:r>
                <a:endParaRPr lang="en-MX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9C90F-7AEC-2049-8DC9-4A0015BF5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367398"/>
                <a:ext cx="8775342" cy="3871561"/>
              </a:xfrm>
              <a:blipFill>
                <a:blip r:embed="rId2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ctivation Functions -Part 2. 3. Tanh: It is very similar to sigmoid… | by  Balaji C | Medium">
            <a:extLst>
              <a:ext uri="{FF2B5EF4-FFF2-40B4-BE49-F238E27FC236}">
                <a16:creationId xmlns:a16="http://schemas.microsoft.com/office/drawing/2014/main" id="{36984DDC-8EE9-8846-84C7-991F54611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6941" y="2212850"/>
            <a:ext cx="5528840" cy="318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12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E1DB-B182-A446-A6D5-CFD1C4591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6446" y="280693"/>
            <a:ext cx="4339107" cy="874485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MX" b="1" dirty="0"/>
              <a:t>ReLU </a:t>
            </a:r>
            <a:r>
              <a:rPr lang="en-US" b="1" dirty="0"/>
              <a:t>d</a:t>
            </a:r>
            <a:r>
              <a:rPr lang="en-MX" sz="4400" b="1" dirty="0"/>
              <a:t>erivative</a:t>
            </a:r>
            <a:r>
              <a:rPr lang="en-MX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7392-ACC8-BE41-B62B-85667BC9B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2095" cy="4351338"/>
          </a:xfrm>
        </p:spPr>
        <p:txBody>
          <a:bodyPr/>
          <a:lstStyle/>
          <a:p>
            <a:pPr marL="12700" lvl="2" indent="0">
              <a:buNone/>
            </a:pPr>
            <a:r>
              <a:rPr lang="en-MX" sz="2800" dirty="0"/>
              <a:t>ReLU</a:t>
            </a:r>
            <a:r>
              <a:rPr lang="en-MX" sz="5400" dirty="0"/>
              <a:t> </a:t>
            </a:r>
            <a:r>
              <a:rPr lang="en-US" sz="2800" dirty="0"/>
              <a:t>f(z)=max(0,z)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1800" dirty="0"/>
              <a:t> </a:t>
            </a:r>
            <a:endParaRPr lang="en-US" sz="2800" dirty="0">
              <a:latin typeface="Cambria Math" panose="02040503050406030204" pitchFamily="18" charset="0"/>
            </a:endParaRPr>
          </a:p>
          <a:p>
            <a:pPr marL="914400" lvl="2" indent="-287338">
              <a:buNone/>
            </a:pPr>
            <a:endParaRPr lang="en-US" sz="2800" dirty="0">
              <a:latin typeface="Cambria Math" panose="02040503050406030204" pitchFamily="18" charset="0"/>
            </a:endParaRPr>
          </a:p>
          <a:p>
            <a:pPr marL="12700" lvl="2" indent="0">
              <a:buNone/>
            </a:pPr>
            <a:endParaRPr lang="en-US" sz="2800" dirty="0"/>
          </a:p>
          <a:p>
            <a:pPr marL="12700" lvl="2" indent="0">
              <a:buNone/>
            </a:pPr>
            <a:r>
              <a:rPr lang="en-US" sz="2800" dirty="0"/>
              <a:t>D</a:t>
            </a:r>
            <a:r>
              <a:rPr lang="en-MX" sz="2800" dirty="0"/>
              <a:t>erivative:</a:t>
            </a:r>
          </a:p>
          <a:p>
            <a:pPr marL="12700" lvl="2" indent="0">
              <a:buNone/>
            </a:pPr>
            <a:endParaRPr lang="en-US" sz="2800" dirty="0">
              <a:latin typeface="Cambria Math" panose="02040503050406030204" pitchFamily="18" charset="0"/>
            </a:endParaRPr>
          </a:p>
          <a:p>
            <a:pPr marL="914400" lvl="2" indent="-287338">
              <a:buNone/>
            </a:pPr>
            <a:r>
              <a:rPr lang="en-US" sz="2800" dirty="0">
                <a:latin typeface="Cambria Math" panose="02040503050406030204" pitchFamily="18" charset="0"/>
              </a:rPr>
              <a:t>f′(</a:t>
            </a:r>
            <a:r>
              <a:rPr lang="en-US" sz="2800" dirty="0" err="1">
                <a:latin typeface="Cambria Math" panose="02040503050406030204" pitchFamily="18" charset="0"/>
              </a:rPr>
              <a:t>z</a:t>
            </a:r>
            <a:r>
              <a:rPr lang="en-US" sz="2800" baseline="-25000" dirty="0" err="1">
                <a:latin typeface="Cambria Math" panose="02040503050406030204" pitchFamily="18" charset="0"/>
              </a:rPr>
              <a:t>j</a:t>
            </a:r>
            <a:r>
              <a:rPr lang="en-US" sz="2800" dirty="0">
                <a:latin typeface="Cambria Math" panose="02040503050406030204" pitchFamily="18" charset="0"/>
              </a:rPr>
              <a:t>​)= 1</a:t>
            </a:r>
            <a:r>
              <a:rPr lang="en-US" sz="2800" dirty="0"/>
              <a:t> </a:t>
            </a:r>
          </a:p>
          <a:p>
            <a:pPr marL="914400" lvl="2" indent="-287338">
              <a:buNone/>
            </a:pPr>
            <a:r>
              <a:rPr lang="en-US" sz="2800" dirty="0"/>
              <a:t>              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1800" dirty="0"/>
              <a:t> </a:t>
            </a:r>
            <a:endParaRPr lang="en-US" sz="2800" dirty="0">
              <a:latin typeface="Cambria Math" panose="02040503050406030204" pitchFamily="18" charset="0"/>
            </a:endParaRPr>
          </a:p>
          <a:p>
            <a:pPr marL="914400" lvl="2" indent="-287338">
              <a:buNone/>
            </a:pPr>
            <a:r>
              <a:rPr lang="en-US" sz="2800" dirty="0">
                <a:latin typeface="Cambria Math" panose="02040503050406030204" pitchFamily="18" charset="0"/>
              </a:rPr>
              <a:t>f′(</a:t>
            </a:r>
            <a:r>
              <a:rPr lang="en-US" sz="2800" dirty="0" err="1">
                <a:latin typeface="Cambria Math" panose="02040503050406030204" pitchFamily="18" charset="0"/>
              </a:rPr>
              <a:t>z</a:t>
            </a:r>
            <a:r>
              <a:rPr lang="en-US" sz="2800" baseline="-25000" dirty="0" err="1">
                <a:latin typeface="Cambria Math" panose="02040503050406030204" pitchFamily="18" charset="0"/>
              </a:rPr>
              <a:t>j</a:t>
            </a:r>
            <a:r>
              <a:rPr lang="en-US" sz="2800" dirty="0">
                <a:latin typeface="Cambria Math" panose="02040503050406030204" pitchFamily="18" charset="0"/>
              </a:rPr>
              <a:t>​)= 0</a:t>
            </a:r>
            <a:endParaRPr lang="en-US" sz="2800" i="1" dirty="0">
              <a:latin typeface="Cambria Math" panose="02040503050406030204" pitchFamily="18" charset="0"/>
            </a:endParaRPr>
          </a:p>
          <a:p>
            <a:endParaRPr lang="en-MX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C448E-FAE4-6C45-82AE-D1726B9E694B}"/>
              </a:ext>
            </a:extLst>
          </p:cNvPr>
          <p:cNvSpPr txBox="1"/>
          <p:nvPr/>
        </p:nvSpPr>
        <p:spPr>
          <a:xfrm>
            <a:off x="3709142" y="1713130"/>
            <a:ext cx="34773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If x &gt; 0 → output = z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If x ≤ 0 → output = 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7E359-E7AE-864F-A192-FFD4C33C3833}"/>
              </a:ext>
            </a:extLst>
          </p:cNvPr>
          <p:cNvSpPr txBox="1"/>
          <p:nvPr/>
        </p:nvSpPr>
        <p:spPr>
          <a:xfrm>
            <a:off x="3046828" y="4452372"/>
            <a:ext cx="60983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</a:rPr>
              <a:t>if z &gt; 0 </a:t>
            </a:r>
          </a:p>
          <a:p>
            <a:endParaRPr lang="en-US" sz="2800" dirty="0">
              <a:latin typeface="Cambria Math" panose="02040503050406030204" pitchFamily="18" charset="0"/>
            </a:endParaRPr>
          </a:p>
          <a:p>
            <a:r>
              <a:rPr lang="en-US" sz="2800" dirty="0">
                <a:latin typeface="Cambria Math" panose="02040503050406030204" pitchFamily="18" charset="0"/>
              </a:rPr>
              <a:t>if z​ &lt;= 0 </a:t>
            </a:r>
            <a:endParaRPr lang="en-MX" sz="2800" dirty="0">
              <a:latin typeface="Cambria Math" panose="02040503050406030204" pitchFamily="18" charset="0"/>
            </a:endParaRPr>
          </a:p>
        </p:txBody>
      </p:sp>
      <p:pic>
        <p:nvPicPr>
          <p:cNvPr id="4098" name="Picture 2" descr="ReLU activation (red) and derivative (blue) for efficient gradient... |  Download Scientific Diagram">
            <a:extLst>
              <a:ext uri="{FF2B5EF4-FFF2-40B4-BE49-F238E27FC236}">
                <a16:creationId xmlns:a16="http://schemas.microsoft.com/office/drawing/2014/main" id="{62844128-EDD7-0346-A75E-7F1D1012C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254" y="3154878"/>
            <a:ext cx="5457394" cy="33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191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AC1DD-0356-6843-959A-12F0C7E8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sz="5400" b="1" dirty="0"/>
              <a:t>Backpropagation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6C35-C1CC-7240-A5F8-313A5543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77621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Backpropagation calculates how much each weight and bias contributed to the prediction error and then adjust those weights to reduce future errors.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It works by sending the error backward through the network, from output layer to input layer.</a:t>
            </a:r>
          </a:p>
          <a:p>
            <a:pPr algn="just"/>
            <a:endParaRPr lang="en-US" sz="2400" dirty="0"/>
          </a:p>
          <a:p>
            <a:pPr lvl="1" algn="just"/>
            <a:r>
              <a:rPr lang="en-US" sz="2000" dirty="0"/>
              <a:t>Moves backward through the network </a:t>
            </a:r>
          </a:p>
          <a:p>
            <a:pPr lvl="1" algn="just"/>
            <a:r>
              <a:rPr lang="en-US" sz="2000" dirty="0"/>
              <a:t>Measures each layer’s responsibility for the error </a:t>
            </a:r>
          </a:p>
          <a:p>
            <a:pPr lvl="1" algn="just"/>
            <a:r>
              <a:rPr lang="en-US" sz="2000" dirty="0"/>
              <a:t>Calculates how to adjust weights and </a:t>
            </a:r>
            <a:r>
              <a:rPr lang="en-US" sz="2000" dirty="0" err="1"/>
              <a:t>bais</a:t>
            </a:r>
            <a:r>
              <a:rPr lang="en-US" sz="2000" dirty="0"/>
              <a:t> to reduce it </a:t>
            </a:r>
          </a:p>
        </p:txBody>
      </p:sp>
    </p:spTree>
    <p:extLst>
      <p:ext uri="{BB962C8B-B14F-4D97-AF65-F5344CB8AC3E}">
        <p14:creationId xmlns:p14="http://schemas.microsoft.com/office/powerpoint/2010/main" val="111572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7B879-90C4-B44E-90C0-C9A40E4E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sz="5400" b="1" dirty="0"/>
              <a:t>Cost function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EAFADC-B0DD-7242-87DF-CB06F98D5421}"/>
                  </a:ext>
                </a:extLst>
              </p:cNvPr>
              <p:cNvSpPr txBox="1"/>
              <p:nvPr/>
            </p:nvSpPr>
            <p:spPr>
              <a:xfrm>
                <a:off x="419700" y="2055813"/>
                <a:ext cx="7040341" cy="4709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MX" dirty="0"/>
                  <a:t>Regression</a:t>
                </a:r>
              </a:p>
              <a:p>
                <a:pPr lvl="1"/>
                <a:r>
                  <a:rPr lang="en-MX" dirty="0"/>
                  <a:t>	Error(Loss) = |a</a:t>
                </a:r>
                <a:r>
                  <a:rPr lang="en-MX" baseline="-25000" dirty="0"/>
                  <a:t>i </a:t>
                </a:r>
                <a:r>
                  <a:rPr lang="en-MX" dirty="0"/>
                  <a:t>– y</a:t>
                </a:r>
                <a:r>
                  <a:rPr lang="en-MX" baseline="-25000" dirty="0"/>
                  <a:t>i</a:t>
                </a:r>
                <a:r>
                  <a:rPr lang="en-MX" dirty="0"/>
                  <a:t>|         </a:t>
                </a:r>
                <a:r>
                  <a:rPr lang="en-MX" dirty="0">
                    <a:sym typeface="Wingdings" pitchFamily="2" charset="2"/>
                  </a:rPr>
                  <a:t> for </a:t>
                </a:r>
                <a:r>
                  <a:rPr lang="en-US" dirty="0" err="1">
                    <a:sym typeface="Wingdings" pitchFamily="2" charset="2"/>
                  </a:rPr>
                  <a:t>i</a:t>
                </a:r>
                <a:r>
                  <a:rPr lang="en-US" dirty="0">
                    <a:sym typeface="Wingdings" pitchFamily="2" charset="2"/>
                  </a:rPr>
                  <a:t> observation</a:t>
                </a:r>
                <a:endParaRPr lang="en-MX" dirty="0"/>
              </a:p>
              <a:p>
                <a:pPr lvl="1"/>
                <a:r>
                  <a:rPr lang="en-MX" dirty="0"/>
                  <a:t>	Cost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nor/>
                          </m:rPr>
                          <a:rPr lang="en-MX" dirty="0"/>
                          <m:t>|</m:t>
                        </m:r>
                        <m:r>
                          <m:rPr>
                            <m:nor/>
                          </m:rPr>
                          <a:rPr lang="en-MX" dirty="0"/>
                          <m:t>ai</m:t>
                        </m:r>
                        <m:r>
                          <m:rPr>
                            <m:nor/>
                          </m:rPr>
                          <a:rPr lang="en-MX" baseline="-25000" dirty="0"/>
                          <m:t> – </m:t>
                        </m:r>
                        <m:r>
                          <m:rPr>
                            <m:nor/>
                          </m:rPr>
                          <a:rPr lang="en-MX" dirty="0"/>
                          <m:t>yi</m:t>
                        </m:r>
                        <m:r>
                          <m:rPr>
                            <m:nor/>
                          </m:rPr>
                          <a:rPr lang="en-MX" dirty="0"/>
                          <m:t>|</m:t>
                        </m:r>
                        <m:r>
                          <m:rPr>
                            <m:nor/>
                          </m:rPr>
                          <a:rPr lang="es-ES" b="0" i="0" dirty="0" smtClean="0"/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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𝑀𝑒𝑎𝑛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𝐴𝑏𝑠𝑜𝑙𝑢𝑡𝑒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𝐸𝑟𝑟𝑜𝑟</m:t>
                        </m:r>
                        <m:r>
                          <m:rPr>
                            <m:nor/>
                          </m:rPr>
                          <a:rPr lang="en-MX" dirty="0"/>
                          <m:t> </m:t>
                        </m:r>
                      </m:e>
                    </m:nary>
                  </m:oMath>
                </a14:m>
                <a:endParaRPr lang="en-MX" dirty="0"/>
              </a:p>
              <a:p>
                <a:pPr lvl="1"/>
                <a:r>
                  <a:rPr lang="en-MX" dirty="0"/>
                  <a:t>	Cost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s-E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MX" dirty="0"/>
                              <m:t>ai</m:t>
                            </m:r>
                            <m:r>
                              <m:rPr>
                                <m:nor/>
                              </m:rPr>
                              <a:rPr lang="en-MX" baseline="-25000" dirty="0"/>
                              <m:t> – </m:t>
                            </m:r>
                            <m:r>
                              <m:rPr>
                                <m:nor/>
                              </m:rPr>
                              <a:rPr lang="en-MX" dirty="0"/>
                              <m:t>yi</m:t>
                            </m:r>
                            <m:r>
                              <m:rPr>
                                <m:nor/>
                              </m:rPr>
                              <a:rPr lang="es-ES" dirty="0"/>
                              <m:t>)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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𝑀𝑒𝑎𝑛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𝑆𝑞𝑢𝑎𝑟𝑒𝑑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𝐸𝑟𝑟𝑜𝑟</m:t>
                        </m:r>
                        <m:r>
                          <m:rPr>
                            <m:nor/>
                          </m:rPr>
                          <a:rPr lang="en-MX" dirty="0"/>
                          <m:t> </m:t>
                        </m:r>
                      </m:e>
                    </m:nary>
                  </m:oMath>
                </a14:m>
                <a:endParaRPr lang="en-MX" dirty="0"/>
              </a:p>
              <a:p>
                <a:pPr lvl="1"/>
                <a:endParaRPr lang="en-MX" dirty="0"/>
              </a:p>
              <a:p>
                <a:pPr lvl="1"/>
                <a:endParaRPr lang="en-MX" dirty="0"/>
              </a:p>
              <a:p>
                <a:pPr lvl="1"/>
                <a:r>
                  <a:rPr lang="en-MX" dirty="0"/>
                  <a:t>Binary classicication </a:t>
                </a:r>
              </a:p>
              <a:p>
                <a:pPr lvl="1"/>
                <a:r>
                  <a:rPr lang="en-MX" dirty="0"/>
                  <a:t>	Error </a:t>
                </a:r>
                <a:r>
                  <a:rPr lang="en-MX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s-MX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MX" dirty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MX" baseline="-25000" dirty="0">
                        <a:latin typeface="Cambria Math" panose="02040503050406030204" pitchFamily="18" charset="0"/>
                      </a:rPr>
                      <m:t>i</m:t>
                    </m:r>
                    <m:r>
                      <a:rPr lang="es-ES" i="0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r>
                      <a:rPr lang="es-MX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s-ES" i="0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m:rPr>
                        <m:sty m:val="p"/>
                      </m:rPr>
                      <a:rPr lang="es-MX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MX" i="0">
                        <a:latin typeface="Cambria Math" panose="02040503050406030204" pitchFamily="18" charset="0"/>
                      </a:rPr>
                      <m:t>⁡(1−</m:t>
                    </m:r>
                  </m:oMath>
                </a14:m>
                <a:r>
                  <a:rPr lang="en-MX" dirty="0">
                    <a:latin typeface="Cambria Math" panose="02040503050406030204" pitchFamily="18" charset="0"/>
                  </a:rPr>
                  <a:t> a</a:t>
                </a:r>
                <a:r>
                  <a:rPr lang="en-MX" baseline="-25000" dirty="0">
                    <a:latin typeface="Cambria Math" panose="02040503050406030204" pitchFamily="18" charset="0"/>
                  </a:rPr>
                  <a:t>i</a:t>
                </a:r>
                <a:r>
                  <a:rPr lang="es-MX" dirty="0">
                    <a:latin typeface="Cambria Math" panose="02040503050406030204" pitchFamily="18" charset="0"/>
                  </a:rPr>
                  <a:t>)]</a:t>
                </a:r>
              </a:p>
              <a:p>
                <a:pPr lvl="1"/>
                <a:r>
                  <a:rPr lang="es-MX" dirty="0"/>
                  <a:t>	Cost =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MX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s-ES" baseline="-25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MX" dirty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MX" baseline="-250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d>
                        <m:r>
                          <a:rPr lang="es-MX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nor/>
                              </m:rPr>
                              <a:rPr lang="en-MX" dirty="0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MX" baseline="-250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s-E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s-MX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s-MX">
                            <a:latin typeface="Cambria Math" panose="02040503050406030204" pitchFamily="18" charset="0"/>
                          </a:rPr>
                          <m:t>⁡(1−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ai</m:t>
                        </m:r>
                        <m:r>
                          <m:rPr>
                            <m:nor/>
                          </m:rPr>
                          <a:rPr lang="es-MX" dirty="0">
                            <a:latin typeface="Cambria Math" panose="02040503050406030204" pitchFamily="18" charset="0"/>
                          </a:rPr>
                          <m:t>)] </m:t>
                        </m:r>
                      </m:e>
                    </m:nary>
                  </m:oMath>
                </a14:m>
                <a:endParaRPr lang="es-MX" dirty="0"/>
              </a:p>
              <a:p>
                <a:pPr lvl="1"/>
                <a:endParaRPr lang="en-MX" dirty="0"/>
              </a:p>
              <a:p>
                <a:pPr lvl="1"/>
                <a:endParaRPr lang="en-MX" dirty="0"/>
              </a:p>
              <a:p>
                <a:pPr lvl="1"/>
                <a:r>
                  <a:rPr lang="en-MX" dirty="0"/>
                  <a:t>Multi-class classifiction</a:t>
                </a:r>
              </a:p>
              <a:p>
                <a:pPr lvl="2"/>
                <a:r>
                  <a:rPr lang="en-MX" dirty="0"/>
                  <a:t>Error = -log(a</a:t>
                </a:r>
                <a:r>
                  <a:rPr lang="en-MX" baseline="-25000" dirty="0"/>
                  <a:t>i</a:t>
                </a:r>
                <a:r>
                  <a:rPr lang="en-MX" dirty="0"/>
                  <a:t>)</a:t>
                </a:r>
              </a:p>
              <a:p>
                <a:pPr lvl="2"/>
                <a:r>
                  <a:rPr lang="en-MX" dirty="0"/>
                  <a:t>Cost = </a:t>
                </a:r>
                <a14:m>
                  <m:oMath xmlns:m="http://schemas.openxmlformats.org/officeDocument/2006/math">
                    <m:r>
                      <a:rPr lang="es-MX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MX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X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s-ES" b="0" i="0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aseline="-25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MX" dirty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MX" baseline="-250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s-ES" b="0" i="0" baseline="-2500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ES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s-ES" b="0" i="0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s-MX" b="0" i="1" baseline="-25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MX" dirty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MX" baseline="-25000" dirty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s-ES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m:rPr>
                            <m:nor/>
                          </m:rPr>
                          <a:rPr lang="en-MX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MX" baseline="-2500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s-ES" b="0" i="1" baseline="-25000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s-MX" i="1" baseline="-25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MX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MX" dirty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MX" baseline="-25000" dirty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s-ES" b="0" i="1" baseline="-25000" dirty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nor/>
                          </m:rPr>
                          <a:rPr lang="es-MX" dirty="0">
                            <a:latin typeface="Cambria Math" panose="02040503050406030204" pitchFamily="18" charset="0"/>
                          </a:rPr>
                          <m:t>] </m:t>
                        </m:r>
                      </m:e>
                    </m:nary>
                  </m:oMath>
                </a14:m>
                <a:endParaRPr lang="en-MX" dirty="0"/>
              </a:p>
              <a:p>
                <a:endParaRPr lang="en-MX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EAFADC-B0DD-7242-87DF-CB06F98D5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00" y="2055813"/>
                <a:ext cx="7040341" cy="4709751"/>
              </a:xfrm>
              <a:prstGeom prst="rect">
                <a:avLst/>
              </a:prstGeom>
              <a:blipFill>
                <a:blip r:embed="rId2"/>
                <a:stretch>
                  <a:fillRect t="-538" b="-537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DCF7C-C961-5048-ABD7-A2D9914BA8B6}"/>
                  </a:ext>
                </a:extLst>
              </p:cNvPr>
              <p:cNvSpPr txBox="1"/>
              <p:nvPr/>
            </p:nvSpPr>
            <p:spPr>
              <a:xfrm>
                <a:off x="8459679" y="2422114"/>
                <a:ext cx="24697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X" sz="1600" dirty="0"/>
                  <a:t>a</a:t>
                </a:r>
                <a:r>
                  <a:rPr lang="en-MX" sz="1600" baseline="-25000" dirty="0"/>
                  <a:t>i </a:t>
                </a:r>
                <a:r>
                  <a:rPr lang="en-MX" sz="1600" dirty="0"/>
                  <a:t> </a:t>
                </a:r>
                <a:r>
                  <a:rPr lang="en-MX" sz="1600" dirty="0">
                    <a:sym typeface="Wingdings" pitchFamily="2" charset="2"/>
                  </a:rPr>
                  <a:t>= y_pred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MX" sz="1600" baseline="-25000" dirty="0" smtClean="0"/>
                      <m:t>i</m:t>
                    </m:r>
                  </m:oMath>
                </a14:m>
                <a:r>
                  <a:rPr lang="en-MX" sz="1600" dirty="0">
                    <a:sym typeface="Wingdings" pitchFamily="2" charset="2"/>
                  </a:rPr>
                  <a:t>= y_actual</a:t>
                </a:r>
              </a:p>
              <a:p>
                <a:r>
                  <a:rPr lang="en-MX" sz="1600" dirty="0">
                    <a:sym typeface="Wingdings" pitchFamily="2" charset="2"/>
                  </a:rPr>
                  <a:t>M = number of observation</a:t>
                </a:r>
                <a:endParaRPr lang="en-MX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2DCF7C-C961-5048-ABD7-A2D9914BA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79" y="2422114"/>
                <a:ext cx="2469715" cy="830997"/>
              </a:xfrm>
              <a:prstGeom prst="rect">
                <a:avLst/>
              </a:prstGeom>
              <a:blipFill>
                <a:blip r:embed="rId3"/>
                <a:stretch>
                  <a:fillRect l="-1538" t="-1493" r="-513" b="-746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49527FA-5293-9F48-B4CA-13D6F50D61E7}"/>
              </a:ext>
            </a:extLst>
          </p:cNvPr>
          <p:cNvSpPr txBox="1"/>
          <p:nvPr/>
        </p:nvSpPr>
        <p:spPr>
          <a:xfrm>
            <a:off x="7463816" y="2628043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>
                <a:sym typeface="Wingdings" pitchFamily="2" charset="2"/>
              </a:rPr>
              <a:t></a:t>
            </a:r>
            <a:endParaRPr lang="en-MX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0BF190-3872-B846-B8D4-82CDBCB74DEB}"/>
              </a:ext>
            </a:extLst>
          </p:cNvPr>
          <p:cNvSpPr txBox="1"/>
          <p:nvPr/>
        </p:nvSpPr>
        <p:spPr>
          <a:xfrm>
            <a:off x="7460041" y="4206114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>
                <a:sym typeface="Wingdings" pitchFamily="2" charset="2"/>
              </a:rPr>
              <a:t></a:t>
            </a:r>
            <a:endParaRPr lang="en-MX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ABC536-BCB4-D84C-B66A-203ACE2C9055}"/>
                  </a:ext>
                </a:extLst>
              </p:cNvPr>
              <p:cNvSpPr txBox="1"/>
              <p:nvPr/>
            </p:nvSpPr>
            <p:spPr>
              <a:xfrm>
                <a:off x="8459679" y="3982902"/>
                <a:ext cx="24697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X" sz="1600" dirty="0"/>
                  <a:t>a</a:t>
                </a:r>
                <a:r>
                  <a:rPr lang="en-MX" sz="1600" baseline="-25000" dirty="0"/>
                  <a:t>i </a:t>
                </a:r>
                <a:r>
                  <a:rPr lang="en-MX" sz="1600" dirty="0"/>
                  <a:t> </a:t>
                </a:r>
                <a:r>
                  <a:rPr lang="en-MX" sz="1600" dirty="0">
                    <a:sym typeface="Wingdings" pitchFamily="2" charset="2"/>
                  </a:rPr>
                  <a:t>= y_pred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MX" sz="1600" baseline="-25000" dirty="0" smtClean="0"/>
                      <m:t>i</m:t>
                    </m:r>
                  </m:oMath>
                </a14:m>
                <a:r>
                  <a:rPr lang="en-MX" sz="1600" dirty="0">
                    <a:sym typeface="Wingdings" pitchFamily="2" charset="2"/>
                  </a:rPr>
                  <a:t>= y_actual</a:t>
                </a:r>
              </a:p>
              <a:p>
                <a:r>
                  <a:rPr lang="en-MX" sz="1600" dirty="0">
                    <a:sym typeface="Wingdings" pitchFamily="2" charset="2"/>
                  </a:rPr>
                  <a:t>M = number of observation</a:t>
                </a:r>
                <a:endParaRPr lang="en-MX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ABC536-BCB4-D84C-B66A-203ACE2C9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679" y="3982902"/>
                <a:ext cx="2469715" cy="830997"/>
              </a:xfrm>
              <a:prstGeom prst="rect">
                <a:avLst/>
              </a:prstGeom>
              <a:blipFill>
                <a:blip r:embed="rId4"/>
                <a:stretch>
                  <a:fillRect l="-1538" t="-1493" r="-513" b="-5970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EDCC23D-9834-B240-979D-29AFC7822A93}"/>
              </a:ext>
            </a:extLst>
          </p:cNvPr>
          <p:cNvSpPr txBox="1"/>
          <p:nvPr/>
        </p:nvSpPr>
        <p:spPr>
          <a:xfrm>
            <a:off x="7460041" y="5632266"/>
            <a:ext cx="535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>
                <a:sym typeface="Wingdings" pitchFamily="2" charset="2"/>
              </a:rPr>
              <a:t></a:t>
            </a:r>
            <a:endParaRPr lang="en-MX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D57D29-3140-094D-83E7-61C78D6618C0}"/>
              </a:ext>
            </a:extLst>
          </p:cNvPr>
          <p:cNvSpPr txBox="1"/>
          <p:nvPr/>
        </p:nvSpPr>
        <p:spPr>
          <a:xfrm>
            <a:off x="8258597" y="5478377"/>
            <a:ext cx="3341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600" dirty="0"/>
              <a:t>a</a:t>
            </a:r>
            <a:r>
              <a:rPr lang="en-MX" sz="1600" baseline="-25000" dirty="0"/>
              <a:t>i </a:t>
            </a:r>
            <a:r>
              <a:rPr lang="en-MX" sz="1600" dirty="0"/>
              <a:t> </a:t>
            </a:r>
            <a:r>
              <a:rPr lang="en-MX" sz="1600" dirty="0">
                <a:sym typeface="Wingdings" pitchFamily="2" charset="2"/>
              </a:rPr>
              <a:t>= y_pred</a:t>
            </a:r>
          </a:p>
          <a:p>
            <a:r>
              <a:rPr lang="en-US" sz="1600" dirty="0">
                <a:sym typeface="Wingdings" pitchFamily="2" charset="2"/>
              </a:rPr>
              <a:t>N</a:t>
            </a:r>
            <a:r>
              <a:rPr lang="en-MX" sz="1600" dirty="0">
                <a:sym typeface="Wingdings" pitchFamily="2" charset="2"/>
              </a:rPr>
              <a:t> = class number </a:t>
            </a:r>
          </a:p>
          <a:p>
            <a:r>
              <a:rPr lang="en-MX" sz="1600" dirty="0">
                <a:sym typeface="Wingdings" pitchFamily="2" charset="2"/>
              </a:rPr>
              <a:t>M = number of observation</a:t>
            </a:r>
            <a:endParaRPr lang="en-MX" sz="1600" dirty="0"/>
          </a:p>
        </p:txBody>
      </p:sp>
    </p:spTree>
    <p:extLst>
      <p:ext uri="{BB962C8B-B14F-4D97-AF65-F5344CB8AC3E}">
        <p14:creationId xmlns:p14="http://schemas.microsoft.com/office/powerpoint/2010/main" val="3954658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AC21-FF4F-0A44-AD17-D1512F75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6" y="169186"/>
            <a:ext cx="10515600" cy="1325563"/>
          </a:xfrm>
        </p:spPr>
        <p:txBody>
          <a:bodyPr/>
          <a:lstStyle/>
          <a:p>
            <a:r>
              <a:rPr lang="en-US" b="1" dirty="0"/>
              <a:t>Cost </a:t>
            </a:r>
            <a:endParaRPr lang="en-MX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5B5F11-96B8-7641-8CF5-3B03EAFE554A}"/>
              </a:ext>
            </a:extLst>
          </p:cNvPr>
          <p:cNvCxnSpPr>
            <a:cxnSpLocks/>
          </p:cNvCxnSpPr>
          <p:nvPr/>
        </p:nvCxnSpPr>
        <p:spPr>
          <a:xfrm>
            <a:off x="2517722" y="5363250"/>
            <a:ext cx="70711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9396A9-9EBD-6246-81CF-CDCE53C4B6DE}"/>
              </a:ext>
            </a:extLst>
          </p:cNvPr>
          <p:cNvCxnSpPr>
            <a:cxnSpLocks/>
          </p:cNvCxnSpPr>
          <p:nvPr/>
        </p:nvCxnSpPr>
        <p:spPr>
          <a:xfrm>
            <a:off x="3497559" y="1409942"/>
            <a:ext cx="0" cy="486427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Arc 18">
            <a:extLst>
              <a:ext uri="{FF2B5EF4-FFF2-40B4-BE49-F238E27FC236}">
                <a16:creationId xmlns:a16="http://schemas.microsoft.com/office/drawing/2014/main" id="{1BE50E15-A606-EB4C-A348-63E1D6646FC9}"/>
              </a:ext>
            </a:extLst>
          </p:cNvPr>
          <p:cNvSpPr/>
          <p:nvPr/>
        </p:nvSpPr>
        <p:spPr>
          <a:xfrm rot="8375187">
            <a:off x="3927051" y="664998"/>
            <a:ext cx="4883727" cy="4197928"/>
          </a:xfrm>
          <a:prstGeom prst="arc">
            <a:avLst>
              <a:gd name="adj1" fmla="val 12444260"/>
              <a:gd name="adj2" fmla="val 3438154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E0608C-30CB-1E4A-8901-AB1CEC29630A}"/>
              </a:ext>
            </a:extLst>
          </p:cNvPr>
          <p:cNvSpPr txBox="1"/>
          <p:nvPr/>
        </p:nvSpPr>
        <p:spPr>
          <a:xfrm>
            <a:off x="5930933" y="5751001"/>
            <a:ext cx="1224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EE2BB-2E04-FE42-9A6A-0C33D398DDC7}"/>
              </a:ext>
            </a:extLst>
          </p:cNvPr>
          <p:cNvSpPr txBox="1"/>
          <p:nvPr/>
        </p:nvSpPr>
        <p:spPr>
          <a:xfrm rot="16200000">
            <a:off x="2675731" y="2171430"/>
            <a:ext cx="821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800" dirty="0"/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3505095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2687-456E-1246-8F1F-AA2B283D5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7896" cy="79234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i="0" dirty="0">
                <a:solidFill>
                  <a:schemeClr val="bg1"/>
                </a:solidFill>
                <a:effectLst/>
              </a:rPr>
              <a:t>Gradients descent</a:t>
            </a:r>
            <a:endParaRPr lang="en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C2952C-8B3C-294B-9C6C-5F76E7318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500"/>
                <a:ext cx="10515600" cy="5262272"/>
              </a:xfrm>
            </p:spPr>
            <p:txBody>
              <a:bodyPr>
                <a:noAutofit/>
              </a:bodyPr>
              <a:lstStyle/>
              <a:p>
                <a:pPr marL="0" indent="0" algn="l" fontAlgn="base">
                  <a:buNone/>
                </a:pPr>
                <a:r>
                  <a:rPr lang="en-US" sz="1800" b="0" i="0" dirty="0">
                    <a:solidFill>
                      <a:srgbClr val="273239"/>
                    </a:solidFill>
                    <a:effectLst/>
                  </a:rPr>
                  <a:t>The change in each weight (update rule) is calculated as:</a:t>
                </a:r>
              </a:p>
              <a:p>
                <a:pPr algn="l" fontAlgn="base"/>
                <a:endParaRPr lang="en-US" sz="1800" b="0" i="0" dirty="0">
                  <a:solidFill>
                    <a:srgbClr val="273239"/>
                  </a:solidFill>
                  <a:effectLst/>
                </a:endParaRPr>
              </a:p>
              <a:p>
                <a:pPr marL="914400" lvl="2" indent="0" fontAlgn="base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s-ES" sz="1800" i="0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800" i="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s-ES" sz="18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old</m:t>
                        </m:r>
                      </m:sup>
                    </m:sSubSup>
                  </m:oMath>
                </a14:m>
                <a:r>
                  <a:rPr lang="en-US" sz="1800" dirty="0"/>
                  <a:t>+ </a:t>
                </a:r>
                <a:r>
                  <a:rPr lang="el-GR" sz="1800" dirty="0"/>
                  <a:t>Δ</a:t>
                </a:r>
                <a:r>
                  <a:rPr lang="en-US" sz="1800" dirty="0" err="1"/>
                  <a:t>w</a:t>
                </a:r>
                <a:r>
                  <a:rPr lang="en-US" sz="1800" baseline="-25000" dirty="0" err="1"/>
                  <a:t>ij</a:t>
                </a:r>
                <a:endParaRPr lang="en-US" sz="1800" baseline="-25000" dirty="0"/>
              </a:p>
              <a:p>
                <a:pPr marL="0" indent="0" algn="l" fontAlgn="base">
                  <a:buNone/>
                </a:pPr>
                <a:r>
                  <a:rPr lang="es-ES" sz="1800" b="0" dirty="0">
                    <a:effectLst/>
                  </a:rPr>
                  <a:t>	</a:t>
                </a:r>
                <a:r>
                  <a:rPr lang="el-GR" sz="1800" b="0" dirty="0">
                    <a:effectLst/>
                  </a:rPr>
                  <a:t>Δ</a:t>
                </a:r>
                <a:r>
                  <a:rPr lang="en-US" sz="1800" b="0" dirty="0" err="1">
                    <a:effectLst/>
                  </a:rPr>
                  <a:t>w</a:t>
                </a:r>
                <a:r>
                  <a:rPr lang="en-US" sz="1800" b="0" baseline="-25000" dirty="0" err="1">
                    <a:effectLst/>
                  </a:rPr>
                  <a:t>ij</a:t>
                </a:r>
                <a:r>
                  <a:rPr lang="en-US" sz="1800" b="0" dirty="0">
                    <a:effectLst/>
                  </a:rPr>
                  <a:t>=</a:t>
                </a:r>
                <a:r>
                  <a:rPr lang="el-GR" sz="1800" b="0" dirty="0">
                    <a:effectLst/>
                  </a:rPr>
                  <a:t>η</a:t>
                </a:r>
                <a:r>
                  <a:rPr lang="es-ES" sz="1800" b="0" dirty="0">
                    <a:effectLst/>
                  </a:rPr>
                  <a:t> . </a:t>
                </a:r>
                <a:r>
                  <a:rPr lang="el-GR" sz="1800" b="0" dirty="0">
                    <a:solidFill>
                      <a:srgbClr val="273239"/>
                    </a:solidFill>
                    <a:effectLst/>
                  </a:rPr>
                  <a:t>δ</a:t>
                </a:r>
                <a:r>
                  <a:rPr lang="en-US" sz="1800" b="0" baseline="-25000" dirty="0">
                    <a:effectLst/>
                  </a:rPr>
                  <a:t>j</a:t>
                </a:r>
                <a:r>
                  <a:rPr lang="en-US" sz="1800" baseline="-25000" dirty="0"/>
                  <a:t> </a:t>
                </a:r>
                <a:r>
                  <a:rPr lang="en-US" sz="1800" dirty="0"/>
                  <a:t>.</a:t>
                </a:r>
                <a:r>
                  <a:rPr lang="en-US" sz="1800" b="0" dirty="0">
                    <a:effectLst/>
                  </a:rPr>
                  <a:t> O</a:t>
                </a:r>
                <a:r>
                  <a:rPr lang="en-US" sz="1800" baseline="-25000" dirty="0"/>
                  <a:t>i</a:t>
                </a:r>
              </a:p>
              <a:p>
                <a:pPr marL="0" indent="0" algn="l" fontAlgn="base">
                  <a:buNone/>
                </a:pPr>
                <a:endParaRPr lang="en-US" sz="1800" baseline="-25000" dirty="0"/>
              </a:p>
              <a:p>
                <a:pPr marL="0" indent="0" fontAlgn="base">
                  <a:buNone/>
                </a:pPr>
                <a:r>
                  <a:rPr lang="en-US" sz="1800" dirty="0">
                    <a:solidFill>
                      <a:srgbClr val="273239"/>
                    </a:solidFill>
                  </a:rPr>
                  <a:t>Bias is updated almost the same as weights, but without O</a:t>
                </a:r>
                <a:r>
                  <a:rPr lang="en-US" sz="1800" baseline="-25000" dirty="0">
                    <a:solidFill>
                      <a:srgbClr val="273239"/>
                    </a:solidFill>
                  </a:rPr>
                  <a:t>i</a:t>
                </a:r>
                <a:r>
                  <a:rPr lang="en-US" sz="1800" dirty="0">
                    <a:solidFill>
                      <a:srgbClr val="273239"/>
                    </a:solidFill>
                  </a:rPr>
                  <a:t> </a:t>
                </a:r>
              </a:p>
              <a:p>
                <a:pPr marL="0" indent="0" fontAlgn="base">
                  <a:buNone/>
                </a:pPr>
                <a:r>
                  <a:rPr lang="en-US" sz="1800" dirty="0">
                    <a:solidFill>
                      <a:srgbClr val="273239"/>
                    </a:solidFill>
                  </a:rPr>
                  <a:t>This is because weight depends on input from previous neuron</a:t>
                </a:r>
              </a:p>
              <a:p>
                <a:pPr marL="0" indent="0" fontAlgn="base">
                  <a:buNone/>
                </a:pPr>
                <a:endParaRPr lang="en-US" sz="1800" dirty="0">
                  <a:solidFill>
                    <a:srgbClr val="273239"/>
                  </a:solidFill>
                </a:endParaRPr>
              </a:p>
              <a:p>
                <a:pPr marL="914400" lvl="2" indent="0" fontAlgn="base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800" i="0" dirty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es-ES" sz="18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s-ES" sz="1800" b="0" i="0" dirty="0" smtClean="0">
                            <a:latin typeface="Cambria Math" panose="02040503050406030204" pitchFamily="18" charset="0"/>
                          </a:rPr>
                          <m:t>old</m:t>
                        </m:r>
                      </m:sup>
                    </m:sSubSup>
                  </m:oMath>
                </a14:m>
                <a:r>
                  <a:rPr lang="en-US" sz="1800" dirty="0"/>
                  <a:t>+ </a:t>
                </a:r>
                <a:r>
                  <a:rPr lang="el-GR" sz="1800" dirty="0"/>
                  <a:t>Δ</a:t>
                </a:r>
                <a:r>
                  <a:rPr lang="en-US" sz="1800" dirty="0" err="1"/>
                  <a:t>b</a:t>
                </a:r>
                <a:r>
                  <a:rPr lang="en-US" sz="1800" baseline="-25000" dirty="0" err="1"/>
                  <a:t>j</a:t>
                </a:r>
                <a:endParaRPr lang="en-US" sz="1800" baseline="-25000" dirty="0"/>
              </a:p>
              <a:p>
                <a:pPr marL="0" indent="0" algn="l" fontAlgn="base">
                  <a:buNone/>
                </a:pPr>
                <a:r>
                  <a:rPr lang="es-ES" sz="1800" b="0" dirty="0">
                    <a:effectLst/>
                  </a:rPr>
                  <a:t>	</a:t>
                </a:r>
                <a:r>
                  <a:rPr lang="el-GR" sz="1800" b="0" dirty="0">
                    <a:effectLst/>
                  </a:rPr>
                  <a:t>Δ</a:t>
                </a:r>
                <a:r>
                  <a:rPr lang="en-US" sz="1800" dirty="0" err="1"/>
                  <a:t>b</a:t>
                </a:r>
                <a:r>
                  <a:rPr lang="en-US" sz="1800" b="0" baseline="-25000" dirty="0" err="1">
                    <a:effectLst/>
                  </a:rPr>
                  <a:t>j</a:t>
                </a:r>
                <a:r>
                  <a:rPr lang="en-US" sz="1800" b="0" dirty="0">
                    <a:effectLst/>
                  </a:rPr>
                  <a:t>=</a:t>
                </a:r>
                <a:r>
                  <a:rPr lang="el-GR" sz="1800" b="0" dirty="0">
                    <a:effectLst/>
                  </a:rPr>
                  <a:t>η</a:t>
                </a:r>
                <a:r>
                  <a:rPr lang="es-ES" sz="1800" b="0" dirty="0">
                    <a:effectLst/>
                  </a:rPr>
                  <a:t> . </a:t>
                </a:r>
                <a:r>
                  <a:rPr lang="el-GR" sz="1800" b="0" dirty="0">
                    <a:solidFill>
                      <a:srgbClr val="273239"/>
                    </a:solidFill>
                    <a:effectLst/>
                  </a:rPr>
                  <a:t>δ</a:t>
                </a:r>
                <a:r>
                  <a:rPr lang="en-US" sz="1800" b="0" baseline="-25000" dirty="0">
                    <a:effectLst/>
                  </a:rPr>
                  <a:t>j</a:t>
                </a:r>
                <a:r>
                  <a:rPr lang="en-US" sz="1800" baseline="-25000" dirty="0"/>
                  <a:t> </a:t>
                </a:r>
                <a:endParaRPr lang="en-US" sz="1800" dirty="0">
                  <a:solidFill>
                    <a:srgbClr val="273239"/>
                  </a:solidFill>
                </a:endParaRPr>
              </a:p>
              <a:p>
                <a:pPr marL="0" indent="0" algn="l" fontAlgn="base">
                  <a:buNone/>
                </a:pPr>
                <a:r>
                  <a:rPr lang="en-US" sz="1800" b="0" i="0" dirty="0">
                    <a:solidFill>
                      <a:srgbClr val="273239"/>
                    </a:solidFill>
                    <a:effectLst/>
                  </a:rPr>
                  <a:t>Where:</a:t>
                </a:r>
              </a:p>
              <a:p>
                <a:pPr lvl="1" fontAlgn="base"/>
                <a:r>
                  <a:rPr lang="el-GR" sz="1800" b="0" i="0" dirty="0">
                    <a:solidFill>
                      <a:srgbClr val="273239"/>
                    </a:solidFill>
                    <a:effectLst/>
                  </a:rPr>
                  <a:t>δ</a:t>
                </a:r>
                <a:r>
                  <a:rPr lang="en-US" sz="1800" b="0" i="0" baseline="-25000" dirty="0">
                    <a:solidFill>
                      <a:srgbClr val="273239"/>
                    </a:solidFill>
                    <a:effectLst/>
                  </a:rPr>
                  <a:t>j</a:t>
                </a:r>
                <a:r>
                  <a:rPr lang="en-US" sz="1800" b="0" i="0" dirty="0">
                    <a:solidFill>
                      <a:srgbClr val="273239"/>
                    </a:solidFill>
                    <a:effectLst/>
                  </a:rPr>
                  <a:t>​​ is the error term for each unit</a:t>
                </a:r>
              </a:p>
              <a:p>
                <a:pPr lvl="1" fontAlgn="base"/>
                <a:r>
                  <a:rPr lang="el-GR" sz="1800" b="0" i="0" dirty="0">
                    <a:solidFill>
                      <a:srgbClr val="273239"/>
                    </a:solidFill>
                    <a:effectLst/>
                  </a:rPr>
                  <a:t>η </a:t>
                </a:r>
                <a:r>
                  <a:rPr lang="en-US" sz="1800" b="0" i="0" dirty="0">
                    <a:solidFill>
                      <a:srgbClr val="273239"/>
                    </a:solidFill>
                    <a:effectLst/>
                  </a:rPr>
                  <a:t>is the learning rate.</a:t>
                </a:r>
              </a:p>
              <a:p>
                <a:pPr lvl="1" fontAlgn="base"/>
                <a:r>
                  <a:rPr lang="en-US" sz="1800" dirty="0"/>
                  <a:t>O</a:t>
                </a:r>
                <a:r>
                  <a:rPr lang="en-US" sz="1800" baseline="-25000" dirty="0"/>
                  <a:t>i</a:t>
                </a:r>
                <a:r>
                  <a:rPr lang="en-US" sz="1800" dirty="0"/>
                  <a:t>​ is the output of neuron </a:t>
                </a:r>
              </a:p>
              <a:p>
                <a:pPr lvl="1" fontAlgn="base"/>
                <a:r>
                  <a:rPr lang="en-US" sz="1800" dirty="0"/>
                  <a:t>i is the input to the weight, index of a neuron in the previous layer</a:t>
                </a:r>
                <a:endParaRPr lang="en-US" sz="1800" i="0" dirty="0">
                  <a:solidFill>
                    <a:srgbClr val="273239"/>
                  </a:solidFill>
                  <a:effectLst/>
                </a:endParaRPr>
              </a:p>
              <a:p>
                <a:endParaRPr lang="en-MX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C2952C-8B3C-294B-9C6C-5F76E7318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500"/>
                <a:ext cx="10515600" cy="5262272"/>
              </a:xfrm>
              <a:blipFill>
                <a:blip r:embed="rId2"/>
                <a:stretch>
                  <a:fillRect l="-603" t="-1205" b="-723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0A0061D-9152-5F45-9EFF-2746995996BA}"/>
              </a:ext>
            </a:extLst>
          </p:cNvPr>
          <p:cNvSpPr/>
          <p:nvPr/>
        </p:nvSpPr>
        <p:spPr>
          <a:xfrm>
            <a:off x="7723422" y="4252746"/>
            <a:ext cx="720436" cy="775422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i</a:t>
            </a:r>
            <a:endParaRPr lang="en-MX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FB7A2-CCE6-684E-9E51-1E9B8FBE2AA2}"/>
              </a:ext>
            </a:extLst>
          </p:cNvPr>
          <p:cNvSpPr/>
          <p:nvPr/>
        </p:nvSpPr>
        <p:spPr>
          <a:xfrm>
            <a:off x="10037131" y="4252746"/>
            <a:ext cx="720436" cy="775422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X" dirty="0"/>
              <a:t>a</a:t>
            </a:r>
            <a:r>
              <a:rPr lang="en-MX" sz="1600" baseline="-25000" dirty="0"/>
              <a:t>j</a:t>
            </a:r>
            <a:endParaRPr lang="en-MX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A20840-0476-CF41-8A4E-0D7EA7D2903A}"/>
              </a:ext>
            </a:extLst>
          </p:cNvPr>
          <p:cNvCxnSpPr>
            <a:endCxn id="5" idx="2"/>
          </p:cNvCxnSpPr>
          <p:nvPr/>
        </p:nvCxnSpPr>
        <p:spPr>
          <a:xfrm>
            <a:off x="8443858" y="4640457"/>
            <a:ext cx="1593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D83573-9AE3-8842-90F0-AEE834821083}"/>
              </a:ext>
            </a:extLst>
          </p:cNvPr>
          <p:cNvSpPr txBox="1"/>
          <p:nvPr/>
        </p:nvSpPr>
        <p:spPr>
          <a:xfrm>
            <a:off x="8981869" y="4183474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w</a:t>
            </a:r>
            <a:r>
              <a:rPr lang="en-MX" baseline="-25000" dirty="0"/>
              <a:t>ij</a:t>
            </a:r>
            <a:endParaRPr lang="en-MX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865B3-A1A3-D54E-BDDA-C7AD2252A6C2}"/>
              </a:ext>
            </a:extLst>
          </p:cNvPr>
          <p:cNvSpPr txBox="1"/>
          <p:nvPr/>
        </p:nvSpPr>
        <p:spPr>
          <a:xfrm>
            <a:off x="10226469" y="5028168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800" b="0" dirty="0">
                <a:solidFill>
                  <a:srgbClr val="273239"/>
                </a:solidFill>
                <a:effectLst/>
                <a:latin typeface="KaTeX_Math"/>
              </a:rPr>
              <a:t>δ</a:t>
            </a:r>
            <a:r>
              <a:rPr lang="en-US" sz="1800" b="0" baseline="-25000" dirty="0">
                <a:effectLst/>
                <a:latin typeface="KaTeX_Main"/>
              </a:rPr>
              <a:t>j</a:t>
            </a:r>
            <a:endParaRPr lang="en-MX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EC46E-BACD-A740-849C-66A9E2F8FB11}"/>
              </a:ext>
            </a:extLst>
          </p:cNvPr>
          <p:cNvSpPr txBox="1"/>
          <p:nvPr/>
        </p:nvSpPr>
        <p:spPr>
          <a:xfrm>
            <a:off x="7994516" y="502816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effectLst/>
                <a:latin typeface="KaTeX_Main"/>
              </a:rPr>
              <a:t>O</a:t>
            </a:r>
            <a:r>
              <a:rPr lang="en-US" sz="1800" baseline="-25000" dirty="0">
                <a:latin typeface="KaTeX_Main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936385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7AE0-B43B-D44F-B29B-9D9EA050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98" y="161779"/>
            <a:ext cx="10515600" cy="1325563"/>
          </a:xfrm>
        </p:spPr>
        <p:txBody>
          <a:bodyPr/>
          <a:lstStyle/>
          <a:p>
            <a:r>
              <a:rPr lang="el-GR" b="1" dirty="0">
                <a:latin typeface="+mn-lt"/>
              </a:rPr>
              <a:t>δ</a:t>
            </a:r>
            <a:r>
              <a:rPr lang="en-US" b="1" baseline="-25000" dirty="0">
                <a:latin typeface="+mn-lt"/>
              </a:rPr>
              <a:t>j​</a:t>
            </a:r>
            <a:r>
              <a:rPr lang="en-US" b="1" baseline="-25000" dirty="0">
                <a:solidFill>
                  <a:srgbClr val="273239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273239"/>
                </a:solidFill>
                <a:latin typeface="+mn-lt"/>
              </a:rPr>
              <a:t>(</a:t>
            </a:r>
            <a:r>
              <a:rPr lang="en-US" b="1" i="0" dirty="0">
                <a:solidFill>
                  <a:srgbClr val="273239"/>
                </a:solidFill>
                <a:effectLst/>
                <a:latin typeface="+mn-lt"/>
              </a:rPr>
              <a:t>error term) calculations</a:t>
            </a:r>
            <a:endParaRPr lang="en-MX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4EBB4-4F2F-C54B-A886-C07F6A6DF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7342"/>
                <a:ext cx="5084298" cy="487059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MX" sz="2600" dirty="0"/>
                  <a:t>Output layer: </a:t>
                </a:r>
              </a:p>
              <a:p>
                <a:pPr marL="0" indent="0">
                  <a:buNone/>
                </a:pPr>
                <a:r>
                  <a:rPr lang="es-ES" sz="2600" dirty="0"/>
                  <a:t>	</a:t>
                </a:r>
                <a:r>
                  <a:rPr lang="el-GR" sz="2600" dirty="0"/>
                  <a:t>δ</a:t>
                </a:r>
                <a:r>
                  <a:rPr lang="en-US" sz="2600" baseline="-25000" dirty="0"/>
                  <a:t>j​</a:t>
                </a:r>
                <a:r>
                  <a:rPr lang="en-US" sz="2600" dirty="0"/>
                  <a:t>=(</a:t>
                </a:r>
                <a:r>
                  <a:rPr lang="en-US" sz="2600" dirty="0" err="1"/>
                  <a:t>y</a:t>
                </a:r>
                <a:r>
                  <a:rPr lang="en-US" sz="2600" baseline="-25000" dirty="0" err="1"/>
                  <a:t>j</a:t>
                </a:r>
                <a:r>
                  <a:rPr lang="en-US" sz="2600" dirty="0"/>
                  <a:t>​−</a:t>
                </a:r>
                <a:r>
                  <a:rPr lang="en-US" sz="2600" dirty="0" err="1"/>
                  <a:t>a</a:t>
                </a:r>
                <a:r>
                  <a:rPr lang="en-US" sz="2600" baseline="-25000" dirty="0" err="1"/>
                  <a:t>j</a:t>
                </a:r>
                <a:r>
                  <a:rPr lang="en-US" sz="2600" dirty="0"/>
                  <a:t>​) . f′(</a:t>
                </a:r>
                <a:r>
                  <a:rPr lang="en-US" sz="2600" dirty="0" err="1"/>
                  <a:t>z</a:t>
                </a:r>
                <a:r>
                  <a:rPr lang="en-US" sz="2600" baseline="-25000" dirty="0" err="1"/>
                  <a:t>j</a:t>
                </a:r>
                <a:r>
                  <a:rPr lang="en-US" sz="2600" dirty="0"/>
                  <a:t>​) 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lvl="1"/>
                <a:r>
                  <a:rPr lang="en-US" sz="2600" dirty="0"/>
                  <a:t> If f(</a:t>
                </a:r>
                <a:r>
                  <a:rPr lang="en-US" sz="2600" dirty="0" err="1"/>
                  <a:t>z</a:t>
                </a:r>
                <a:r>
                  <a:rPr lang="en-US" sz="2600" baseline="-25000" dirty="0" err="1"/>
                  <a:t>j</a:t>
                </a:r>
                <a:r>
                  <a:rPr lang="en-US" sz="2600" dirty="0"/>
                  <a:t>​) is sigmoid:  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     	 f′(z)=​</a:t>
                </a:r>
                <a:r>
                  <a:rPr lang="en-US" sz="2600" dirty="0" err="1"/>
                  <a:t>a</a:t>
                </a:r>
                <a:r>
                  <a:rPr lang="en-US" sz="2600" baseline="-25000" dirty="0" err="1"/>
                  <a:t>j</a:t>
                </a:r>
                <a:r>
                  <a:rPr lang="en-US" sz="2600" dirty="0"/>
                  <a:t>​ (1−a</a:t>
                </a:r>
                <a:r>
                  <a:rPr lang="en-US" sz="2600" baseline="-25000" dirty="0"/>
                  <a:t>j</a:t>
                </a:r>
                <a:r>
                  <a:rPr lang="en-US" sz="2600" dirty="0"/>
                  <a:t>​)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	</a:t>
                </a:r>
                <a:r>
                  <a:rPr lang="el-GR" sz="2600" dirty="0">
                    <a:solidFill>
                      <a:srgbClr val="FF0000"/>
                    </a:solidFill>
                  </a:rPr>
                  <a:t>δ</a:t>
                </a:r>
                <a:r>
                  <a:rPr lang="en-US" sz="2600" baseline="-25000" dirty="0">
                    <a:solidFill>
                      <a:srgbClr val="FF0000"/>
                    </a:solidFill>
                  </a:rPr>
                  <a:t>j​  </a:t>
                </a:r>
                <a:r>
                  <a:rPr lang="en-US" sz="2600" dirty="0">
                    <a:solidFill>
                      <a:srgbClr val="FF0000"/>
                    </a:solidFill>
                  </a:rPr>
                  <a:t>=(</a:t>
                </a:r>
                <a:r>
                  <a:rPr lang="en-US" sz="26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sz="26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>
                    <a:solidFill>
                      <a:srgbClr val="FF0000"/>
                    </a:solidFill>
                  </a:rPr>
                  <a:t>​−</a:t>
                </a:r>
                <a:r>
                  <a:rPr lang="en-US" sz="26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6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>
                    <a:solidFill>
                      <a:srgbClr val="FF0000"/>
                    </a:solidFill>
                  </a:rPr>
                  <a:t>​) . </a:t>
                </a:r>
                <a:r>
                  <a:rPr lang="en-US" sz="26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6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>
                    <a:solidFill>
                      <a:srgbClr val="FF0000"/>
                    </a:solidFill>
                  </a:rPr>
                  <a:t>​ (1−a</a:t>
                </a:r>
                <a:r>
                  <a:rPr lang="en-US" sz="2600" baseline="-25000" dirty="0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>
                    <a:solidFill>
                      <a:srgbClr val="FF0000"/>
                    </a:solidFill>
                  </a:rPr>
                  <a:t>​)</a:t>
                </a:r>
              </a:p>
              <a:p>
                <a:pPr marL="457200" lvl="1" indent="0">
                  <a:buNone/>
                </a:pPr>
                <a:endParaRPr lang="en-US" sz="26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600" dirty="0"/>
                  <a:t>I</a:t>
                </a:r>
                <a:r>
                  <a:rPr lang="en-MX" sz="2600" dirty="0"/>
                  <a:t>f </a:t>
                </a:r>
                <a:r>
                  <a:rPr lang="en-US" sz="2600" dirty="0"/>
                  <a:t>f(</a:t>
                </a:r>
                <a:r>
                  <a:rPr lang="en-US" sz="2600" dirty="0" err="1"/>
                  <a:t>zj</a:t>
                </a:r>
                <a:r>
                  <a:rPr lang="en-US" sz="2600" dirty="0"/>
                  <a:t>​) is </a:t>
                </a:r>
                <a:r>
                  <a:rPr lang="en-MX" sz="2600" dirty="0"/>
                  <a:t>tanh:</a:t>
                </a:r>
              </a:p>
              <a:p>
                <a:pPr marL="457200" lvl="1" indent="0">
                  <a:buNone/>
                </a:pPr>
                <a:r>
                  <a:rPr lang="en-MX" sz="2600" b="1" dirty="0"/>
                  <a:t>	</a:t>
                </a:r>
                <a:r>
                  <a:rPr lang="en-MX" sz="2600" dirty="0"/>
                  <a:t>f</a:t>
                </a:r>
                <a:r>
                  <a:rPr lang="en-US" sz="2600" dirty="0"/>
                  <a:t>′(z)=​ 1−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MX" sz="2600" b="1" dirty="0"/>
              </a:p>
              <a:p>
                <a:pPr marL="457200" lvl="1" indent="0">
                  <a:buNone/>
                </a:pPr>
                <a:r>
                  <a:rPr lang="es-ES" sz="2600" dirty="0"/>
                  <a:t>	</a:t>
                </a:r>
                <a:r>
                  <a:rPr lang="el-GR" sz="2600" dirty="0">
                    <a:solidFill>
                      <a:srgbClr val="FF0000"/>
                    </a:solidFill>
                  </a:rPr>
                  <a:t>δ</a:t>
                </a:r>
                <a:r>
                  <a:rPr lang="es-ES" sz="2600" baseline="-25000" dirty="0">
                    <a:solidFill>
                      <a:srgbClr val="FF0000"/>
                    </a:solidFill>
                  </a:rPr>
                  <a:t>j</a:t>
                </a:r>
                <a:r>
                  <a:rPr lang="el-GR" sz="2600" dirty="0">
                    <a:solidFill>
                      <a:srgbClr val="FF0000"/>
                    </a:solidFill>
                  </a:rPr>
                  <a:t>=(</a:t>
                </a:r>
                <a:r>
                  <a:rPr lang="en-US" sz="26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sz="26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 err="1">
                    <a:solidFill>
                      <a:srgbClr val="FF0000"/>
                    </a:solidFill>
                  </a:rPr>
                  <a:t>−a</a:t>
                </a:r>
                <a:r>
                  <a:rPr lang="en-US" sz="26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600" dirty="0">
                    <a:solidFill>
                      <a:srgbClr val="FF0000"/>
                    </a:solidFill>
                  </a:rPr>
                  <a:t>)(1−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)</a:t>
                </a:r>
                <a:endParaRPr lang="en-MX" sz="26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MX" sz="2100" dirty="0"/>
                  <a:t> </a:t>
                </a:r>
              </a:p>
              <a:p>
                <a:pPr marL="0" indent="0">
                  <a:buNone/>
                </a:pPr>
                <a:r>
                  <a:rPr lang="en-US" sz="2100" dirty="0"/>
                  <a:t>Where:</a:t>
                </a:r>
              </a:p>
              <a:p>
                <a:pPr lvl="1"/>
                <a:r>
                  <a:rPr lang="en-US" sz="2100" dirty="0" err="1"/>
                  <a:t>y</a:t>
                </a:r>
                <a:r>
                  <a:rPr lang="en-US" sz="2100" baseline="-25000" dirty="0" err="1"/>
                  <a:t>j</a:t>
                </a:r>
                <a:r>
                  <a:rPr lang="en-US" sz="2100" baseline="-25000" dirty="0"/>
                  <a:t>   </a:t>
                </a:r>
                <a:r>
                  <a:rPr lang="en-US" sz="2100" dirty="0"/>
                  <a:t>is the target </a:t>
                </a:r>
              </a:p>
              <a:p>
                <a:pPr lvl="1"/>
                <a:r>
                  <a:rPr lang="en-US" sz="2100" dirty="0" err="1"/>
                  <a:t>a</a:t>
                </a:r>
                <a:r>
                  <a:rPr lang="en-US" sz="2100" baseline="-25000" dirty="0" err="1"/>
                  <a:t>j</a:t>
                </a:r>
                <a:r>
                  <a:rPr lang="en-US" sz="2100" dirty="0"/>
                  <a:t> is the predicted output </a:t>
                </a:r>
              </a:p>
              <a:p>
                <a:pPr lvl="1"/>
                <a:r>
                  <a:rPr lang="en-US" sz="2100" dirty="0"/>
                  <a:t>f′(</a:t>
                </a:r>
                <a:r>
                  <a:rPr lang="en-US" sz="2100" dirty="0" err="1"/>
                  <a:t>z</a:t>
                </a:r>
                <a:r>
                  <a:rPr lang="en-US" sz="2100" baseline="-25000" dirty="0" err="1"/>
                  <a:t>j</a:t>
                </a:r>
                <a:r>
                  <a:rPr lang="en-US" sz="2100" dirty="0"/>
                  <a:t>) is the derivative of activation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4EBB4-4F2F-C54B-A886-C07F6A6DF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7342"/>
                <a:ext cx="5084298" cy="4870597"/>
              </a:xfrm>
              <a:blipFill>
                <a:blip r:embed="rId2"/>
                <a:stretch>
                  <a:fillRect l="-1496" t="-26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DAE6BAC-6B41-2F4D-91C7-3B632C63BC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3679" y="1524555"/>
                <a:ext cx="5525036" cy="51378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MX" sz="2200" dirty="0"/>
                  <a:t>Hidden layer: </a:t>
                </a:r>
              </a:p>
              <a:p>
                <a:pPr marL="0" indent="0">
                  <a:buNone/>
                </a:pPr>
                <a:r>
                  <a:rPr lang="es-ES" sz="2200" dirty="0"/>
                  <a:t>	</a:t>
                </a:r>
                <a:r>
                  <a:rPr lang="el-GR" sz="2200" dirty="0"/>
                  <a:t>δ</a:t>
                </a:r>
                <a:r>
                  <a:rPr lang="en-US" sz="2200" baseline="-25000" dirty="0"/>
                  <a:t>j​</a:t>
                </a:r>
                <a:r>
                  <a:rPr lang="en-US" sz="2200" dirty="0"/>
                  <a:t>=f′(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200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s-ES" sz="2200" b="0" i="1" smtClean="0"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s-E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200" dirty="0"/>
                              <m:t>δ</m:t>
                            </m:r>
                          </m:e>
                          <m:sub>
                            <m:r>
                              <a:rPr lang="es-E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s-E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MX" sz="2200" dirty="0"/>
              </a:p>
              <a:p>
                <a:pPr lvl="1"/>
                <a:r>
                  <a:rPr lang="en-US" sz="2200" dirty="0"/>
                  <a:t>If f(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 is sigmoid: </a:t>
                </a:r>
              </a:p>
              <a:p>
                <a:pPr marL="457200" lvl="1" indent="0">
                  <a:buNone/>
                </a:pPr>
                <a:r>
                  <a:rPr lang="en-US" sz="2200" dirty="0"/>
                  <a:t>	</a:t>
                </a:r>
                <a:r>
                  <a:rPr lang="el-GR" sz="2200" dirty="0">
                    <a:solidFill>
                      <a:srgbClr val="FF0000"/>
                    </a:solidFill>
                  </a:rPr>
                  <a:t> δ</a:t>
                </a:r>
                <a:r>
                  <a:rPr lang="en-US" sz="2200" baseline="-25000" dirty="0">
                    <a:solidFill>
                      <a:srgbClr val="FF0000"/>
                    </a:solidFill>
                  </a:rPr>
                  <a:t>j​ </a:t>
                </a:r>
                <a:r>
                  <a:rPr lang="en-US" sz="2200" dirty="0">
                    <a:solidFill>
                      <a:srgbClr val="FF0000"/>
                    </a:solidFill>
                  </a:rPr>
                  <a:t>=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2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200" dirty="0">
                    <a:solidFill>
                      <a:srgbClr val="FF0000"/>
                    </a:solidFill>
                  </a:rPr>
                  <a:t>​ (1−a</a:t>
                </a:r>
                <a:r>
                  <a:rPr lang="en-US" sz="2200" baseline="-25000" dirty="0">
                    <a:solidFill>
                      <a:srgbClr val="FF0000"/>
                    </a:solidFill>
                  </a:rPr>
                  <a:t>j</a:t>
                </a:r>
                <a:r>
                  <a:rPr lang="en-US" sz="2200" dirty="0">
                    <a:solidFill>
                      <a:srgbClr val="FF0000"/>
                    </a:solidFill>
                  </a:rPr>
                  <a:t>​).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s-ES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200" dirty="0">
                                <a:solidFill>
                                  <a:srgbClr val="FF0000"/>
                                </a:solidFill>
                              </a:rPr>
                              <m:t>δ</m:t>
                            </m:r>
                          </m:e>
                          <m:sub>
                            <m:r>
                              <a:rPr lang="es-E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I</a:t>
                </a:r>
                <a:r>
                  <a:rPr lang="en-MX" sz="2200" dirty="0"/>
                  <a:t>f </a:t>
                </a:r>
                <a:r>
                  <a:rPr lang="en-US" sz="2200" dirty="0"/>
                  <a:t>f(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 is </a:t>
                </a:r>
                <a:r>
                  <a:rPr lang="en-MX" sz="2200" dirty="0"/>
                  <a:t>tanh:</a:t>
                </a:r>
              </a:p>
              <a:p>
                <a:pPr marL="914400" lvl="2" indent="0">
                  <a:buNone/>
                </a:pPr>
                <a:r>
                  <a:rPr lang="el-GR" sz="2200" dirty="0">
                    <a:solidFill>
                      <a:srgbClr val="FF0000"/>
                    </a:solidFill>
                  </a:rPr>
                  <a:t>δ</a:t>
                </a:r>
                <a:r>
                  <a:rPr lang="en-US" sz="2200" baseline="-25000" dirty="0">
                    <a:solidFill>
                      <a:srgbClr val="FF0000"/>
                    </a:solidFill>
                  </a:rPr>
                  <a:t>j​ </a:t>
                </a:r>
                <a:r>
                  <a:rPr lang="en-US" sz="2200" dirty="0">
                    <a:solidFill>
                      <a:srgbClr val="FF0000"/>
                    </a:solidFill>
                  </a:rPr>
                  <a:t>=(1−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) 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200" dirty="0">
                                <a:solidFill>
                                  <a:srgbClr val="FF0000"/>
                                </a:solidFill>
                              </a:rPr>
                              <m:t>δ</m:t>
                            </m:r>
                          </m:e>
                          <m:sub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MX" sz="2200" b="1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MX" sz="2200" dirty="0"/>
                  <a:t>If </a:t>
                </a:r>
                <a:r>
                  <a:rPr lang="en-US" sz="2200" dirty="0"/>
                  <a:t>f(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 is </a:t>
                </a:r>
                <a:r>
                  <a:rPr lang="en-MX" sz="2200" dirty="0"/>
                  <a:t>ReLU:</a:t>
                </a:r>
              </a:p>
              <a:p>
                <a:pPr marL="914400" lvl="2" indent="-287338">
                  <a:buNone/>
                </a:pPr>
                <a:r>
                  <a:rPr lang="el-GR" sz="2200" dirty="0">
                    <a:solidFill>
                      <a:srgbClr val="FF0000"/>
                    </a:solidFill>
                  </a:rPr>
                  <a:t>δ</a:t>
                </a:r>
                <a:r>
                  <a:rPr lang="en-US" sz="2200" baseline="-25000" dirty="0">
                    <a:solidFill>
                      <a:srgbClr val="FF0000"/>
                    </a:solidFill>
                  </a:rPr>
                  <a:t>j​ </a:t>
                </a:r>
                <a:r>
                  <a:rPr lang="en-US" sz="2200" dirty="0">
                    <a:solidFill>
                      <a:srgbClr val="FF0000"/>
                    </a:solidFill>
                  </a:rPr>
                  <a:t>=</a:t>
                </a:r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FF0000"/>
                    </a:solidFill>
                  </a:rPr>
                  <a:t>f′(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z</a:t>
                </a:r>
                <a:r>
                  <a:rPr lang="en-US" sz="2200" baseline="-25000" dirty="0" err="1">
                    <a:solidFill>
                      <a:srgbClr val="FF0000"/>
                    </a:solidFill>
                  </a:rPr>
                  <a:t>j</a:t>
                </a:r>
                <a:r>
                  <a:rPr lang="en-US" sz="2200" dirty="0">
                    <a:solidFill>
                      <a:srgbClr val="FF0000"/>
                    </a:solidFill>
                  </a:rPr>
                  <a:t>​) 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200" i="1" dirty="0">
                                <a:solidFill>
                                  <a:srgbClr val="FF0000"/>
                                </a:solidFill>
                              </a:rPr>
                              <m:t>δ</m:t>
                            </m:r>
                          </m:e>
                          <m:sub>
                            <m:r>
                              <a:rPr lang="es-E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s-E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200" i="1" dirty="0">
                  <a:solidFill>
                    <a:srgbClr val="FF0000"/>
                  </a:solidFill>
                </a:endParaRPr>
              </a:p>
              <a:p>
                <a:pPr marL="914400" lvl="2" indent="-287338">
                  <a:buNone/>
                </a:pPr>
                <a:r>
                  <a:rPr lang="en-US" sz="2200" dirty="0"/>
                  <a:t>if 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 &gt; 0 :    then f′(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​)= 1</a:t>
                </a:r>
              </a:p>
              <a:p>
                <a:pPr marL="914400" lvl="2" indent="-287338">
                  <a:buNone/>
                </a:pPr>
                <a:r>
                  <a:rPr lang="en-US" sz="2200" dirty="0"/>
                  <a:t>if 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 &lt;= 0 : then f′(</a:t>
                </a:r>
                <a:r>
                  <a:rPr lang="en-US" sz="2200" dirty="0" err="1"/>
                  <a:t>z</a:t>
                </a:r>
                <a:r>
                  <a:rPr lang="en-US" sz="2200" baseline="-25000" dirty="0" err="1"/>
                  <a:t>j</a:t>
                </a:r>
                <a:r>
                  <a:rPr lang="en-US" sz="2200" dirty="0"/>
                  <a:t>​)= 0</a:t>
                </a:r>
                <a:endParaRPr lang="en-US" sz="2200" i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Where:</a:t>
                </a:r>
              </a:p>
              <a:p>
                <a:pPr lvl="1"/>
                <a:r>
                  <a:rPr lang="en-US" sz="1800" dirty="0"/>
                  <a:t>j is the current (hidden) neuron</a:t>
                </a:r>
              </a:p>
              <a:p>
                <a:pPr lvl="1"/>
                <a:r>
                  <a:rPr lang="en-US" sz="1800" dirty="0"/>
                  <a:t>k is the neuron in the next layer </a:t>
                </a:r>
              </a:p>
              <a:p>
                <a:pPr lvl="1"/>
                <a:r>
                  <a:rPr lang="en-US" sz="1800" dirty="0"/>
                  <a:t>Take errors from next layer, weight them multiply by derivative of the activation function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DAE6BAC-6B41-2F4D-91C7-3B632C63B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679" y="1524555"/>
                <a:ext cx="5525036" cy="5137883"/>
              </a:xfrm>
              <a:prstGeom prst="rect">
                <a:avLst/>
              </a:prstGeom>
              <a:blipFill>
                <a:blip r:embed="rId3"/>
                <a:stretch>
                  <a:fillRect l="-917" t="-3210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649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9EC239-9AAB-E048-9176-BCB4E4B2B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1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7B4C-7CC4-AC41-990F-FE5162E9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83" y="50958"/>
            <a:ext cx="10515600" cy="1325563"/>
          </a:xfrm>
        </p:spPr>
        <p:txBody>
          <a:bodyPr>
            <a:normAutofit/>
          </a:bodyPr>
          <a:lstStyle/>
          <a:p>
            <a:r>
              <a:rPr lang="en-MX" sz="4000" b="1" dirty="0"/>
              <a:t>Neral 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DAB7-FC5E-0547-BCE6-68958289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83" y="1234413"/>
            <a:ext cx="10515600" cy="13255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Assume we have a neural network where:</a:t>
            </a:r>
          </a:p>
          <a:p>
            <a:pPr lvl="1"/>
            <a:r>
              <a:rPr lang="en-US" sz="1800" dirty="0"/>
              <a:t>Each neuron uses a sigmoid activation function. </a:t>
            </a:r>
          </a:p>
          <a:p>
            <a:pPr lvl="1"/>
            <a:r>
              <a:rPr lang="en-US" sz="1800" dirty="0"/>
              <a:t>We will perform a forward pass, then a backward pass, and then update the weights.</a:t>
            </a:r>
          </a:p>
          <a:p>
            <a:pPr lvl="1"/>
            <a:r>
              <a:rPr lang="en-US" sz="1800" dirty="0"/>
              <a:t>Actual y = 1 and Learning rate = 0.9</a:t>
            </a:r>
          </a:p>
          <a:p>
            <a:pPr marL="0" indent="0">
              <a:buNone/>
            </a:pPr>
            <a:endParaRPr lang="en-MX" sz="1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4B66A3-E648-3040-8EE6-8D7CCCAA1A88}"/>
              </a:ext>
            </a:extLst>
          </p:cNvPr>
          <p:cNvGrpSpPr/>
          <p:nvPr/>
        </p:nvGrpSpPr>
        <p:grpSpPr>
          <a:xfrm>
            <a:off x="2307697" y="2649310"/>
            <a:ext cx="7412014" cy="4103077"/>
            <a:chOff x="1294226" y="2546278"/>
            <a:chExt cx="7412014" cy="410307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B439AAE-C7E9-B342-B8B4-3D5B48DC00FE}"/>
                </a:ext>
              </a:extLst>
            </p:cNvPr>
            <p:cNvSpPr/>
            <p:nvPr/>
          </p:nvSpPr>
          <p:spPr>
            <a:xfrm>
              <a:off x="1294228" y="2546278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x</a:t>
              </a:r>
              <a:r>
                <a:rPr lang="en-MX" baseline="-25000" dirty="0"/>
                <a:t>1</a:t>
              </a:r>
              <a:r>
                <a:rPr lang="en-MX" dirty="0"/>
                <a:t>=1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CAA63A-DCFC-454F-AA47-A000CD80190B}"/>
                </a:ext>
              </a:extLst>
            </p:cNvPr>
            <p:cNvSpPr/>
            <p:nvPr/>
          </p:nvSpPr>
          <p:spPr>
            <a:xfrm>
              <a:off x="1294226" y="4182819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2</a:t>
              </a:r>
              <a:r>
                <a:rPr lang="en-MX" dirty="0"/>
                <a:t>=0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EC32C38-839C-0549-98CF-D7B8175D2CC9}"/>
                </a:ext>
              </a:extLst>
            </p:cNvPr>
            <p:cNvSpPr/>
            <p:nvPr/>
          </p:nvSpPr>
          <p:spPr>
            <a:xfrm>
              <a:off x="1294227" y="5819361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3</a:t>
              </a:r>
              <a:r>
                <a:rPr lang="en-MX" dirty="0"/>
                <a:t>=1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D02256-4FC3-BC4C-BE94-BFD1B0ABE32F}"/>
                </a:ext>
              </a:extLst>
            </p:cNvPr>
            <p:cNvSpPr/>
            <p:nvPr/>
          </p:nvSpPr>
          <p:spPr>
            <a:xfrm>
              <a:off x="4386774" y="3352825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4</a:t>
              </a:r>
              <a:endParaRPr lang="en-MX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3101F6-5B87-3345-A0C6-8EF2F9659BDC}"/>
                </a:ext>
              </a:extLst>
            </p:cNvPr>
            <p:cNvSpPr/>
            <p:nvPr/>
          </p:nvSpPr>
          <p:spPr>
            <a:xfrm>
              <a:off x="4386775" y="4989367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F19EA70-972F-9548-991E-AB252ACA2D30}"/>
                </a:ext>
              </a:extLst>
            </p:cNvPr>
            <p:cNvSpPr/>
            <p:nvPr/>
          </p:nvSpPr>
          <p:spPr>
            <a:xfrm>
              <a:off x="7479320" y="4159373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O</a:t>
              </a:r>
              <a:r>
                <a:rPr lang="en-MX" baseline="-25000" dirty="0"/>
                <a:t>6</a:t>
              </a:r>
              <a:endParaRPr lang="en-MX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EFE40B-0626-5343-8C8A-6413F1549D5F}"/>
                </a:ext>
              </a:extLst>
            </p:cNvPr>
            <p:cNvCxnSpPr>
              <a:stCxn id="4" idx="6"/>
              <a:endCxn id="7" idx="2"/>
            </p:cNvCxnSpPr>
            <p:nvPr/>
          </p:nvCxnSpPr>
          <p:spPr>
            <a:xfrm>
              <a:off x="2349305" y="2961275"/>
              <a:ext cx="2037469" cy="80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14690E5-8B1B-2A41-B996-C589CAEB755A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2135945" y="3280130"/>
              <a:ext cx="2405342" cy="18307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5E550C-A8DF-7249-B75B-96BFD93AAE56}"/>
                </a:ext>
              </a:extLst>
            </p:cNvPr>
            <p:cNvSpPr txBox="1"/>
            <p:nvPr/>
          </p:nvSpPr>
          <p:spPr>
            <a:xfrm rot="1313283">
              <a:off x="2954215" y="3066762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14</a:t>
              </a:r>
              <a:r>
                <a:rPr lang="en-MX" dirty="0"/>
                <a:t>= 0.2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1EE70C-5D54-AC4B-86CE-EFE8F2C17866}"/>
                </a:ext>
              </a:extLst>
            </p:cNvPr>
            <p:cNvSpPr txBox="1"/>
            <p:nvPr/>
          </p:nvSpPr>
          <p:spPr>
            <a:xfrm rot="2029647">
              <a:off x="2842621" y="3731323"/>
              <a:ext cx="1096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15</a:t>
              </a:r>
              <a:r>
                <a:rPr lang="en-MX" dirty="0"/>
                <a:t>= -0.3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A0CC5F-E036-024A-83B0-875ADC67901C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118153" y="4946524"/>
              <a:ext cx="2268622" cy="45784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147087-007E-8B44-9BE0-8600EF279424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V="1">
              <a:off x="2286134" y="4061269"/>
              <a:ext cx="2255152" cy="33225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3126E5-F4A5-ED40-8968-48612C3CC3F9}"/>
                </a:ext>
              </a:extLst>
            </p:cNvPr>
            <p:cNvSpPr txBox="1"/>
            <p:nvPr/>
          </p:nvSpPr>
          <p:spPr>
            <a:xfrm rot="758438">
              <a:off x="2724924" y="4834734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25</a:t>
              </a:r>
              <a:r>
                <a:rPr lang="en-MX" dirty="0"/>
                <a:t>= 0.1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D0FDF8-2080-C144-83AA-E86D14E149AA}"/>
                </a:ext>
              </a:extLst>
            </p:cNvPr>
            <p:cNvSpPr txBox="1"/>
            <p:nvPr/>
          </p:nvSpPr>
          <p:spPr>
            <a:xfrm rot="21018232">
              <a:off x="2063436" y="3958427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24</a:t>
              </a:r>
              <a:r>
                <a:rPr lang="en-MX" dirty="0"/>
                <a:t>= 0.4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0DEDB05-936E-8B46-B71B-B00DF935D82A}"/>
                </a:ext>
              </a:extLst>
            </p:cNvPr>
            <p:cNvCxnSpPr>
              <a:cxnSpLocks/>
              <a:stCxn id="6" idx="7"/>
              <a:endCxn id="7" idx="4"/>
            </p:cNvCxnSpPr>
            <p:nvPr/>
          </p:nvCxnSpPr>
          <p:spPr>
            <a:xfrm flipV="1">
              <a:off x="2194792" y="4182819"/>
              <a:ext cx="2719521" cy="175809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242CC39-966B-DB4F-9F59-A321C3085E55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2286134" y="5697811"/>
              <a:ext cx="2255153" cy="63909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5FC12A-7BCE-0C40-ABAB-33D28AD9D1AA}"/>
                </a:ext>
              </a:extLst>
            </p:cNvPr>
            <p:cNvSpPr txBox="1"/>
            <p:nvPr/>
          </p:nvSpPr>
          <p:spPr>
            <a:xfrm rot="19896135">
              <a:off x="1983727" y="5305557"/>
              <a:ext cx="1255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34</a:t>
              </a:r>
              <a:r>
                <a:rPr lang="en-MX" dirty="0"/>
                <a:t>= -0.5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B6BB1A-5E2E-3A48-A3D3-636C4209A420}"/>
                </a:ext>
              </a:extLst>
            </p:cNvPr>
            <p:cNvSpPr txBox="1"/>
            <p:nvPr/>
          </p:nvSpPr>
          <p:spPr>
            <a:xfrm rot="20637509">
              <a:off x="2364374" y="5739077"/>
              <a:ext cx="1255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35</a:t>
              </a:r>
              <a:r>
                <a:rPr lang="en-MX" dirty="0"/>
                <a:t>= 0.2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C1FF52-8816-2946-8448-3655559EDAC0}"/>
                </a:ext>
              </a:extLst>
            </p:cNvPr>
            <p:cNvSpPr txBox="1"/>
            <p:nvPr/>
          </p:nvSpPr>
          <p:spPr>
            <a:xfrm>
              <a:off x="4642338" y="2883876"/>
              <a:ext cx="1314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4</a:t>
              </a:r>
              <a:r>
                <a:rPr lang="en-MX" dirty="0"/>
                <a:t>(θ</a:t>
              </a:r>
              <a:r>
                <a:rPr lang="en-MX" baseline="-25000" dirty="0"/>
                <a:t>4</a:t>
              </a:r>
              <a:r>
                <a:rPr lang="en-MX" dirty="0"/>
                <a:t>) = -0.4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02F0CF-B589-A74E-9FEB-359A942F3F99}"/>
                </a:ext>
              </a:extLst>
            </p:cNvPr>
            <p:cNvSpPr txBox="1"/>
            <p:nvPr/>
          </p:nvSpPr>
          <p:spPr>
            <a:xfrm>
              <a:off x="4418633" y="4582575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5</a:t>
              </a:r>
              <a:r>
                <a:rPr lang="en-MX" dirty="0"/>
                <a:t>(θ</a:t>
              </a:r>
              <a:r>
                <a:rPr lang="en-MX" baseline="-25000" dirty="0"/>
                <a:t>5</a:t>
              </a:r>
              <a:r>
                <a:rPr lang="en-MX" dirty="0"/>
                <a:t>) = 0.2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7B0193-296C-4A4C-97C1-19ADD3AE6F44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5451200" y="3760817"/>
              <a:ext cx="2182632" cy="52010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DDA2A27-2F50-A645-AF5F-C6C22450D134}"/>
                </a:ext>
              </a:extLst>
            </p:cNvPr>
            <p:cNvCxnSpPr>
              <a:cxnSpLocks/>
              <a:stCxn id="8" idx="6"/>
              <a:endCxn id="9" idx="3"/>
            </p:cNvCxnSpPr>
            <p:nvPr/>
          </p:nvCxnSpPr>
          <p:spPr>
            <a:xfrm flipV="1">
              <a:off x="5441852" y="4867817"/>
              <a:ext cx="2191980" cy="53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939E8DD-9880-8E4D-8258-883C4A671D5A}"/>
                </a:ext>
              </a:extLst>
            </p:cNvPr>
            <p:cNvSpPr txBox="1"/>
            <p:nvPr/>
          </p:nvSpPr>
          <p:spPr>
            <a:xfrm rot="759617">
              <a:off x="5821316" y="3610373"/>
              <a:ext cx="1320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46</a:t>
              </a:r>
              <a:r>
                <a:rPr lang="en-MX" dirty="0"/>
                <a:t>= -0.3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B7B9DF7-3B08-BC44-A1BE-F928DA0D0076}"/>
                </a:ext>
              </a:extLst>
            </p:cNvPr>
            <p:cNvSpPr txBox="1"/>
            <p:nvPr/>
          </p:nvSpPr>
          <p:spPr>
            <a:xfrm rot="20994277">
              <a:off x="5743872" y="4816579"/>
              <a:ext cx="1375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56</a:t>
              </a:r>
              <a:r>
                <a:rPr lang="en-MX" dirty="0"/>
                <a:t>= -0.2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D19020-B418-464D-899C-7B3D52155622}"/>
                </a:ext>
              </a:extLst>
            </p:cNvPr>
            <p:cNvSpPr txBox="1"/>
            <p:nvPr/>
          </p:nvSpPr>
          <p:spPr>
            <a:xfrm>
              <a:off x="7461989" y="3826191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6</a:t>
              </a:r>
              <a:r>
                <a:rPr lang="en-MX" dirty="0"/>
                <a:t>(θ</a:t>
              </a:r>
              <a:r>
                <a:rPr lang="en-MX" baseline="-25000" dirty="0"/>
                <a:t>6</a:t>
              </a:r>
              <a:r>
                <a:rPr lang="en-MX" dirty="0"/>
                <a:t>) = 0.1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204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D2F1-9DAE-5D48-A850-11A94DC2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96" y="320429"/>
            <a:ext cx="10515600" cy="1840049"/>
          </a:xfrm>
        </p:spPr>
        <p:txBody>
          <a:bodyPr>
            <a:normAutofit fontScale="90000"/>
          </a:bodyPr>
          <a:lstStyle/>
          <a:p>
            <a:r>
              <a:rPr lang="en-MX" sz="4900" b="1" dirty="0"/>
              <a:t>Solution:</a:t>
            </a:r>
            <a:br>
              <a:rPr lang="en-MX" b="1" dirty="0"/>
            </a:br>
            <a:br>
              <a:rPr lang="en-MX" dirty="0"/>
            </a:br>
            <a:r>
              <a:rPr lang="en-MX" sz="2800" dirty="0"/>
              <a:t>Step 1: </a:t>
            </a:r>
            <a:br>
              <a:rPr lang="en-MX" sz="2800" dirty="0"/>
            </a:br>
            <a:r>
              <a:rPr lang="en-MX" sz="2800" dirty="0"/>
              <a:t>calculate y_pred (</a:t>
            </a:r>
            <a:r>
              <a:rPr lang="en-US" sz="2800" dirty="0"/>
              <a:t>a</a:t>
            </a:r>
            <a:r>
              <a:rPr lang="en-MX" sz="2800" baseline="-25000" dirty="0"/>
              <a:t>j</a:t>
            </a:r>
            <a:r>
              <a:rPr lang="en-MX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3CC3F-2929-3146-B012-B5D6F80DD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896" y="2366540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z</a:t>
                </a:r>
                <a:r>
                  <a:rPr lang="en-MX" baseline="-25000" dirty="0"/>
                  <a:t>j</a:t>
                </a:r>
                <a:r>
                  <a:rPr lang="en-MX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MX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s-ES" b="0" i="0" smtClean="0">
                        <a:latin typeface="Cambria Math" panose="02040503050406030204" pitchFamily="18" charset="0"/>
                      </a:rPr>
                      <m:t>          ,        </m:t>
                    </m:r>
                  </m:oMath>
                </a14:m>
                <a:r>
                  <a:rPr lang="en-US" dirty="0"/>
                  <a:t>a</a:t>
                </a:r>
                <a:r>
                  <a:rPr lang="en-MX" baseline="-25000" dirty="0"/>
                  <a:t>j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MX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MX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s-MX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s-E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MX" dirty="0"/>
              </a:p>
              <a:p>
                <a:pPr marL="0" indent="0">
                  <a:buNone/>
                </a:pPr>
                <a:endParaRPr lang="en-MX" dirty="0"/>
              </a:p>
              <a:p>
                <a:pPr marL="0" indent="0">
                  <a:buNone/>
                </a:pPr>
                <a:r>
                  <a:rPr lang="en-US" dirty="0"/>
                  <a:t>z</a:t>
                </a:r>
                <a:r>
                  <a:rPr lang="en-US" baseline="-25000" dirty="0"/>
                  <a:t>4</a:t>
                </a:r>
                <a:r>
                  <a:rPr lang="en-US" dirty="0"/>
                  <a:t>​=(w​</a:t>
                </a:r>
                <a:r>
                  <a:rPr lang="en-US" baseline="-25000" dirty="0"/>
                  <a:t>14 </a:t>
                </a:r>
                <a:r>
                  <a:rPr lang="en-US" dirty="0"/>
                  <a:t>* x</a:t>
                </a:r>
                <a:r>
                  <a:rPr lang="en-US" baseline="-25000" dirty="0"/>
                  <a:t>1</a:t>
                </a:r>
                <a:r>
                  <a:rPr lang="en-US" dirty="0"/>
                  <a:t>​)+(w</a:t>
                </a:r>
                <a:r>
                  <a:rPr lang="en-US" baseline="-25000" dirty="0"/>
                  <a:t>24</a:t>
                </a:r>
                <a:r>
                  <a:rPr lang="en-US" dirty="0"/>
                  <a:t>​*x</a:t>
                </a:r>
                <a:r>
                  <a:rPr lang="en-US" baseline="-25000" dirty="0"/>
                  <a:t>2</a:t>
                </a:r>
                <a:r>
                  <a:rPr lang="en-US" dirty="0"/>
                  <a:t>​)+(w</a:t>
                </a:r>
                <a:r>
                  <a:rPr lang="en-US" baseline="-25000" dirty="0"/>
                  <a:t>34</a:t>
                </a:r>
                <a:r>
                  <a:rPr lang="en-US" dirty="0"/>
                  <a:t>​*x</a:t>
                </a:r>
                <a:r>
                  <a:rPr lang="en-US" baseline="-25000" dirty="0"/>
                  <a:t>3</a:t>
                </a:r>
                <a:r>
                  <a:rPr lang="en-US" dirty="0"/>
                  <a:t>​)+</a:t>
                </a:r>
                <a:r>
                  <a:rPr lang="es-ES" dirty="0"/>
                  <a:t>b</a:t>
                </a:r>
                <a:r>
                  <a:rPr lang="el-GR" baseline="-25000" dirty="0"/>
                  <a:t>4</a:t>
                </a:r>
                <a:r>
                  <a:rPr lang="el-GR" dirty="0"/>
                  <a:t>​=</a:t>
                </a:r>
                <a:r>
                  <a:rPr lang="es-ES" dirty="0"/>
                  <a:t>(</a:t>
                </a:r>
                <a:r>
                  <a:rPr lang="el-GR" dirty="0"/>
                  <a:t>(0.2</a:t>
                </a:r>
                <a:r>
                  <a:rPr lang="es-ES" dirty="0"/>
                  <a:t>*</a:t>
                </a:r>
                <a:r>
                  <a:rPr lang="el-GR" dirty="0"/>
                  <a:t>1)+(0.4</a:t>
                </a:r>
                <a:r>
                  <a:rPr lang="es-ES" dirty="0"/>
                  <a:t>*</a:t>
                </a:r>
                <a:r>
                  <a:rPr lang="el-GR" dirty="0"/>
                  <a:t>0)+(−0.5</a:t>
                </a:r>
                <a:r>
                  <a:rPr lang="es-ES" dirty="0"/>
                  <a:t>*</a:t>
                </a:r>
                <a:r>
                  <a:rPr lang="el-GR" dirty="0"/>
                  <a:t>1)</a:t>
                </a:r>
                <a:r>
                  <a:rPr lang="es-ES" dirty="0"/>
                  <a:t>)</a:t>
                </a:r>
                <a:r>
                  <a:rPr lang="el-GR" dirty="0"/>
                  <a:t>+(−0.4)=</a:t>
                </a:r>
                <a:r>
                  <a:rPr lang="el-GR" dirty="0">
                    <a:solidFill>
                      <a:srgbClr val="FF0000"/>
                    </a:solidFill>
                  </a:rPr>
                  <a:t>−0.7</a:t>
                </a:r>
                <a:r>
                  <a:rPr lang="en-US" dirty="0">
                    <a:solidFill>
                      <a:srgbClr val="FF0000"/>
                    </a:solidFill>
                  </a:rPr>
                  <a:t>O</a:t>
                </a:r>
              </a:p>
              <a:p>
                <a:pPr marL="0" indent="0">
                  <a:buNone/>
                </a:pPr>
                <a:r>
                  <a:rPr lang="en-US" dirty="0"/>
                  <a:t>H</a:t>
                </a:r>
                <a:r>
                  <a:rPr lang="en-US" baseline="-25000" dirty="0"/>
                  <a:t>4</a:t>
                </a:r>
                <a:r>
                  <a:rPr lang="en-US" dirty="0"/>
                  <a:t> = f(z</a:t>
                </a:r>
                <a:r>
                  <a:rPr lang="en-US" baseline="-25000" dirty="0"/>
                  <a:t>4</a:t>
                </a:r>
                <a:r>
                  <a:rPr lang="en-US" dirty="0"/>
                  <a:t>)=1/(1+e</a:t>
                </a:r>
                <a:r>
                  <a:rPr lang="en-US" baseline="30000" dirty="0"/>
                  <a:t>-(-0.7)</a:t>
                </a:r>
                <a:r>
                  <a:rPr lang="en-US" dirty="0"/>
                  <a:t>)=</a:t>
                </a:r>
                <a:r>
                  <a:rPr lang="en-US" dirty="0">
                    <a:solidFill>
                      <a:srgbClr val="FF0000"/>
                    </a:solidFill>
                  </a:rPr>
                  <a:t>0.332O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z</a:t>
                </a:r>
                <a:r>
                  <a:rPr lang="en-US" baseline="-25000" dirty="0"/>
                  <a:t>5</a:t>
                </a:r>
                <a:r>
                  <a:rPr lang="en-US" dirty="0"/>
                  <a:t>​=(w​</a:t>
                </a:r>
                <a:r>
                  <a:rPr lang="en-US" baseline="-25000" dirty="0"/>
                  <a:t>15 </a:t>
                </a:r>
                <a:r>
                  <a:rPr lang="en-US" dirty="0"/>
                  <a:t>* x</a:t>
                </a:r>
                <a:r>
                  <a:rPr lang="en-US" baseline="-25000" dirty="0"/>
                  <a:t>1</a:t>
                </a:r>
                <a:r>
                  <a:rPr lang="en-US" dirty="0"/>
                  <a:t>​)+(w</a:t>
                </a:r>
                <a:r>
                  <a:rPr lang="en-US" baseline="-25000" dirty="0"/>
                  <a:t>25</a:t>
                </a:r>
                <a:r>
                  <a:rPr lang="en-US" dirty="0"/>
                  <a:t>​*x</a:t>
                </a:r>
                <a:r>
                  <a:rPr lang="en-US" baseline="-25000" dirty="0"/>
                  <a:t>2</a:t>
                </a:r>
                <a:r>
                  <a:rPr lang="en-US" dirty="0"/>
                  <a:t>​)+(w</a:t>
                </a:r>
                <a:r>
                  <a:rPr lang="en-US" baseline="-25000" dirty="0"/>
                  <a:t>35</a:t>
                </a:r>
                <a:r>
                  <a:rPr lang="en-US" dirty="0"/>
                  <a:t>​*x</a:t>
                </a:r>
                <a:r>
                  <a:rPr lang="en-US" baseline="-25000" dirty="0"/>
                  <a:t>3</a:t>
                </a:r>
                <a:r>
                  <a:rPr lang="en-US" dirty="0"/>
                  <a:t>​)+</a:t>
                </a:r>
                <a:r>
                  <a:rPr lang="es-ES" dirty="0"/>
                  <a:t>b</a:t>
                </a:r>
                <a:r>
                  <a:rPr lang="es-ES" baseline="-25000" dirty="0"/>
                  <a:t>5</a:t>
                </a:r>
                <a:r>
                  <a:rPr lang="el-GR" dirty="0"/>
                  <a:t>​=</a:t>
                </a:r>
                <a:r>
                  <a:rPr lang="es-ES" dirty="0"/>
                  <a:t>((</a:t>
                </a:r>
                <a:r>
                  <a:rPr lang="el-GR" dirty="0"/>
                  <a:t>−0.3</a:t>
                </a:r>
                <a:r>
                  <a:rPr lang="es-ES" dirty="0"/>
                  <a:t>*</a:t>
                </a:r>
                <a:r>
                  <a:rPr lang="el-GR" dirty="0"/>
                  <a:t>1</a:t>
                </a:r>
                <a:r>
                  <a:rPr lang="es-ES" dirty="0"/>
                  <a:t>)</a:t>
                </a:r>
                <a:r>
                  <a:rPr lang="el-GR" dirty="0"/>
                  <a:t>+(0.1</a:t>
                </a:r>
                <a:r>
                  <a:rPr lang="es-ES" dirty="0"/>
                  <a:t>*</a:t>
                </a:r>
                <a:r>
                  <a:rPr lang="el-GR" dirty="0"/>
                  <a:t>0)+(0.2</a:t>
                </a:r>
                <a:r>
                  <a:rPr lang="es-ES" dirty="0"/>
                  <a:t>*</a:t>
                </a:r>
                <a:r>
                  <a:rPr lang="el-GR" dirty="0"/>
                  <a:t>1)</a:t>
                </a:r>
                <a:r>
                  <a:rPr lang="es-ES" dirty="0"/>
                  <a:t>)</a:t>
                </a:r>
                <a:r>
                  <a:rPr lang="el-GR" dirty="0"/>
                  <a:t>+(0.2)=</a:t>
                </a:r>
                <a:r>
                  <a:rPr lang="el-GR" dirty="0">
                    <a:solidFill>
                      <a:srgbClr val="FF0000"/>
                    </a:solidFill>
                  </a:rPr>
                  <a:t>0.1</a:t>
                </a:r>
                <a:endParaRPr lang="es-E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H</a:t>
                </a:r>
                <a:r>
                  <a:rPr lang="en-US" baseline="-25000" dirty="0"/>
                  <a:t>5</a:t>
                </a:r>
                <a:r>
                  <a:rPr lang="en-US" dirty="0"/>
                  <a:t>= f(z</a:t>
                </a:r>
                <a:r>
                  <a:rPr lang="en-US" baseline="-25000" dirty="0"/>
                  <a:t>5</a:t>
                </a:r>
                <a:r>
                  <a:rPr lang="en-US" dirty="0"/>
                  <a:t>)=1/(1+e</a:t>
                </a:r>
                <a:r>
                  <a:rPr lang="en-US" baseline="30000" dirty="0"/>
                  <a:t>-(0.1)</a:t>
                </a:r>
                <a:r>
                  <a:rPr lang="en-US" dirty="0"/>
                  <a:t>)=</a:t>
                </a:r>
                <a:r>
                  <a:rPr lang="en-US" dirty="0">
                    <a:solidFill>
                      <a:srgbClr val="FF0000"/>
                    </a:solidFill>
                  </a:rPr>
                  <a:t>0.525</a:t>
                </a:r>
              </a:p>
              <a:p>
                <a:pPr marL="0" indent="0">
                  <a:buNone/>
                </a:pPr>
                <a:endParaRPr lang="es-E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z</a:t>
                </a:r>
                <a:r>
                  <a:rPr lang="en-US" baseline="-25000" dirty="0"/>
                  <a:t>6</a:t>
                </a:r>
                <a:r>
                  <a:rPr lang="en-US" dirty="0"/>
                  <a:t>​=(w​</a:t>
                </a:r>
                <a:r>
                  <a:rPr lang="en-US" baseline="-25000" dirty="0"/>
                  <a:t>46 </a:t>
                </a:r>
                <a:r>
                  <a:rPr lang="en-US" dirty="0"/>
                  <a:t>* H</a:t>
                </a:r>
                <a:r>
                  <a:rPr lang="en-US" baseline="-25000" dirty="0"/>
                  <a:t>4</a:t>
                </a:r>
                <a:r>
                  <a:rPr lang="en-US" dirty="0"/>
                  <a:t>​)+(w</a:t>
                </a:r>
                <a:r>
                  <a:rPr lang="en-US" baseline="-25000" dirty="0"/>
                  <a:t>56</a:t>
                </a:r>
                <a:r>
                  <a:rPr lang="en-US" dirty="0"/>
                  <a:t>​*H</a:t>
                </a:r>
                <a:r>
                  <a:rPr lang="en-US" baseline="-25000" dirty="0"/>
                  <a:t>5</a:t>
                </a:r>
                <a:r>
                  <a:rPr lang="en-US" dirty="0"/>
                  <a:t>​)+</a:t>
                </a:r>
                <a:r>
                  <a:rPr lang="es-ES" dirty="0"/>
                  <a:t>b</a:t>
                </a:r>
                <a:r>
                  <a:rPr lang="es-ES" baseline="-25000" dirty="0"/>
                  <a:t>6</a:t>
                </a:r>
                <a:r>
                  <a:rPr lang="el-GR" dirty="0"/>
                  <a:t>​=</a:t>
                </a:r>
                <a:r>
                  <a:rPr lang="es-ES" dirty="0"/>
                  <a:t>(</a:t>
                </a:r>
                <a:r>
                  <a:rPr lang="el-GR" dirty="0"/>
                  <a:t>(−0.3</a:t>
                </a:r>
                <a:r>
                  <a:rPr lang="es-ES" dirty="0"/>
                  <a:t>*</a:t>
                </a:r>
                <a:r>
                  <a:rPr lang="el-GR" dirty="0"/>
                  <a:t>0.332)+(−0.2</a:t>
                </a:r>
                <a:r>
                  <a:rPr lang="es-ES" dirty="0"/>
                  <a:t>*</a:t>
                </a:r>
                <a:r>
                  <a:rPr lang="el-GR" dirty="0"/>
                  <a:t>0.525)</a:t>
                </a:r>
                <a:r>
                  <a:rPr lang="es-ES" dirty="0"/>
                  <a:t>)</a:t>
                </a:r>
                <a:r>
                  <a:rPr lang="el-GR" dirty="0"/>
                  <a:t>+0.1=</a:t>
                </a:r>
                <a:r>
                  <a:rPr lang="el-GR" dirty="0">
                    <a:solidFill>
                      <a:srgbClr val="FF0000"/>
                    </a:solidFill>
                  </a:rPr>
                  <a:t>−0.105</a:t>
                </a:r>
                <a:endParaRPr lang="es-ES" dirty="0"/>
              </a:p>
              <a:p>
                <a:pPr marL="0" indent="0">
                  <a:buNone/>
                </a:pPr>
                <a:r>
                  <a:rPr lang="en-US" dirty="0"/>
                  <a:t>O</a:t>
                </a:r>
                <a:r>
                  <a:rPr lang="en-US" baseline="-25000" dirty="0"/>
                  <a:t>6</a:t>
                </a:r>
                <a:r>
                  <a:rPr lang="en-US" dirty="0"/>
                  <a:t> =f(z</a:t>
                </a:r>
                <a:r>
                  <a:rPr lang="en-US" baseline="-25000" dirty="0"/>
                  <a:t>6</a:t>
                </a:r>
                <a:r>
                  <a:rPr lang="en-US" dirty="0"/>
                  <a:t>)=1/(1+e</a:t>
                </a:r>
                <a:r>
                  <a:rPr lang="en-US" baseline="30000" dirty="0"/>
                  <a:t>-(-0.105)</a:t>
                </a:r>
                <a:r>
                  <a:rPr lang="en-US" dirty="0"/>
                  <a:t>)=</a:t>
                </a:r>
                <a:r>
                  <a:rPr lang="en-US" dirty="0">
                    <a:solidFill>
                      <a:srgbClr val="FF0000"/>
                    </a:solidFill>
                  </a:rPr>
                  <a:t>0.474O</a:t>
                </a:r>
                <a:endParaRPr lang="en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3CC3F-2929-3146-B012-B5D6F80DD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896" y="2366540"/>
                <a:ext cx="10515600" cy="4351338"/>
              </a:xfrm>
              <a:blipFill>
                <a:blip r:embed="rId2"/>
                <a:stretch>
                  <a:fillRect l="-1689" t="-16035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406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34B5-88BE-224F-A2EE-25363C8D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X" sz="2500" dirty="0"/>
              <a:t>Step 2:</a:t>
            </a:r>
            <a:br>
              <a:rPr lang="en-MX" sz="2500" dirty="0"/>
            </a:br>
            <a:r>
              <a:rPr lang="en-MX" sz="2500" dirty="0"/>
              <a:t>Calculate error (Loss)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13872-A78E-7946-B8C1-665763A623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84298" cy="4667250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(y – </a:t>
                </a:r>
                <a:r>
                  <a:rPr lang="en-US" dirty="0" err="1"/>
                  <a:t>y_pred</a:t>
                </a:r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L=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(1−0.474)</a:t>
                </a:r>
                <a:r>
                  <a:rPr lang="en-US" baseline="30000" dirty="0"/>
                  <a:t>2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(0.526)</a:t>
                </a:r>
                <a:r>
                  <a:rPr lang="en-US" baseline="30000" dirty="0"/>
                  <a:t>2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L=0.138</a:t>
                </a:r>
              </a:p>
              <a:p>
                <a:pPr marL="457200" lvl="1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Output layer delta (</a:t>
                </a:r>
                <a:r>
                  <a:rPr lang="el-GR" sz="2400" dirty="0"/>
                  <a:t>δ₆)</a:t>
                </a:r>
                <a:r>
                  <a:rPr lang="es-ES" sz="2400" dirty="0"/>
                  <a:t>:</a:t>
                </a:r>
              </a:p>
              <a:p>
                <a:endParaRPr lang="el-GR" sz="2400" dirty="0"/>
              </a:p>
              <a:p>
                <a:pPr marL="457200" lvl="1" indent="0">
                  <a:buNone/>
                </a:pPr>
                <a:r>
                  <a:rPr lang="el-GR" dirty="0"/>
                  <a:t>δ</a:t>
                </a:r>
                <a:r>
                  <a:rPr lang="el-GR" baseline="-25000" dirty="0"/>
                  <a:t>6</a:t>
                </a:r>
                <a:r>
                  <a:rPr lang="el-GR" dirty="0"/>
                  <a:t>=</a:t>
                </a:r>
                <a:r>
                  <a:rPr lang="en-US" dirty="0"/>
                  <a:t> O</a:t>
                </a:r>
                <a:r>
                  <a:rPr lang="en-US" baseline="-25000" dirty="0"/>
                  <a:t>6</a:t>
                </a:r>
                <a:r>
                  <a:rPr lang="en-US" dirty="0"/>
                  <a:t>(1− O</a:t>
                </a:r>
                <a:r>
                  <a:rPr lang="en-US" baseline="-25000" dirty="0"/>
                  <a:t>6</a:t>
                </a:r>
                <a:r>
                  <a:rPr lang="en-US" dirty="0"/>
                  <a:t>)(y− O</a:t>
                </a:r>
                <a:r>
                  <a:rPr lang="en-US" baseline="-25000" dirty="0"/>
                  <a:t>6</a:t>
                </a:r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r>
                  <a:rPr lang="el-GR" dirty="0"/>
                  <a:t>δ</a:t>
                </a:r>
                <a:r>
                  <a:rPr lang="el-GR" baseline="-25000" dirty="0"/>
                  <a:t>6</a:t>
                </a:r>
                <a:r>
                  <a:rPr lang="el-GR" dirty="0"/>
                  <a:t>=0.474(1−0.474)(1−0.474</a:t>
                </a:r>
                <a:r>
                  <a:rPr lang="es-ES" dirty="0"/>
                  <a:t>)</a:t>
                </a:r>
              </a:p>
              <a:p>
                <a:pPr marL="457200" lvl="1" indent="0">
                  <a:buNone/>
                </a:pPr>
                <a:r>
                  <a:rPr lang="el-GR" dirty="0"/>
                  <a:t>δ</a:t>
                </a:r>
                <a:r>
                  <a:rPr lang="el-GR" baseline="-25000" dirty="0"/>
                  <a:t>6</a:t>
                </a:r>
                <a:r>
                  <a:rPr lang="el-GR" dirty="0"/>
                  <a:t>​=0.474(1−0.474)(1−0.474) </a:t>
                </a:r>
                <a:endParaRPr lang="es-ES" dirty="0"/>
              </a:p>
              <a:p>
                <a:pPr marL="457200" lvl="1" indent="0">
                  <a:buNone/>
                </a:pPr>
                <a:r>
                  <a:rPr lang="el-GR" dirty="0"/>
                  <a:t>δ</a:t>
                </a:r>
                <a:r>
                  <a:rPr lang="el-GR" baseline="-25000" dirty="0"/>
                  <a:t>6</a:t>
                </a:r>
                <a:r>
                  <a:rPr lang="el-GR" dirty="0"/>
                  <a:t> =0.474</a:t>
                </a:r>
                <a:r>
                  <a:rPr lang="es-ES" dirty="0"/>
                  <a:t>*</a:t>
                </a:r>
                <a:r>
                  <a:rPr lang="el-GR" dirty="0"/>
                  <a:t>0.526</a:t>
                </a:r>
                <a:r>
                  <a:rPr lang="es-ES" dirty="0"/>
                  <a:t>*</a:t>
                </a:r>
                <a:r>
                  <a:rPr lang="el-GR" dirty="0"/>
                  <a:t>0.526</a:t>
                </a:r>
                <a:endParaRPr lang="es-ES" dirty="0"/>
              </a:p>
              <a:p>
                <a:pPr marL="457200" lvl="1" indent="0">
                  <a:buNone/>
                </a:pPr>
                <a:r>
                  <a:rPr lang="el-GR" dirty="0">
                    <a:solidFill>
                      <a:srgbClr val="FF0000"/>
                    </a:solidFill>
                  </a:rPr>
                  <a:t>δ</a:t>
                </a:r>
                <a:r>
                  <a:rPr lang="el-GR" baseline="-25000" dirty="0">
                    <a:solidFill>
                      <a:srgbClr val="FF0000"/>
                    </a:solidFill>
                  </a:rPr>
                  <a:t>6</a:t>
                </a:r>
                <a:r>
                  <a:rPr lang="el-GR" dirty="0">
                    <a:solidFill>
                      <a:srgbClr val="FF0000"/>
                    </a:solidFill>
                  </a:rPr>
                  <a:t> =0.131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13872-A78E-7946-B8C1-665763A62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84298" cy="4667250"/>
              </a:xfrm>
              <a:blipFill>
                <a:blip r:embed="rId2"/>
                <a:stretch>
                  <a:fillRect l="-1995" b="-4336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E5CDF5-13DC-B14E-A27F-C567D15D70D8}"/>
              </a:ext>
            </a:extLst>
          </p:cNvPr>
          <p:cNvSpPr txBox="1">
            <a:spLocks/>
          </p:cNvSpPr>
          <p:nvPr/>
        </p:nvSpPr>
        <p:spPr>
          <a:xfrm>
            <a:off x="725659" y="3834960"/>
            <a:ext cx="10515600" cy="105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X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0E310-E588-A448-B8A7-D70305985313}"/>
              </a:ext>
            </a:extLst>
          </p:cNvPr>
          <p:cNvSpPr txBox="1"/>
          <p:nvPr/>
        </p:nvSpPr>
        <p:spPr>
          <a:xfrm>
            <a:off x="6269504" y="1822450"/>
            <a:ext cx="535158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Hidden layer deltas </a:t>
            </a:r>
            <a:r>
              <a:rPr lang="el-GR" sz="2400" dirty="0"/>
              <a:t>δ₄</a:t>
            </a:r>
            <a:r>
              <a:rPr lang="es-ES" sz="2400" dirty="0"/>
              <a:t> and </a:t>
            </a:r>
            <a:r>
              <a:rPr lang="el-GR" sz="2400" dirty="0"/>
              <a:t>δ</a:t>
            </a:r>
            <a:r>
              <a:rPr lang="es-ES" sz="2400" baseline="-25000" dirty="0"/>
              <a:t>5</a:t>
            </a:r>
            <a:r>
              <a:rPr lang="el-GR" sz="2400" dirty="0"/>
              <a:t>:</a:t>
            </a:r>
            <a:endParaRPr lang="es-ES" sz="2400" dirty="0"/>
          </a:p>
          <a:p>
            <a:endParaRPr lang="es-ES" sz="2400" dirty="0"/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4</a:t>
            </a:r>
            <a:r>
              <a:rPr lang="el-GR" sz="2400" dirty="0"/>
              <a:t>=</a:t>
            </a:r>
            <a:r>
              <a:rPr lang="en-US" sz="2400" dirty="0"/>
              <a:t>H</a:t>
            </a:r>
            <a:r>
              <a:rPr lang="en-US" sz="2400" baseline="-25000" dirty="0"/>
              <a:t>4</a:t>
            </a:r>
            <a:r>
              <a:rPr lang="en-US" sz="2400" dirty="0"/>
              <a:t>(1−H</a:t>
            </a:r>
            <a:r>
              <a:rPr lang="en-US" sz="2400" baseline="-25000" dirty="0"/>
              <a:t>4</a:t>
            </a:r>
            <a:r>
              <a:rPr lang="en-US" sz="2400" dirty="0"/>
              <a:t>)(</a:t>
            </a:r>
            <a:r>
              <a:rPr lang="el-GR" sz="2400" dirty="0"/>
              <a:t>δ</a:t>
            </a:r>
            <a:r>
              <a:rPr lang="el-GR" sz="2400" baseline="-25000" dirty="0"/>
              <a:t>6</a:t>
            </a:r>
            <a:r>
              <a:rPr lang="es-ES" sz="2400" dirty="0"/>
              <a:t>*</a:t>
            </a:r>
            <a:r>
              <a:rPr lang="en-US" sz="2400" dirty="0"/>
              <a:t>w</a:t>
            </a:r>
            <a:r>
              <a:rPr lang="en-US" sz="2400" baseline="-25000" dirty="0"/>
              <a:t>46</a:t>
            </a:r>
            <a:r>
              <a:rPr lang="en-US" sz="2400" dirty="0"/>
              <a:t>)</a:t>
            </a:r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4</a:t>
            </a:r>
            <a:r>
              <a:rPr lang="el-GR" sz="2400" dirty="0"/>
              <a:t>​</a:t>
            </a:r>
            <a:r>
              <a:rPr lang="en-US" sz="2400" dirty="0"/>
              <a:t>=0.332(1−0.332)(0.131*−0.3)</a:t>
            </a:r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4 </a:t>
            </a:r>
            <a:r>
              <a:rPr lang="en-US" sz="2400" dirty="0"/>
              <a:t>=0.332 *0.668 * −0.0393</a:t>
            </a:r>
          </a:p>
          <a:p>
            <a:pPr lvl="1"/>
            <a:r>
              <a:rPr lang="el-GR" sz="2400" dirty="0">
                <a:solidFill>
                  <a:srgbClr val="FF0000"/>
                </a:solidFill>
              </a:rPr>
              <a:t>δ</a:t>
            </a:r>
            <a:r>
              <a:rPr lang="el-GR" sz="2400" baseline="-25000" dirty="0">
                <a:solidFill>
                  <a:srgbClr val="FF0000"/>
                </a:solidFill>
              </a:rPr>
              <a:t>4 </a:t>
            </a:r>
            <a:r>
              <a:rPr lang="en-US" sz="2400" dirty="0">
                <a:solidFill>
                  <a:srgbClr val="FF0000"/>
                </a:solidFill>
              </a:rPr>
              <a:t>=−0.0087</a:t>
            </a:r>
          </a:p>
          <a:p>
            <a:pPr lvl="1"/>
            <a:endParaRPr lang="es-ES" sz="2400" dirty="0"/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5</a:t>
            </a:r>
            <a:r>
              <a:rPr lang="el-GR" sz="2400" dirty="0"/>
              <a:t>=</a:t>
            </a:r>
            <a:r>
              <a:rPr lang="es-ES" sz="2400" dirty="0"/>
              <a:t> </a:t>
            </a:r>
            <a:r>
              <a:rPr lang="en-US" sz="2400" dirty="0"/>
              <a:t>H</a:t>
            </a:r>
            <a:r>
              <a:rPr lang="en-US" sz="2400" baseline="-25000" dirty="0"/>
              <a:t>5</a:t>
            </a:r>
            <a:r>
              <a:rPr lang="en-US" sz="2400" dirty="0"/>
              <a:t>(1−H5)(</a:t>
            </a:r>
            <a:r>
              <a:rPr lang="el-GR" sz="2400" dirty="0"/>
              <a:t>δ6</a:t>
            </a:r>
            <a:r>
              <a:rPr lang="es-ES" sz="2400" dirty="0"/>
              <a:t>*</a:t>
            </a:r>
            <a:r>
              <a:rPr lang="en-US" sz="2400" dirty="0"/>
              <a:t>w56)</a:t>
            </a:r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5 </a:t>
            </a:r>
            <a:r>
              <a:rPr lang="en-US" sz="2400" dirty="0"/>
              <a:t>= 0.525 *(1 − 0.525)(0.131 * −0.2)</a:t>
            </a:r>
          </a:p>
          <a:p>
            <a:pPr lvl="1"/>
            <a:r>
              <a:rPr lang="el-GR" sz="2400" dirty="0"/>
              <a:t>δ</a:t>
            </a:r>
            <a:r>
              <a:rPr lang="el-GR" sz="2400" baseline="-25000" dirty="0"/>
              <a:t>5 </a:t>
            </a:r>
            <a:r>
              <a:rPr lang="en-US" sz="2400" dirty="0"/>
              <a:t>=0.525*0.475*(−0.0262)</a:t>
            </a:r>
          </a:p>
          <a:p>
            <a:pPr lvl="1"/>
            <a:r>
              <a:rPr lang="el-GR" sz="2400" dirty="0">
                <a:solidFill>
                  <a:srgbClr val="FF0000"/>
                </a:solidFill>
              </a:rPr>
              <a:t>δ</a:t>
            </a:r>
            <a:r>
              <a:rPr lang="el-GR" sz="2400" baseline="-25000" dirty="0">
                <a:solidFill>
                  <a:srgbClr val="FF0000"/>
                </a:solidFill>
              </a:rPr>
              <a:t>5 </a:t>
            </a:r>
            <a:r>
              <a:rPr lang="en-US" sz="2400" dirty="0">
                <a:solidFill>
                  <a:srgbClr val="FF0000"/>
                </a:solidFill>
              </a:rPr>
              <a:t>=−0.0065</a:t>
            </a:r>
            <a:endParaRPr lang="en-MX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034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7589-69F8-B04F-B3F3-4C364725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68" y="180932"/>
            <a:ext cx="10515600" cy="1325563"/>
          </a:xfrm>
        </p:spPr>
        <p:txBody>
          <a:bodyPr anchor="ctr"/>
          <a:lstStyle/>
          <a:p>
            <a:r>
              <a:rPr lang="en-US" b="1" dirty="0"/>
              <a:t>Gradients (</a:t>
            </a:r>
            <a:r>
              <a:rPr lang="el-GR" b="1" dirty="0"/>
              <a:t>Δ</a:t>
            </a:r>
            <a:r>
              <a:rPr lang="en-US" b="1" dirty="0"/>
              <a:t>W)</a:t>
            </a:r>
            <a:endParaRPr lang="en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9603-F602-8043-BD16-910B5253C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68" y="1525510"/>
            <a:ext cx="48873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Output layer weights w</a:t>
            </a:r>
            <a:r>
              <a:rPr lang="en-US" sz="2400" baseline="-25000" dirty="0"/>
              <a:t>46 </a:t>
            </a:r>
            <a:r>
              <a:rPr lang="en-US" sz="2400" dirty="0"/>
              <a:t>and </a:t>
            </a:r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56 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46</a:t>
            </a:r>
            <a:r>
              <a:rPr lang="en-US" dirty="0"/>
              <a:t>=</a:t>
            </a:r>
            <a:r>
              <a:rPr lang="el-GR" dirty="0"/>
              <a:t>η⋅δ</a:t>
            </a:r>
            <a:r>
              <a:rPr lang="el-GR" baseline="-25000" dirty="0"/>
              <a:t>6</a:t>
            </a:r>
            <a:r>
              <a:rPr lang="el-GR" dirty="0"/>
              <a:t>⋅</a:t>
            </a:r>
            <a:r>
              <a:rPr lang="en-US" dirty="0"/>
              <a:t>H</a:t>
            </a:r>
            <a:r>
              <a:rPr lang="en-US" baseline="-25000" dirty="0"/>
              <a:t>4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46</a:t>
            </a:r>
            <a:r>
              <a:rPr lang="en-US" dirty="0"/>
              <a:t> =0.9*0.131*0.332</a:t>
            </a:r>
          </a:p>
          <a:p>
            <a:pPr marL="457200" lvl="1" indent="0">
              <a:buNone/>
            </a:pPr>
            <a:r>
              <a:rPr lang="el-GR" dirty="0">
                <a:solidFill>
                  <a:srgbClr val="FF0000"/>
                </a:solidFill>
              </a:rPr>
              <a:t>Δ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46</a:t>
            </a:r>
            <a:r>
              <a:rPr lang="en-US" dirty="0">
                <a:solidFill>
                  <a:srgbClr val="FF0000"/>
                </a:solidFill>
              </a:rPr>
              <a:t> =0.039</a:t>
            </a:r>
          </a:p>
          <a:p>
            <a:pPr marL="457200" lvl="1" indent="0">
              <a:buNone/>
            </a:pPr>
            <a:endParaRPr lang="es-ES" dirty="0"/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56</a:t>
            </a:r>
            <a:r>
              <a:rPr lang="en-US" dirty="0"/>
              <a:t>=</a:t>
            </a:r>
            <a:r>
              <a:rPr lang="el-GR" dirty="0"/>
              <a:t>η⋅δ</a:t>
            </a:r>
            <a:r>
              <a:rPr lang="el-GR" baseline="-25000" dirty="0"/>
              <a:t>6</a:t>
            </a:r>
            <a:r>
              <a:rPr lang="el-GR" dirty="0"/>
              <a:t>⋅</a:t>
            </a:r>
            <a:r>
              <a:rPr lang="en-US" dirty="0"/>
              <a:t>H</a:t>
            </a:r>
            <a:r>
              <a:rPr lang="en-US" baseline="-25000" dirty="0"/>
              <a:t>5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56</a:t>
            </a:r>
            <a:r>
              <a:rPr lang="en-US" dirty="0"/>
              <a:t>= 0.9*0.131*0.525</a:t>
            </a:r>
          </a:p>
          <a:p>
            <a:pPr marL="457200" lvl="1" indent="0">
              <a:buNone/>
            </a:pPr>
            <a:r>
              <a:rPr lang="el-GR" dirty="0">
                <a:solidFill>
                  <a:srgbClr val="FF0000"/>
                </a:solidFill>
              </a:rPr>
              <a:t>Δ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56</a:t>
            </a:r>
            <a:r>
              <a:rPr lang="en-US" dirty="0">
                <a:solidFill>
                  <a:srgbClr val="FF0000"/>
                </a:solidFill>
              </a:rPr>
              <a:t>​=0.062 </a:t>
            </a:r>
          </a:p>
          <a:p>
            <a:endParaRPr lang="en-MX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1D2D6-8EC3-EE40-AE3E-A251B352E4FB}"/>
              </a:ext>
            </a:extLst>
          </p:cNvPr>
          <p:cNvSpPr txBox="1"/>
          <p:nvPr/>
        </p:nvSpPr>
        <p:spPr>
          <a:xfrm>
            <a:off x="6096000" y="1525510"/>
            <a:ext cx="537971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Hidden layer weights w</a:t>
            </a:r>
            <a:r>
              <a:rPr lang="en-US" sz="2400" baseline="-25000" dirty="0"/>
              <a:t>14</a:t>
            </a:r>
            <a:r>
              <a:rPr lang="en-US" sz="2400" dirty="0"/>
              <a:t>, w</a:t>
            </a:r>
            <a:r>
              <a:rPr lang="en-US" sz="2400" baseline="-25000" dirty="0"/>
              <a:t>24</a:t>
            </a:r>
            <a:r>
              <a:rPr lang="en-US" sz="2400" dirty="0"/>
              <a:t> and  w</a:t>
            </a:r>
            <a:r>
              <a:rPr lang="en-US" sz="2400" baseline="-25000" dirty="0"/>
              <a:t>34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14 </a:t>
            </a:r>
            <a:r>
              <a:rPr lang="en-US" sz="2400" dirty="0"/>
              <a:t>= </a:t>
            </a:r>
            <a:r>
              <a:rPr lang="el-GR" sz="2400" dirty="0" err="1"/>
              <a:t>η⋅δ</a:t>
            </a:r>
            <a:r>
              <a:rPr lang="es-ES" sz="2400" baseline="-25000" dirty="0"/>
              <a:t>4</a:t>
            </a:r>
            <a:r>
              <a:rPr lang="el-GR" sz="2400" dirty="0"/>
              <a:t>⋅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endParaRPr lang="es-ES" sz="2400" dirty="0"/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14 </a:t>
            </a:r>
            <a:r>
              <a:rPr lang="en-US" sz="2400" dirty="0"/>
              <a:t>= 0.9*(−0.0087)*1</a:t>
            </a:r>
          </a:p>
          <a:p>
            <a:pPr lvl="1"/>
            <a:r>
              <a:rPr lang="el-GR" sz="2400" dirty="0">
                <a:solidFill>
                  <a:srgbClr val="FF0000"/>
                </a:solidFill>
              </a:rPr>
              <a:t>Δ</a:t>
            </a:r>
            <a:r>
              <a:rPr lang="en-US" sz="2400" dirty="0">
                <a:solidFill>
                  <a:srgbClr val="FF0000"/>
                </a:solidFill>
              </a:rPr>
              <a:t>w</a:t>
            </a:r>
            <a:r>
              <a:rPr lang="en-US" sz="2400" baseline="-25000" dirty="0">
                <a:solidFill>
                  <a:srgbClr val="FF0000"/>
                </a:solidFill>
              </a:rPr>
              <a:t>14 </a:t>
            </a:r>
            <a:r>
              <a:rPr lang="en-US" sz="2400" dirty="0">
                <a:solidFill>
                  <a:srgbClr val="FF0000"/>
                </a:solidFill>
              </a:rPr>
              <a:t>= − 0.0078</a:t>
            </a:r>
          </a:p>
          <a:p>
            <a:pPr lvl="1"/>
            <a:endParaRPr lang="en-US" sz="2400" dirty="0"/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24</a:t>
            </a:r>
            <a:r>
              <a:rPr lang="en-US" sz="2400" dirty="0"/>
              <a:t>​=</a:t>
            </a:r>
            <a:r>
              <a:rPr lang="el-GR" sz="2400" dirty="0"/>
              <a:t> </a:t>
            </a:r>
            <a:r>
              <a:rPr lang="el-GR" sz="2400" dirty="0" err="1"/>
              <a:t>η⋅δ</a:t>
            </a:r>
            <a:r>
              <a:rPr lang="es-ES" sz="2400" baseline="-25000" dirty="0"/>
              <a:t>4</a:t>
            </a:r>
            <a:r>
              <a:rPr lang="el-GR" sz="2400" dirty="0"/>
              <a:t>⋅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endParaRPr lang="en-US" sz="2400" dirty="0"/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24</a:t>
            </a:r>
            <a:r>
              <a:rPr lang="en-US" sz="2400" dirty="0"/>
              <a:t>​=</a:t>
            </a:r>
            <a:r>
              <a:rPr lang="el-GR" sz="2400" dirty="0"/>
              <a:t> </a:t>
            </a:r>
            <a:r>
              <a:rPr lang="en-US" sz="2400" dirty="0"/>
              <a:t>0.9*(−0.0087)*0</a:t>
            </a:r>
          </a:p>
          <a:p>
            <a:pPr lvl="1"/>
            <a:r>
              <a:rPr lang="el-GR" sz="2400" dirty="0">
                <a:solidFill>
                  <a:srgbClr val="FF0000"/>
                </a:solidFill>
              </a:rPr>
              <a:t>Δ</a:t>
            </a:r>
            <a:r>
              <a:rPr lang="en-US" sz="2400" dirty="0">
                <a:solidFill>
                  <a:srgbClr val="FF0000"/>
                </a:solidFill>
              </a:rPr>
              <a:t>w</a:t>
            </a:r>
            <a:r>
              <a:rPr lang="en-US" sz="2400" baseline="-25000" dirty="0">
                <a:solidFill>
                  <a:srgbClr val="FF0000"/>
                </a:solidFill>
              </a:rPr>
              <a:t>24</a:t>
            </a:r>
            <a:r>
              <a:rPr lang="en-US" sz="2400" dirty="0">
                <a:solidFill>
                  <a:srgbClr val="FF0000"/>
                </a:solidFill>
              </a:rPr>
              <a:t>​= 0</a:t>
            </a:r>
          </a:p>
          <a:p>
            <a:pPr lvl="1"/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34 </a:t>
            </a:r>
            <a:r>
              <a:rPr lang="en-US" sz="2400" dirty="0"/>
              <a:t>=  </a:t>
            </a:r>
            <a:r>
              <a:rPr lang="el-GR" sz="2400" dirty="0" err="1"/>
              <a:t>η⋅δ</a:t>
            </a:r>
            <a:r>
              <a:rPr lang="es-ES" sz="2400" baseline="-25000" dirty="0"/>
              <a:t>4</a:t>
            </a:r>
            <a:r>
              <a:rPr lang="el-GR" sz="2400" dirty="0"/>
              <a:t>⋅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</a:p>
          <a:p>
            <a:pPr lvl="1"/>
            <a:r>
              <a:rPr lang="el-GR" sz="2400" dirty="0"/>
              <a:t>Δ</a:t>
            </a:r>
            <a:r>
              <a:rPr lang="en-US" sz="2400" dirty="0"/>
              <a:t>w</a:t>
            </a:r>
            <a:r>
              <a:rPr lang="en-US" sz="2400" baseline="-25000" dirty="0"/>
              <a:t>34 </a:t>
            </a:r>
            <a:r>
              <a:rPr lang="en-US" sz="2400" dirty="0"/>
              <a:t>=0.9*(−0.0087)*1</a:t>
            </a:r>
          </a:p>
          <a:p>
            <a:pPr lvl="1"/>
            <a:r>
              <a:rPr lang="el-GR" sz="2400" dirty="0">
                <a:solidFill>
                  <a:srgbClr val="FF0000"/>
                </a:solidFill>
              </a:rPr>
              <a:t>Δ</a:t>
            </a:r>
            <a:r>
              <a:rPr lang="en-US" sz="2400" dirty="0">
                <a:solidFill>
                  <a:srgbClr val="FF0000"/>
                </a:solidFill>
              </a:rPr>
              <a:t>w</a:t>
            </a:r>
            <a:r>
              <a:rPr lang="en-US" sz="2400" baseline="-25000" dirty="0">
                <a:solidFill>
                  <a:srgbClr val="FF0000"/>
                </a:solidFill>
              </a:rPr>
              <a:t>34 </a:t>
            </a:r>
            <a:r>
              <a:rPr lang="en-US" sz="2400" dirty="0">
                <a:solidFill>
                  <a:srgbClr val="FF0000"/>
                </a:solidFill>
              </a:rPr>
              <a:t>=−0.0078</a:t>
            </a:r>
            <a:endParaRPr lang="en-MX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678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E33A2-3F43-7645-BB3B-A7AE9C79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942"/>
            <a:ext cx="10515600" cy="1325563"/>
          </a:xfrm>
        </p:spPr>
        <p:txBody>
          <a:bodyPr anchor="ctr"/>
          <a:lstStyle/>
          <a:p>
            <a:r>
              <a:rPr lang="en-US" b="1" dirty="0"/>
              <a:t>Gradients (</a:t>
            </a:r>
            <a:r>
              <a:rPr lang="el-GR" b="1" dirty="0"/>
              <a:t>Δ</a:t>
            </a:r>
            <a:r>
              <a:rPr lang="en-US" b="1" dirty="0"/>
              <a:t>W)</a:t>
            </a:r>
            <a:endParaRPr lang="en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D818-A34A-484A-8062-0AC18BDF6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505"/>
            <a:ext cx="52578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Hidden layer weights w</a:t>
            </a:r>
            <a:r>
              <a:rPr lang="en-US" sz="2400" baseline="-25000" dirty="0"/>
              <a:t>15</a:t>
            </a:r>
            <a:r>
              <a:rPr lang="en-US" sz="2400" dirty="0"/>
              <a:t>, w</a:t>
            </a:r>
            <a:r>
              <a:rPr lang="en-US" sz="2400" baseline="-25000" dirty="0"/>
              <a:t>25</a:t>
            </a:r>
            <a:r>
              <a:rPr lang="en-US" sz="2400" dirty="0"/>
              <a:t> and  w</a:t>
            </a:r>
            <a:r>
              <a:rPr lang="en-US" sz="2400" baseline="-25000" dirty="0"/>
              <a:t>35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15 </a:t>
            </a:r>
            <a:r>
              <a:rPr lang="en-US" dirty="0"/>
              <a:t>=</a:t>
            </a:r>
            <a:r>
              <a:rPr lang="el-GR" dirty="0" err="1"/>
              <a:t>η⋅δ</a:t>
            </a:r>
            <a:r>
              <a:rPr lang="es-ES" baseline="-25000" dirty="0"/>
              <a:t>5</a:t>
            </a:r>
            <a:r>
              <a:rPr lang="el-GR" dirty="0"/>
              <a:t>⋅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15 </a:t>
            </a:r>
            <a:r>
              <a:rPr lang="en-US" dirty="0"/>
              <a:t>= 0.9 *−0.0065 *1</a:t>
            </a:r>
          </a:p>
          <a:p>
            <a:pPr marL="457200" lvl="1" indent="0">
              <a:buNone/>
            </a:pPr>
            <a:r>
              <a:rPr lang="el-GR" dirty="0">
                <a:solidFill>
                  <a:srgbClr val="FF0000"/>
                </a:solidFill>
              </a:rPr>
              <a:t>Δ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15 </a:t>
            </a:r>
            <a:r>
              <a:rPr lang="en-US" dirty="0">
                <a:solidFill>
                  <a:srgbClr val="FF0000"/>
                </a:solidFill>
              </a:rPr>
              <a:t>=−0.0059</a:t>
            </a:r>
          </a:p>
          <a:p>
            <a:pPr marL="457200" lvl="1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25 </a:t>
            </a:r>
            <a:r>
              <a:rPr lang="en-US" dirty="0"/>
              <a:t>=</a:t>
            </a:r>
            <a:r>
              <a:rPr lang="el-GR" dirty="0" err="1"/>
              <a:t>η⋅δ</a:t>
            </a:r>
            <a:r>
              <a:rPr lang="es-ES" baseline="-25000" dirty="0"/>
              <a:t>5</a:t>
            </a:r>
            <a:r>
              <a:rPr lang="el-GR" dirty="0"/>
              <a:t>⋅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25 </a:t>
            </a:r>
            <a:r>
              <a:rPr lang="en-US" dirty="0"/>
              <a:t>= 0.9*−0.0065 *0</a:t>
            </a:r>
          </a:p>
          <a:p>
            <a:pPr marL="457200" lvl="1" indent="0">
              <a:buNone/>
            </a:pPr>
            <a:r>
              <a:rPr lang="el-GR" dirty="0">
                <a:solidFill>
                  <a:srgbClr val="FF0000"/>
                </a:solidFill>
              </a:rPr>
              <a:t>Δ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25 </a:t>
            </a:r>
            <a:r>
              <a:rPr lang="en-US" dirty="0">
                <a:solidFill>
                  <a:srgbClr val="FF0000"/>
                </a:solidFill>
              </a:rPr>
              <a:t>=0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35</a:t>
            </a:r>
            <a:r>
              <a:rPr lang="en-US" dirty="0"/>
              <a:t>= </a:t>
            </a:r>
            <a:r>
              <a:rPr lang="el-GR" dirty="0" err="1"/>
              <a:t>η⋅δ</a:t>
            </a:r>
            <a:r>
              <a:rPr lang="es-ES" baseline="-25000" dirty="0"/>
              <a:t>5</a:t>
            </a:r>
            <a:r>
              <a:rPr lang="el-GR" dirty="0"/>
              <a:t>⋅</a:t>
            </a:r>
            <a:r>
              <a:rPr lang="en-US" dirty="0"/>
              <a:t>X</a:t>
            </a:r>
            <a:r>
              <a:rPr lang="en-US" baseline="-25000" dirty="0"/>
              <a:t>3</a:t>
            </a:r>
            <a:endParaRPr lang="en-US" dirty="0"/>
          </a:p>
          <a:p>
            <a:pPr marL="457200" lvl="1" indent="0">
              <a:buNone/>
            </a:pPr>
            <a:r>
              <a:rPr lang="el-GR" dirty="0"/>
              <a:t>Δ</a:t>
            </a:r>
            <a:r>
              <a:rPr lang="en-US" dirty="0"/>
              <a:t>w</a:t>
            </a:r>
            <a:r>
              <a:rPr lang="en-US" baseline="-25000" dirty="0"/>
              <a:t>35 </a:t>
            </a:r>
            <a:r>
              <a:rPr lang="en-US" dirty="0"/>
              <a:t>= 0.9⋅(−0.0065)⋅1</a:t>
            </a:r>
          </a:p>
          <a:p>
            <a:pPr marL="457200" lvl="1" indent="0">
              <a:buNone/>
            </a:pPr>
            <a:r>
              <a:rPr lang="el-GR" dirty="0">
                <a:solidFill>
                  <a:srgbClr val="FF0000"/>
                </a:solidFill>
              </a:rPr>
              <a:t>Δ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35 </a:t>
            </a:r>
            <a:r>
              <a:rPr lang="en-US" dirty="0">
                <a:solidFill>
                  <a:srgbClr val="FF0000"/>
                </a:solidFill>
              </a:rPr>
              <a:t>= −0.0059</a:t>
            </a:r>
            <a:endParaRPr lang="es-E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MX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828424-EDE8-7347-848B-528D04E26F23}"/>
              </a:ext>
            </a:extLst>
          </p:cNvPr>
          <p:cNvGrpSpPr/>
          <p:nvPr/>
        </p:nvGrpSpPr>
        <p:grpSpPr>
          <a:xfrm>
            <a:off x="4779986" y="2426803"/>
            <a:ext cx="7412014" cy="4103077"/>
            <a:chOff x="1294226" y="2546278"/>
            <a:chExt cx="7412014" cy="410307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408BA0-1DFA-0A4E-98EA-B87A21E66CE9}"/>
                </a:ext>
              </a:extLst>
            </p:cNvPr>
            <p:cNvSpPr/>
            <p:nvPr/>
          </p:nvSpPr>
          <p:spPr>
            <a:xfrm>
              <a:off x="1294228" y="2546278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x</a:t>
              </a:r>
              <a:r>
                <a:rPr lang="en-MX" baseline="-25000" dirty="0"/>
                <a:t>1</a:t>
              </a:r>
              <a:r>
                <a:rPr lang="en-MX" dirty="0"/>
                <a:t>=1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E64AA4-1DC7-3649-A5E2-C9AC4EDD4C0D}"/>
                </a:ext>
              </a:extLst>
            </p:cNvPr>
            <p:cNvSpPr/>
            <p:nvPr/>
          </p:nvSpPr>
          <p:spPr>
            <a:xfrm>
              <a:off x="1294226" y="4182819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2</a:t>
              </a:r>
              <a:r>
                <a:rPr lang="en-MX" dirty="0"/>
                <a:t>=0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D4105E-EC49-2C4C-98F4-909987E9B448}"/>
                </a:ext>
              </a:extLst>
            </p:cNvPr>
            <p:cNvSpPr/>
            <p:nvPr/>
          </p:nvSpPr>
          <p:spPr>
            <a:xfrm>
              <a:off x="1294227" y="5819361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3</a:t>
              </a:r>
              <a:r>
                <a:rPr lang="en-MX" dirty="0"/>
                <a:t>=1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12D4B4-835B-1647-8568-25168F5AE6DF}"/>
                </a:ext>
              </a:extLst>
            </p:cNvPr>
            <p:cNvSpPr/>
            <p:nvPr/>
          </p:nvSpPr>
          <p:spPr>
            <a:xfrm>
              <a:off x="4386774" y="3352825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4</a:t>
              </a:r>
              <a:endParaRPr lang="en-MX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37CB5C-E628-754B-BED7-C0C2687EDB12}"/>
                </a:ext>
              </a:extLst>
            </p:cNvPr>
            <p:cNvSpPr/>
            <p:nvPr/>
          </p:nvSpPr>
          <p:spPr>
            <a:xfrm>
              <a:off x="4386775" y="4989367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AEE760A-7373-5048-8A3D-A09575F535E1}"/>
                </a:ext>
              </a:extLst>
            </p:cNvPr>
            <p:cNvSpPr/>
            <p:nvPr/>
          </p:nvSpPr>
          <p:spPr>
            <a:xfrm>
              <a:off x="7479320" y="4159373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O</a:t>
              </a:r>
              <a:r>
                <a:rPr lang="en-MX" baseline="-25000" dirty="0"/>
                <a:t>6</a:t>
              </a:r>
              <a:endParaRPr lang="en-MX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0952E-45A6-B245-A27F-3FA788DF9F9A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>
              <a:off x="2349305" y="2961275"/>
              <a:ext cx="2037469" cy="80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AC7F952-2F68-814C-8315-4C1AD292AE9E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135945" y="3280130"/>
              <a:ext cx="2405342" cy="18307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C7F25-5B5C-F54E-BF62-3C3DC3D7FD8C}"/>
                </a:ext>
              </a:extLst>
            </p:cNvPr>
            <p:cNvSpPr txBox="1"/>
            <p:nvPr/>
          </p:nvSpPr>
          <p:spPr>
            <a:xfrm rot="1313283">
              <a:off x="2954215" y="3066762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14</a:t>
              </a:r>
              <a:r>
                <a:rPr lang="en-MX" dirty="0"/>
                <a:t>= 0.2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1CF3F8-CDB1-364E-B44B-EC453227EEB1}"/>
                </a:ext>
              </a:extLst>
            </p:cNvPr>
            <p:cNvSpPr txBox="1"/>
            <p:nvPr/>
          </p:nvSpPr>
          <p:spPr>
            <a:xfrm rot="2029647">
              <a:off x="2842621" y="3731323"/>
              <a:ext cx="1096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15</a:t>
              </a:r>
              <a:r>
                <a:rPr lang="en-MX" dirty="0"/>
                <a:t>= -0.3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E58DEC1-E3D5-4E43-8681-BF627A20D39F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118153" y="4946524"/>
              <a:ext cx="2268622" cy="45784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EA7F51-5147-BD42-BD59-9935F7E8FC98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2286134" y="4061269"/>
              <a:ext cx="2255152" cy="33225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07CE43-47E9-7E46-847B-70C31CB6DEE3}"/>
                </a:ext>
              </a:extLst>
            </p:cNvPr>
            <p:cNvSpPr txBox="1"/>
            <p:nvPr/>
          </p:nvSpPr>
          <p:spPr>
            <a:xfrm rot="758438">
              <a:off x="2724924" y="4834734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25</a:t>
              </a:r>
              <a:r>
                <a:rPr lang="en-MX" dirty="0"/>
                <a:t>= 0.1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016F70-05F7-6F4B-BF6C-36ED21335851}"/>
                </a:ext>
              </a:extLst>
            </p:cNvPr>
            <p:cNvSpPr txBox="1"/>
            <p:nvPr/>
          </p:nvSpPr>
          <p:spPr>
            <a:xfrm rot="21018232">
              <a:off x="2063436" y="3958427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24</a:t>
              </a:r>
              <a:r>
                <a:rPr lang="en-MX" dirty="0"/>
                <a:t>= 0.4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1A4075-0608-724E-9044-8ECF6A78D229}"/>
                </a:ext>
              </a:extLst>
            </p:cNvPr>
            <p:cNvCxnSpPr>
              <a:cxnSpLocks/>
              <a:stCxn id="7" idx="7"/>
              <a:endCxn id="8" idx="4"/>
            </p:cNvCxnSpPr>
            <p:nvPr/>
          </p:nvCxnSpPr>
          <p:spPr>
            <a:xfrm flipV="1">
              <a:off x="2194792" y="4182819"/>
              <a:ext cx="2719521" cy="175809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83B65A-0104-974A-972C-DD8C9600A1FB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2286134" y="5697811"/>
              <a:ext cx="2255153" cy="63909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9C4CB3-689C-3E49-8B35-ECD8782F250A}"/>
                </a:ext>
              </a:extLst>
            </p:cNvPr>
            <p:cNvSpPr txBox="1"/>
            <p:nvPr/>
          </p:nvSpPr>
          <p:spPr>
            <a:xfrm rot="19896135">
              <a:off x="1983727" y="5305557"/>
              <a:ext cx="1255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34</a:t>
              </a:r>
              <a:r>
                <a:rPr lang="en-MX" dirty="0"/>
                <a:t>= -0.5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F34CD1-F26A-DE41-8EE4-A3BAE58A3D9D}"/>
                </a:ext>
              </a:extLst>
            </p:cNvPr>
            <p:cNvSpPr txBox="1"/>
            <p:nvPr/>
          </p:nvSpPr>
          <p:spPr>
            <a:xfrm rot="20637509">
              <a:off x="2364374" y="5739077"/>
              <a:ext cx="1255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35</a:t>
              </a:r>
              <a:r>
                <a:rPr lang="en-MX" dirty="0"/>
                <a:t>= 0.2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8EF6D3-5622-2144-8C7D-37577E57B32D}"/>
                </a:ext>
              </a:extLst>
            </p:cNvPr>
            <p:cNvSpPr txBox="1"/>
            <p:nvPr/>
          </p:nvSpPr>
          <p:spPr>
            <a:xfrm>
              <a:off x="4642338" y="2883876"/>
              <a:ext cx="1314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4</a:t>
              </a:r>
              <a:r>
                <a:rPr lang="en-MX" dirty="0"/>
                <a:t>(θ</a:t>
              </a:r>
              <a:r>
                <a:rPr lang="en-MX" baseline="-25000" dirty="0"/>
                <a:t>4</a:t>
              </a:r>
              <a:r>
                <a:rPr lang="en-MX" dirty="0"/>
                <a:t>) = -0.4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4ECCC09-9C60-A44C-B39A-24690A089EE3}"/>
                </a:ext>
              </a:extLst>
            </p:cNvPr>
            <p:cNvSpPr txBox="1"/>
            <p:nvPr/>
          </p:nvSpPr>
          <p:spPr>
            <a:xfrm>
              <a:off x="4418633" y="4582575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5</a:t>
              </a:r>
              <a:r>
                <a:rPr lang="en-MX" dirty="0"/>
                <a:t>(θ</a:t>
              </a:r>
              <a:r>
                <a:rPr lang="en-MX" baseline="-25000" dirty="0"/>
                <a:t>5</a:t>
              </a:r>
              <a:r>
                <a:rPr lang="en-MX" dirty="0"/>
                <a:t>) = 0.2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E1ED77B-2189-5E41-90C9-26CA6E69A81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5451200" y="3760817"/>
              <a:ext cx="2182632" cy="52010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E439412-7BEA-BA4A-8908-8CC2A8CFB156}"/>
                </a:ext>
              </a:extLst>
            </p:cNvPr>
            <p:cNvCxnSpPr>
              <a:cxnSpLocks/>
              <a:stCxn id="9" idx="6"/>
              <a:endCxn id="10" idx="3"/>
            </p:cNvCxnSpPr>
            <p:nvPr/>
          </p:nvCxnSpPr>
          <p:spPr>
            <a:xfrm flipV="1">
              <a:off x="5441852" y="4867817"/>
              <a:ext cx="2191980" cy="53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A56A09-621B-3445-A3F6-1580AA4BEEB7}"/>
                </a:ext>
              </a:extLst>
            </p:cNvPr>
            <p:cNvSpPr txBox="1"/>
            <p:nvPr/>
          </p:nvSpPr>
          <p:spPr>
            <a:xfrm rot="759617">
              <a:off x="5821316" y="3610373"/>
              <a:ext cx="1320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46</a:t>
              </a:r>
              <a:r>
                <a:rPr lang="en-MX" dirty="0"/>
                <a:t>= -0.3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07D3D0-F66E-C541-B562-017C45A39F27}"/>
                </a:ext>
              </a:extLst>
            </p:cNvPr>
            <p:cNvSpPr txBox="1"/>
            <p:nvPr/>
          </p:nvSpPr>
          <p:spPr>
            <a:xfrm rot="20994277">
              <a:off x="5743872" y="4816579"/>
              <a:ext cx="1375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56</a:t>
              </a:r>
              <a:r>
                <a:rPr lang="en-MX" dirty="0"/>
                <a:t>= -0.2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F297BA-5A89-5641-A902-64BD5C31D992}"/>
                </a:ext>
              </a:extLst>
            </p:cNvPr>
            <p:cNvSpPr txBox="1"/>
            <p:nvPr/>
          </p:nvSpPr>
          <p:spPr>
            <a:xfrm>
              <a:off x="7461989" y="3826191"/>
              <a:ext cx="1244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6</a:t>
              </a:r>
              <a:r>
                <a:rPr lang="en-MX" dirty="0"/>
                <a:t>(θ</a:t>
              </a:r>
              <a:r>
                <a:rPr lang="en-MX" baseline="-25000" dirty="0"/>
                <a:t>6</a:t>
              </a:r>
              <a:r>
                <a:rPr lang="en-MX" dirty="0"/>
                <a:t>) = 0.1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333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2BA0-5E23-DC41-955C-FDA144ED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91" y="94667"/>
            <a:ext cx="10515600" cy="1325563"/>
          </a:xfrm>
        </p:spPr>
        <p:txBody>
          <a:bodyPr>
            <a:normAutofit/>
          </a:bodyPr>
          <a:lstStyle/>
          <a:p>
            <a:r>
              <a:rPr lang="en-MX" sz="2500" dirty="0"/>
              <a:t>Step 3:</a:t>
            </a:r>
            <a:br>
              <a:rPr lang="en-MX" sz="2500" dirty="0"/>
            </a:br>
            <a:r>
              <a:rPr lang="en-MX" sz="2500" dirty="0"/>
              <a:t>Update weights and bias</a:t>
            </a:r>
            <a:br>
              <a:rPr lang="en-MX" sz="2500" dirty="0"/>
            </a:br>
            <a:endParaRPr lang="en-MX" sz="2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182E0-0347-E448-8AB3-04FA27166B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8091" y="1113543"/>
            <a:ext cx="5576455" cy="650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Output layer w</a:t>
            </a:r>
            <a:r>
              <a:rPr lang="en-US" sz="1800" b="1" baseline="-25000" dirty="0"/>
              <a:t>46</a:t>
            </a:r>
            <a:r>
              <a:rPr lang="en-US" sz="1800" b="1" dirty="0"/>
              <a:t>_new and w</a:t>
            </a:r>
            <a:r>
              <a:rPr lang="en-US" sz="1800" b="1" baseline="-25000" dirty="0"/>
              <a:t>56</a:t>
            </a:r>
            <a:r>
              <a:rPr lang="en-US" sz="1800" b="1" dirty="0"/>
              <a:t>_new: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46</a:t>
            </a:r>
            <a:r>
              <a:rPr lang="en-US" sz="1800" dirty="0"/>
              <a:t>_new = w</a:t>
            </a:r>
            <a:r>
              <a:rPr lang="en-US" sz="1800" baseline="-25000" dirty="0"/>
              <a:t>46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800" baseline="-25000" dirty="0"/>
              <a:t>46</a:t>
            </a:r>
            <a:r>
              <a:rPr lang="en-US" sz="1800" dirty="0"/>
              <a:t> 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46</a:t>
            </a:r>
            <a:r>
              <a:rPr lang="en-US" sz="1800" dirty="0"/>
              <a:t>_new= - 0.3+0.039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800" baseline="-25000" dirty="0">
                <a:solidFill>
                  <a:srgbClr val="FF0000"/>
                </a:solidFill>
              </a:rPr>
              <a:t>46</a:t>
            </a:r>
            <a:r>
              <a:rPr lang="en-US" sz="1800" dirty="0">
                <a:solidFill>
                  <a:srgbClr val="FF0000"/>
                </a:solidFill>
              </a:rPr>
              <a:t>_new = - 0.261</a:t>
            </a:r>
          </a:p>
          <a:p>
            <a:pPr marL="457200" lvl="1" indent="0">
              <a:buNone/>
            </a:pPr>
            <a:endParaRPr lang="en-US" sz="600" dirty="0"/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56</a:t>
            </a:r>
            <a:r>
              <a:rPr lang="en-US" sz="1800" dirty="0"/>
              <a:t>_new = w</a:t>
            </a:r>
            <a:r>
              <a:rPr lang="en-US" sz="1800" baseline="-25000" dirty="0"/>
              <a:t>56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800" baseline="-25000" dirty="0"/>
              <a:t>56</a:t>
            </a:r>
            <a:r>
              <a:rPr lang="en-US" sz="1800" dirty="0"/>
              <a:t> 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56</a:t>
            </a:r>
            <a:r>
              <a:rPr lang="en-US" sz="1800" dirty="0"/>
              <a:t>_new=−0.2+0.062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800" baseline="-25000" dirty="0">
                <a:solidFill>
                  <a:srgbClr val="FF0000"/>
                </a:solidFill>
              </a:rPr>
              <a:t>56</a:t>
            </a:r>
            <a:r>
              <a:rPr lang="en-US" sz="1800" dirty="0">
                <a:solidFill>
                  <a:srgbClr val="FF0000"/>
                </a:solidFill>
              </a:rPr>
              <a:t>_new =−0.138</a:t>
            </a:r>
          </a:p>
          <a:p>
            <a:pPr marL="12700" lvl="1" indent="0">
              <a:buNone/>
            </a:pPr>
            <a:r>
              <a:rPr lang="en-US" sz="1800" b="1" dirty="0"/>
              <a:t>Hidden layer w</a:t>
            </a:r>
            <a:r>
              <a:rPr lang="en-US" sz="1800" b="1" baseline="-25000" dirty="0"/>
              <a:t>15</a:t>
            </a:r>
            <a:r>
              <a:rPr lang="en-US" sz="1800" b="1" dirty="0"/>
              <a:t>_new,  w</a:t>
            </a:r>
            <a:r>
              <a:rPr lang="en-US" sz="1800" b="1" baseline="-25000" dirty="0"/>
              <a:t>25</a:t>
            </a:r>
            <a:r>
              <a:rPr lang="en-US" sz="1800" b="1" dirty="0"/>
              <a:t> _new and  w</a:t>
            </a:r>
            <a:r>
              <a:rPr lang="en-US" sz="1800" b="1" baseline="-25000" dirty="0"/>
              <a:t>35</a:t>
            </a:r>
            <a:r>
              <a:rPr lang="en-US" sz="1800" b="1" dirty="0"/>
              <a:t>_new</a:t>
            </a:r>
            <a:r>
              <a:rPr lang="en-US" sz="1800" dirty="0"/>
              <a:t>: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15</a:t>
            </a:r>
            <a:r>
              <a:rPr lang="en-US" sz="1800" dirty="0"/>
              <a:t>_new = w</a:t>
            </a:r>
            <a:r>
              <a:rPr lang="en-US" sz="1800" baseline="-25000" dirty="0"/>
              <a:t>15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800" baseline="-25000" dirty="0"/>
              <a:t>15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15</a:t>
            </a:r>
            <a:r>
              <a:rPr lang="en-US" sz="1800" dirty="0"/>
              <a:t>_new =</a:t>
            </a:r>
            <a:r>
              <a:rPr lang="en-US" sz="1800" baseline="-25000" dirty="0"/>
              <a:t> </a:t>
            </a:r>
            <a:r>
              <a:rPr lang="en-US" sz="1800" dirty="0"/>
              <a:t>-0.3 -0.0059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800" baseline="-25000" dirty="0">
                <a:solidFill>
                  <a:srgbClr val="FF0000"/>
                </a:solidFill>
              </a:rPr>
              <a:t>15</a:t>
            </a:r>
            <a:r>
              <a:rPr lang="en-US" sz="1800" dirty="0">
                <a:solidFill>
                  <a:srgbClr val="FF0000"/>
                </a:solidFill>
              </a:rPr>
              <a:t>_new = -0.306</a:t>
            </a:r>
          </a:p>
          <a:p>
            <a:pPr marL="457200" lvl="1" indent="0">
              <a:buNone/>
            </a:pPr>
            <a:endParaRPr lang="en-US" sz="6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sz="1800" baseline="-25000" dirty="0"/>
              <a:t>5</a:t>
            </a:r>
            <a:r>
              <a:rPr lang="en-US" sz="1800" dirty="0"/>
              <a:t>_new = w</a:t>
            </a:r>
            <a:r>
              <a:rPr lang="en-US" sz="1400" baseline="-25000" dirty="0"/>
              <a:t>2</a:t>
            </a:r>
            <a:r>
              <a:rPr lang="en-US" sz="1800" baseline="-25000" dirty="0"/>
              <a:t>5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sz="1800" baseline="-25000" dirty="0"/>
              <a:t>5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sz="1800" baseline="-25000" dirty="0"/>
              <a:t>5</a:t>
            </a:r>
            <a:r>
              <a:rPr lang="en-US" sz="1800" dirty="0"/>
              <a:t>_new =</a:t>
            </a:r>
            <a:r>
              <a:rPr lang="en-US" sz="1800" baseline="-25000" dirty="0"/>
              <a:t> </a:t>
            </a:r>
            <a:r>
              <a:rPr lang="en-US" sz="1800" dirty="0"/>
              <a:t>-0.1 </a:t>
            </a:r>
            <a:r>
              <a:rPr lang="en-US" sz="1400" dirty="0"/>
              <a:t>+ </a:t>
            </a:r>
            <a:r>
              <a:rPr lang="en-US" sz="1800" dirty="0"/>
              <a:t>0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800" baseline="-25000" dirty="0">
                <a:solidFill>
                  <a:srgbClr val="FF0000"/>
                </a:solidFill>
              </a:rPr>
              <a:t>5</a:t>
            </a:r>
            <a:r>
              <a:rPr lang="en-US" sz="1800" dirty="0">
                <a:solidFill>
                  <a:srgbClr val="FF0000"/>
                </a:solidFill>
              </a:rPr>
              <a:t>_new = 0.1</a:t>
            </a:r>
          </a:p>
          <a:p>
            <a:pPr marL="457200" lvl="1" indent="0">
              <a:buNone/>
            </a:pPr>
            <a:endParaRPr lang="en-US" sz="6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sz="1800" baseline="-25000" dirty="0"/>
              <a:t>5</a:t>
            </a:r>
            <a:r>
              <a:rPr lang="en-US" sz="1800" dirty="0"/>
              <a:t>_new = w</a:t>
            </a:r>
            <a:r>
              <a:rPr lang="en-US" sz="1400" baseline="-25000" dirty="0"/>
              <a:t>3</a:t>
            </a:r>
            <a:r>
              <a:rPr lang="en-US" sz="1800" baseline="-25000" dirty="0"/>
              <a:t>5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sz="1800" baseline="-25000" dirty="0"/>
              <a:t>5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sz="1800" baseline="-25000" dirty="0"/>
              <a:t>5</a:t>
            </a:r>
            <a:r>
              <a:rPr lang="en-US" sz="1800" dirty="0"/>
              <a:t>_new =</a:t>
            </a:r>
            <a:r>
              <a:rPr lang="en-US" sz="1800" baseline="-25000" dirty="0"/>
              <a:t> </a:t>
            </a:r>
            <a:r>
              <a:rPr lang="en-US" sz="1800" dirty="0"/>
              <a:t>0.2 - </a:t>
            </a:r>
            <a:r>
              <a:rPr lang="en-US" sz="1400" dirty="0"/>
              <a:t>0.0059</a:t>
            </a:r>
            <a:endParaRPr lang="es-ES" sz="1400" dirty="0"/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  <a:r>
              <a:rPr lang="en-US" sz="1800" baseline="-25000" dirty="0">
                <a:solidFill>
                  <a:srgbClr val="FF0000"/>
                </a:solidFill>
              </a:rPr>
              <a:t>5</a:t>
            </a:r>
            <a:r>
              <a:rPr lang="en-US" sz="1800" dirty="0">
                <a:solidFill>
                  <a:srgbClr val="FF0000"/>
                </a:solidFill>
              </a:rPr>
              <a:t>_new = 0.194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</a:p>
          <a:p>
            <a:pPr lvl="1"/>
            <a:endParaRPr lang="en-MX" sz="18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ED83D-E694-734E-AAA5-2DAAC1FB66F8}"/>
              </a:ext>
            </a:extLst>
          </p:cNvPr>
          <p:cNvSpPr txBox="1"/>
          <p:nvPr/>
        </p:nvSpPr>
        <p:spPr>
          <a:xfrm>
            <a:off x="6390657" y="1113543"/>
            <a:ext cx="6096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lvl="1" indent="-261938"/>
            <a:r>
              <a:rPr lang="en-US" sz="1800" b="1" dirty="0"/>
              <a:t>Hidden layer w</a:t>
            </a:r>
            <a:r>
              <a:rPr lang="en-US" sz="1800" b="1" baseline="-25000" dirty="0"/>
              <a:t>14</a:t>
            </a:r>
            <a:r>
              <a:rPr lang="en-US" sz="1800" b="1" dirty="0"/>
              <a:t>_new,  w</a:t>
            </a:r>
            <a:r>
              <a:rPr lang="en-US" sz="1800" b="1" baseline="-25000" dirty="0"/>
              <a:t>24</a:t>
            </a:r>
            <a:r>
              <a:rPr lang="en-US" sz="1800" b="1" dirty="0"/>
              <a:t> _new and  w</a:t>
            </a:r>
            <a:r>
              <a:rPr lang="en-US" sz="1800" b="1" baseline="-25000" dirty="0"/>
              <a:t>34</a:t>
            </a:r>
            <a:r>
              <a:rPr lang="en-US" sz="1800" b="1" dirty="0"/>
              <a:t>_new</a:t>
            </a:r>
            <a:r>
              <a:rPr lang="en-US" sz="1800" dirty="0"/>
              <a:t>:</a:t>
            </a: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800" baseline="-25000" dirty="0"/>
              <a:t>14</a:t>
            </a:r>
            <a:r>
              <a:rPr lang="en-US" sz="1800" dirty="0"/>
              <a:t>_new = w</a:t>
            </a:r>
            <a:r>
              <a:rPr lang="en-US" sz="1800" baseline="-25000" dirty="0"/>
              <a:t>14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800" baseline="-25000" dirty="0"/>
              <a:t>14</a:t>
            </a:r>
          </a:p>
          <a:p>
            <a:pPr lvl="1"/>
            <a:r>
              <a:rPr lang="en-US" sz="1800" dirty="0"/>
              <a:t>w</a:t>
            </a:r>
            <a:r>
              <a:rPr lang="en-US" sz="1800" baseline="-25000" dirty="0"/>
              <a:t>14</a:t>
            </a:r>
            <a:r>
              <a:rPr lang="en-US" sz="1800" dirty="0"/>
              <a:t>_new =</a:t>
            </a:r>
            <a:r>
              <a:rPr lang="en-US" sz="1800" baseline="-25000" dirty="0"/>
              <a:t> </a:t>
            </a:r>
            <a:r>
              <a:rPr lang="en-US" sz="1800" dirty="0"/>
              <a:t>0.2 − 0.0078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800" baseline="-25000" dirty="0">
                <a:solidFill>
                  <a:srgbClr val="FF0000"/>
                </a:solidFill>
              </a:rPr>
              <a:t>14</a:t>
            </a:r>
            <a:r>
              <a:rPr lang="en-US" sz="1800" dirty="0">
                <a:solidFill>
                  <a:srgbClr val="FF0000"/>
                </a:solidFill>
              </a:rPr>
              <a:t>_new = 0.192</a:t>
            </a: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baseline="-25000" dirty="0"/>
              <a:t>4</a:t>
            </a:r>
            <a:r>
              <a:rPr lang="en-US" sz="1800" dirty="0"/>
              <a:t>_new = w</a:t>
            </a:r>
            <a:r>
              <a:rPr lang="en-US" sz="1400" baseline="-25000" dirty="0"/>
              <a:t>2</a:t>
            </a:r>
            <a:r>
              <a:rPr lang="en-US" baseline="-25000" dirty="0"/>
              <a:t>4</a:t>
            </a:r>
            <a:r>
              <a:rPr lang="en-US" sz="1800" baseline="-25000" dirty="0"/>
              <a:t>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baseline="-25000" dirty="0"/>
              <a:t>4</a:t>
            </a:r>
            <a:endParaRPr lang="en-US" sz="1800" baseline="-25000" dirty="0"/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2</a:t>
            </a:r>
            <a:r>
              <a:rPr lang="en-US" baseline="-25000" dirty="0"/>
              <a:t>4</a:t>
            </a:r>
            <a:r>
              <a:rPr lang="en-US" sz="1800" dirty="0"/>
              <a:t>_new =</a:t>
            </a:r>
            <a:r>
              <a:rPr lang="en-US" sz="1800" baseline="-25000" dirty="0"/>
              <a:t> </a:t>
            </a:r>
            <a:r>
              <a:rPr lang="en-US" sz="1800" dirty="0"/>
              <a:t>0.4 </a:t>
            </a:r>
            <a:r>
              <a:rPr lang="en-US" sz="1400" dirty="0"/>
              <a:t>+ </a:t>
            </a:r>
            <a:r>
              <a:rPr lang="en-US" sz="1800" dirty="0"/>
              <a:t>0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sz="1800" dirty="0">
                <a:solidFill>
                  <a:srgbClr val="FF0000"/>
                </a:solidFill>
              </a:rPr>
              <a:t>_new = 0.4</a:t>
            </a:r>
          </a:p>
          <a:p>
            <a:pPr marL="457200" lvl="1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baseline="-25000" dirty="0"/>
              <a:t>4</a:t>
            </a:r>
            <a:r>
              <a:rPr lang="en-US" sz="1800" dirty="0"/>
              <a:t>_new = w</a:t>
            </a:r>
            <a:r>
              <a:rPr lang="en-US" sz="1400" baseline="-25000" dirty="0"/>
              <a:t>3</a:t>
            </a:r>
            <a:r>
              <a:rPr lang="en-US" baseline="-25000" dirty="0"/>
              <a:t>4</a:t>
            </a:r>
            <a:r>
              <a:rPr lang="en-US" sz="1800" baseline="-25000" dirty="0"/>
              <a:t> </a:t>
            </a:r>
            <a:r>
              <a:rPr lang="en-US" sz="1800" dirty="0"/>
              <a:t>+ </a:t>
            </a:r>
            <a:r>
              <a:rPr lang="el-GR" sz="1800" dirty="0"/>
              <a:t>Δ</a:t>
            </a: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baseline="-25000" dirty="0"/>
              <a:t>4</a:t>
            </a:r>
            <a:endParaRPr lang="en-US" sz="1800" baseline="-25000" dirty="0"/>
          </a:p>
          <a:p>
            <a:pPr marL="457200" lvl="1" indent="0">
              <a:buNone/>
            </a:pPr>
            <a:r>
              <a:rPr lang="en-US" sz="1800" dirty="0"/>
              <a:t>w</a:t>
            </a:r>
            <a:r>
              <a:rPr lang="en-US" sz="1400" baseline="-25000" dirty="0"/>
              <a:t>3</a:t>
            </a:r>
            <a:r>
              <a:rPr lang="en-US" baseline="-25000" dirty="0"/>
              <a:t>4</a:t>
            </a:r>
            <a:r>
              <a:rPr lang="en-US" sz="1800" dirty="0"/>
              <a:t>_new = -</a:t>
            </a:r>
            <a:r>
              <a:rPr lang="en-US" dirty="0"/>
              <a:t>0.5 - 0.0078</a:t>
            </a:r>
            <a:endParaRPr lang="es-ES" dirty="0"/>
          </a:p>
          <a:p>
            <a:pPr marL="457200" lvl="1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400" baseline="-25000" dirty="0">
                <a:solidFill>
                  <a:srgbClr val="FF0000"/>
                </a:solidFill>
              </a:rPr>
              <a:t>3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sz="1800" dirty="0">
                <a:solidFill>
                  <a:srgbClr val="FF0000"/>
                </a:solidFill>
              </a:rPr>
              <a:t>_new = -0.508</a:t>
            </a:r>
          </a:p>
        </p:txBody>
      </p:sp>
    </p:spTree>
    <p:extLst>
      <p:ext uri="{BB962C8B-B14F-4D97-AF65-F5344CB8AC3E}">
        <p14:creationId xmlns:p14="http://schemas.microsoft.com/office/powerpoint/2010/main" val="1459004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C9FFE4-4353-CC44-9CA9-89B709CA2D66}"/>
              </a:ext>
            </a:extLst>
          </p:cNvPr>
          <p:cNvSpPr txBox="1"/>
          <p:nvPr/>
        </p:nvSpPr>
        <p:spPr>
          <a:xfrm>
            <a:off x="233202" y="684220"/>
            <a:ext cx="719051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Output bias:</a:t>
            </a:r>
          </a:p>
          <a:p>
            <a:pPr marL="457200" lvl="1" indent="0">
              <a:buNone/>
            </a:pPr>
            <a:r>
              <a:rPr lang="es-ES" sz="2200" dirty="0"/>
              <a:t>b</a:t>
            </a:r>
            <a:r>
              <a:rPr lang="es-ES" sz="2200" baseline="-25000" dirty="0"/>
              <a:t>6</a:t>
            </a:r>
            <a:r>
              <a:rPr lang="es-ES" sz="2200" dirty="0"/>
              <a:t>_</a:t>
            </a:r>
            <a:r>
              <a:rPr lang="en-US" sz="2200" dirty="0"/>
              <a:t>new= </a:t>
            </a:r>
            <a:r>
              <a:rPr lang="es-ES" sz="2200" dirty="0"/>
              <a:t>b</a:t>
            </a:r>
            <a:r>
              <a:rPr lang="es-ES" sz="2200" baseline="-25000" dirty="0"/>
              <a:t>6 </a:t>
            </a:r>
            <a:r>
              <a:rPr lang="es-ES" sz="2200" dirty="0"/>
              <a:t>+ </a:t>
            </a:r>
            <a:r>
              <a:rPr lang="el-GR" sz="2200" dirty="0"/>
              <a:t>η</a:t>
            </a:r>
            <a:r>
              <a:rPr lang="es-ES" sz="2200" dirty="0"/>
              <a:t>.</a:t>
            </a:r>
            <a:r>
              <a:rPr lang="el-GR" sz="2200" dirty="0"/>
              <a:t>δ</a:t>
            </a:r>
            <a:r>
              <a:rPr lang="el-GR" sz="2200" baseline="-25000" dirty="0"/>
              <a:t>6</a:t>
            </a:r>
            <a:endParaRPr lang="en-US" sz="2200" b="1" dirty="0"/>
          </a:p>
          <a:p>
            <a:pPr marL="457200" lvl="1" indent="0">
              <a:buNone/>
            </a:pPr>
            <a:r>
              <a:rPr lang="es-ES" sz="2200" dirty="0"/>
              <a:t>b</a:t>
            </a:r>
            <a:r>
              <a:rPr lang="es-ES" sz="2200" baseline="-25000" dirty="0"/>
              <a:t>6</a:t>
            </a:r>
            <a:r>
              <a:rPr lang="es-ES" sz="2200" dirty="0"/>
              <a:t>_</a:t>
            </a:r>
            <a:r>
              <a:rPr lang="en-US" sz="2200" dirty="0"/>
              <a:t>new= 0.1+0.9*0.131</a:t>
            </a:r>
          </a:p>
          <a:p>
            <a:pPr marL="457200" lvl="1" indent="0">
              <a:buNone/>
            </a:pPr>
            <a:r>
              <a:rPr lang="es-ES" sz="2200" dirty="0">
                <a:solidFill>
                  <a:srgbClr val="FF0000"/>
                </a:solidFill>
              </a:rPr>
              <a:t>b</a:t>
            </a:r>
            <a:r>
              <a:rPr lang="es-ES" sz="2200" baseline="-25000" dirty="0">
                <a:solidFill>
                  <a:srgbClr val="FF0000"/>
                </a:solidFill>
              </a:rPr>
              <a:t>6</a:t>
            </a:r>
            <a:r>
              <a:rPr lang="es-ES" sz="2200" dirty="0">
                <a:solidFill>
                  <a:srgbClr val="FF0000"/>
                </a:solidFill>
              </a:rPr>
              <a:t>_</a:t>
            </a:r>
            <a:r>
              <a:rPr lang="en-US" sz="2200" dirty="0">
                <a:solidFill>
                  <a:srgbClr val="FF0000"/>
                </a:solidFill>
              </a:rPr>
              <a:t>new =0.218</a:t>
            </a:r>
          </a:p>
          <a:p>
            <a:pPr lvl="1"/>
            <a:endParaRPr lang="en-US" sz="2200" b="1" dirty="0"/>
          </a:p>
          <a:p>
            <a:pPr marL="12700" lvl="1"/>
            <a:r>
              <a:rPr lang="en-US" sz="2200" b="1" dirty="0"/>
              <a:t>Hidden bias</a:t>
            </a:r>
          </a:p>
          <a:p>
            <a:pPr lvl="1"/>
            <a:r>
              <a:rPr lang="en-US" sz="2200" b="1" dirty="0"/>
              <a:t>H5 bias:</a:t>
            </a:r>
            <a:endParaRPr lang="es-ES" sz="2200" dirty="0"/>
          </a:p>
          <a:p>
            <a:pPr marL="457200" lvl="1" indent="0">
              <a:buNone/>
            </a:pPr>
            <a:r>
              <a:rPr lang="es-ES" sz="2200" dirty="0"/>
              <a:t>b</a:t>
            </a:r>
            <a:r>
              <a:rPr lang="es-ES" sz="2200" baseline="-25000" dirty="0"/>
              <a:t>5</a:t>
            </a:r>
            <a:r>
              <a:rPr lang="es-ES" sz="2200" dirty="0"/>
              <a:t>_</a:t>
            </a:r>
            <a:r>
              <a:rPr lang="en-US" sz="2200" dirty="0"/>
              <a:t>new= </a:t>
            </a:r>
            <a:r>
              <a:rPr lang="es-ES" sz="2200" dirty="0"/>
              <a:t>b</a:t>
            </a:r>
            <a:r>
              <a:rPr lang="es-ES" sz="2200" baseline="-25000" dirty="0"/>
              <a:t>5 </a:t>
            </a:r>
            <a:r>
              <a:rPr lang="es-ES" sz="2200" dirty="0"/>
              <a:t>+ </a:t>
            </a:r>
            <a:r>
              <a:rPr lang="el-GR" sz="2200" dirty="0"/>
              <a:t>η</a:t>
            </a:r>
            <a:r>
              <a:rPr lang="es-ES" sz="2200" dirty="0"/>
              <a:t>.</a:t>
            </a:r>
            <a:r>
              <a:rPr lang="el-GR" sz="2200" dirty="0"/>
              <a:t>δ</a:t>
            </a:r>
            <a:r>
              <a:rPr lang="es-ES" sz="2200" baseline="-25000" dirty="0"/>
              <a:t>5</a:t>
            </a:r>
            <a:endParaRPr lang="en-US" sz="2200" b="1" dirty="0"/>
          </a:p>
          <a:p>
            <a:pPr lvl="1"/>
            <a:r>
              <a:rPr lang="es-ES" sz="2200" dirty="0"/>
              <a:t>b</a:t>
            </a:r>
            <a:r>
              <a:rPr lang="es-ES" sz="2200" baseline="-25000" dirty="0"/>
              <a:t>5</a:t>
            </a:r>
            <a:r>
              <a:rPr lang="es-ES" sz="2200" dirty="0"/>
              <a:t>_</a:t>
            </a:r>
            <a:r>
              <a:rPr lang="en-US" sz="2200" dirty="0"/>
              <a:t>new= 0.2+0.9*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−0.0065</a:t>
            </a:r>
          </a:p>
          <a:p>
            <a:pPr lvl="1"/>
            <a:r>
              <a:rPr lang="es-ES" sz="2200" dirty="0">
                <a:solidFill>
                  <a:srgbClr val="FF0000"/>
                </a:solidFill>
              </a:rPr>
              <a:t>b</a:t>
            </a:r>
            <a:r>
              <a:rPr lang="es-ES" sz="2200" baseline="-25000" dirty="0">
                <a:solidFill>
                  <a:srgbClr val="FF0000"/>
                </a:solidFill>
              </a:rPr>
              <a:t>5</a:t>
            </a:r>
            <a:r>
              <a:rPr lang="es-ES" sz="2200" dirty="0">
                <a:solidFill>
                  <a:srgbClr val="FF0000"/>
                </a:solidFill>
              </a:rPr>
              <a:t>_</a:t>
            </a:r>
            <a:r>
              <a:rPr lang="en-US" sz="2200" dirty="0">
                <a:solidFill>
                  <a:srgbClr val="FF0000"/>
                </a:solidFill>
              </a:rPr>
              <a:t>new =0.194</a:t>
            </a:r>
          </a:p>
          <a:p>
            <a:pPr lvl="1"/>
            <a:endParaRPr lang="en-US" sz="2200" b="1" dirty="0"/>
          </a:p>
          <a:p>
            <a:pPr lvl="1"/>
            <a:r>
              <a:rPr lang="en-US" sz="2200" b="1" dirty="0"/>
              <a:t>H4 bias:</a:t>
            </a:r>
            <a:endParaRPr lang="es-ES" sz="2200" dirty="0"/>
          </a:p>
          <a:p>
            <a:pPr marL="457200" lvl="1" indent="0">
              <a:buNone/>
            </a:pPr>
            <a:r>
              <a:rPr lang="es-ES" sz="2200" dirty="0"/>
              <a:t>b</a:t>
            </a:r>
            <a:r>
              <a:rPr lang="es-ES" sz="2200" baseline="-25000" dirty="0"/>
              <a:t>4</a:t>
            </a:r>
            <a:r>
              <a:rPr lang="es-ES" sz="2200" dirty="0"/>
              <a:t>_</a:t>
            </a:r>
            <a:r>
              <a:rPr lang="en-US" sz="2200" dirty="0"/>
              <a:t>new= </a:t>
            </a:r>
            <a:r>
              <a:rPr lang="es-ES" sz="2200" dirty="0"/>
              <a:t>b</a:t>
            </a:r>
            <a:r>
              <a:rPr lang="es-ES" sz="2200" baseline="-25000" dirty="0"/>
              <a:t>4 </a:t>
            </a:r>
            <a:r>
              <a:rPr lang="es-ES" sz="2200" dirty="0"/>
              <a:t>+ </a:t>
            </a:r>
            <a:r>
              <a:rPr lang="el-GR" sz="2200" dirty="0"/>
              <a:t>η</a:t>
            </a:r>
            <a:r>
              <a:rPr lang="es-ES" sz="2200" dirty="0"/>
              <a:t>.</a:t>
            </a:r>
            <a:r>
              <a:rPr lang="el-GR" sz="2200" dirty="0"/>
              <a:t>δ</a:t>
            </a:r>
            <a:r>
              <a:rPr lang="es-ES" sz="2200" baseline="-25000" dirty="0"/>
              <a:t>4</a:t>
            </a:r>
            <a:endParaRPr lang="en-US" sz="2200" b="1" dirty="0"/>
          </a:p>
          <a:p>
            <a:pPr lvl="1"/>
            <a:r>
              <a:rPr lang="es-ES" sz="2200" dirty="0"/>
              <a:t>b</a:t>
            </a:r>
            <a:r>
              <a:rPr lang="es-ES" sz="2200" baseline="-25000" dirty="0"/>
              <a:t>4</a:t>
            </a:r>
            <a:r>
              <a:rPr lang="es-ES" sz="2200" dirty="0"/>
              <a:t>_</a:t>
            </a:r>
            <a:r>
              <a:rPr lang="en-US" sz="2200" dirty="0"/>
              <a:t>new= -0.4+0.9*−0.0087</a:t>
            </a:r>
          </a:p>
          <a:p>
            <a:pPr marL="457200" lvl="1" indent="0">
              <a:buNone/>
            </a:pPr>
            <a:r>
              <a:rPr lang="es-ES" sz="2200" dirty="0">
                <a:solidFill>
                  <a:srgbClr val="FF0000"/>
                </a:solidFill>
              </a:rPr>
              <a:t>b</a:t>
            </a:r>
            <a:r>
              <a:rPr lang="es-ES" sz="2200" baseline="-25000" dirty="0">
                <a:solidFill>
                  <a:srgbClr val="FF0000"/>
                </a:solidFill>
              </a:rPr>
              <a:t>4</a:t>
            </a:r>
            <a:r>
              <a:rPr lang="es-ES" sz="2200" dirty="0">
                <a:solidFill>
                  <a:srgbClr val="FF0000"/>
                </a:solidFill>
              </a:rPr>
              <a:t>_</a:t>
            </a:r>
            <a:r>
              <a:rPr lang="en-US" sz="2200" dirty="0">
                <a:solidFill>
                  <a:srgbClr val="FF0000"/>
                </a:solidFill>
              </a:rPr>
              <a:t>new = -0.408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6CDF19-8F2B-774D-8687-11ECC54916E3}"/>
              </a:ext>
            </a:extLst>
          </p:cNvPr>
          <p:cNvGrpSpPr/>
          <p:nvPr/>
        </p:nvGrpSpPr>
        <p:grpSpPr>
          <a:xfrm>
            <a:off x="4281480" y="1534898"/>
            <a:ext cx="7646053" cy="4103077"/>
            <a:chOff x="1294226" y="2546278"/>
            <a:chExt cx="7646053" cy="410307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D4544F-1950-1448-8A1C-D9F417D6CCFD}"/>
                </a:ext>
              </a:extLst>
            </p:cNvPr>
            <p:cNvSpPr/>
            <p:nvPr/>
          </p:nvSpPr>
          <p:spPr>
            <a:xfrm>
              <a:off x="1294228" y="2546278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x</a:t>
              </a:r>
              <a:r>
                <a:rPr lang="en-MX" baseline="-25000" dirty="0"/>
                <a:t>1</a:t>
              </a:r>
              <a:r>
                <a:rPr lang="en-MX" dirty="0"/>
                <a:t>=1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41E80B4-9F17-2D40-A846-93F496468B2C}"/>
                </a:ext>
              </a:extLst>
            </p:cNvPr>
            <p:cNvSpPr/>
            <p:nvPr/>
          </p:nvSpPr>
          <p:spPr>
            <a:xfrm>
              <a:off x="1294226" y="4182819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2</a:t>
              </a:r>
              <a:r>
                <a:rPr lang="en-MX" dirty="0"/>
                <a:t>=0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07BF5ED-14F8-2F42-90C5-05120B76A8EE}"/>
                </a:ext>
              </a:extLst>
            </p:cNvPr>
            <p:cNvSpPr/>
            <p:nvPr/>
          </p:nvSpPr>
          <p:spPr>
            <a:xfrm>
              <a:off x="1294227" y="5819361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r>
                <a:rPr lang="en-MX" baseline="-25000" dirty="0"/>
                <a:t>3</a:t>
              </a:r>
              <a:r>
                <a:rPr lang="en-MX" dirty="0"/>
                <a:t>=1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A646F2-BF56-424A-A249-1BA217807770}"/>
                </a:ext>
              </a:extLst>
            </p:cNvPr>
            <p:cNvSpPr/>
            <p:nvPr/>
          </p:nvSpPr>
          <p:spPr>
            <a:xfrm>
              <a:off x="4386774" y="3352825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4</a:t>
              </a:r>
              <a:endParaRPr lang="en-MX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1D5261-10FE-2341-ADDC-EF4BAC7C4742}"/>
                </a:ext>
              </a:extLst>
            </p:cNvPr>
            <p:cNvSpPr/>
            <p:nvPr/>
          </p:nvSpPr>
          <p:spPr>
            <a:xfrm>
              <a:off x="4386775" y="4989367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H</a:t>
              </a:r>
              <a:r>
                <a:rPr lang="en-MX" baseline="-25000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866C4D-71E5-B648-8198-9B6ABB8A338D}"/>
                </a:ext>
              </a:extLst>
            </p:cNvPr>
            <p:cNvSpPr/>
            <p:nvPr/>
          </p:nvSpPr>
          <p:spPr>
            <a:xfrm>
              <a:off x="7479320" y="4159373"/>
              <a:ext cx="1055077" cy="829994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X" dirty="0"/>
                <a:t>O</a:t>
              </a:r>
              <a:r>
                <a:rPr lang="en-MX" baseline="-25000" dirty="0"/>
                <a:t>6</a:t>
              </a:r>
              <a:endParaRPr lang="en-MX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E2AD9D-2FC4-904A-9088-D549D0BE9EEC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349305" y="2961275"/>
              <a:ext cx="2037469" cy="80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03F89D-267E-2E4A-83AC-205EBDFB2593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2135945" y="3280130"/>
              <a:ext cx="2405342" cy="18307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0C860C-85B0-FB4B-887A-B3909E8B7F54}"/>
                </a:ext>
              </a:extLst>
            </p:cNvPr>
            <p:cNvSpPr txBox="1"/>
            <p:nvPr/>
          </p:nvSpPr>
          <p:spPr>
            <a:xfrm rot="1313283">
              <a:off x="2945889" y="3109821"/>
              <a:ext cx="1286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14</a:t>
              </a:r>
              <a:r>
                <a:rPr lang="en-MX" dirty="0"/>
                <a:t>= 0.192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95AE9E-3F48-BA48-BFC3-7A4E4A8759F3}"/>
                </a:ext>
              </a:extLst>
            </p:cNvPr>
            <p:cNvSpPr txBox="1"/>
            <p:nvPr/>
          </p:nvSpPr>
          <p:spPr>
            <a:xfrm rot="2029647">
              <a:off x="2585030" y="3652994"/>
              <a:ext cx="13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15</a:t>
              </a:r>
              <a:r>
                <a:rPr lang="en-MX" dirty="0"/>
                <a:t>= -0.306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43C025-23D2-574D-9DF0-B74E550D8A1B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2118153" y="4946524"/>
              <a:ext cx="2268622" cy="45784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FD7902C-EC14-5946-A2A2-C4BDFBA981D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2286134" y="4061269"/>
              <a:ext cx="2255152" cy="33225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7CEEA8-B47C-3B4E-872F-5C71832337EE}"/>
                </a:ext>
              </a:extLst>
            </p:cNvPr>
            <p:cNvSpPr txBox="1"/>
            <p:nvPr/>
          </p:nvSpPr>
          <p:spPr>
            <a:xfrm rot="758438">
              <a:off x="2461685" y="4737749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25</a:t>
              </a:r>
              <a:r>
                <a:rPr lang="en-MX" dirty="0"/>
                <a:t>= 0.1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20668D-AD9D-B448-BB80-72A1B98F2FD2}"/>
                </a:ext>
              </a:extLst>
            </p:cNvPr>
            <p:cNvSpPr txBox="1"/>
            <p:nvPr/>
          </p:nvSpPr>
          <p:spPr>
            <a:xfrm rot="21018232">
              <a:off x="2063436" y="3958427"/>
              <a:ext cx="1055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24</a:t>
              </a:r>
              <a:r>
                <a:rPr lang="en-MX" dirty="0"/>
                <a:t>= 0.4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D7B20E0-4350-CA4F-8000-3FD42C0EA416}"/>
                </a:ext>
              </a:extLst>
            </p:cNvPr>
            <p:cNvCxnSpPr>
              <a:cxnSpLocks/>
              <a:stCxn id="8" idx="7"/>
              <a:endCxn id="9" idx="4"/>
            </p:cNvCxnSpPr>
            <p:nvPr/>
          </p:nvCxnSpPr>
          <p:spPr>
            <a:xfrm flipV="1">
              <a:off x="2194792" y="4182819"/>
              <a:ext cx="2719521" cy="175809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03F4F40-CBE8-0C45-AFD9-F73EAD39A541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2286134" y="5697811"/>
              <a:ext cx="2255153" cy="63909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E40106-2A0F-6840-9A85-3587667DAD1E}"/>
                </a:ext>
              </a:extLst>
            </p:cNvPr>
            <p:cNvSpPr txBox="1"/>
            <p:nvPr/>
          </p:nvSpPr>
          <p:spPr>
            <a:xfrm rot="19896135">
              <a:off x="1813454" y="5248797"/>
              <a:ext cx="155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34</a:t>
              </a:r>
              <a:r>
                <a:rPr lang="en-MX" dirty="0"/>
                <a:t>= -0.508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19E9D9-4B7D-4B4A-8F93-1062E3A7A7DB}"/>
                </a:ext>
              </a:extLst>
            </p:cNvPr>
            <p:cNvSpPr txBox="1"/>
            <p:nvPr/>
          </p:nvSpPr>
          <p:spPr>
            <a:xfrm rot="20637509">
              <a:off x="2364374" y="5739077"/>
              <a:ext cx="1255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35</a:t>
              </a:r>
              <a:r>
                <a:rPr lang="en-MX" dirty="0"/>
                <a:t>= 0.194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87EC9F-EB34-3343-BDA3-6FA587B5BB05}"/>
                </a:ext>
              </a:extLst>
            </p:cNvPr>
            <p:cNvSpPr txBox="1"/>
            <p:nvPr/>
          </p:nvSpPr>
          <p:spPr>
            <a:xfrm>
              <a:off x="4642338" y="2883876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4</a:t>
              </a:r>
              <a:r>
                <a:rPr lang="en-MX" dirty="0"/>
                <a:t>(θ</a:t>
              </a:r>
              <a:r>
                <a:rPr lang="en-MX" baseline="-25000" dirty="0"/>
                <a:t>4</a:t>
              </a:r>
              <a:r>
                <a:rPr lang="en-MX" dirty="0"/>
                <a:t>) = -0.408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18DB49-7CC9-AC4B-AAEE-C1C6B3280AA9}"/>
                </a:ext>
              </a:extLst>
            </p:cNvPr>
            <p:cNvSpPr txBox="1"/>
            <p:nvPr/>
          </p:nvSpPr>
          <p:spPr>
            <a:xfrm>
              <a:off x="4418633" y="4582575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5</a:t>
              </a:r>
              <a:r>
                <a:rPr lang="en-MX" dirty="0"/>
                <a:t>(θ</a:t>
              </a:r>
              <a:r>
                <a:rPr lang="en-MX" baseline="-25000" dirty="0"/>
                <a:t>5</a:t>
              </a:r>
              <a:r>
                <a:rPr lang="en-MX" dirty="0"/>
                <a:t>) = 0.194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0BCEAD0-6F6D-224D-9432-9F2475330559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5451200" y="3760817"/>
              <a:ext cx="2182632" cy="52010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026473-81C7-C44D-9701-072CA8DBB67A}"/>
                </a:ext>
              </a:extLst>
            </p:cNvPr>
            <p:cNvCxnSpPr>
              <a:cxnSpLocks/>
              <a:stCxn id="10" idx="6"/>
              <a:endCxn id="11" idx="3"/>
            </p:cNvCxnSpPr>
            <p:nvPr/>
          </p:nvCxnSpPr>
          <p:spPr>
            <a:xfrm flipV="1">
              <a:off x="5441852" y="4867817"/>
              <a:ext cx="2191980" cy="53654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BD36F8-E3C3-E048-96C6-F63E311B3E3A}"/>
                </a:ext>
              </a:extLst>
            </p:cNvPr>
            <p:cNvSpPr txBox="1"/>
            <p:nvPr/>
          </p:nvSpPr>
          <p:spPr>
            <a:xfrm rot="759617">
              <a:off x="5821316" y="3610373"/>
              <a:ext cx="1320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46</a:t>
              </a:r>
              <a:r>
                <a:rPr lang="en-MX" dirty="0"/>
                <a:t>= -0.261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FC3C6D6-111C-E649-8CD1-D4FEB5A33D42}"/>
                </a:ext>
              </a:extLst>
            </p:cNvPr>
            <p:cNvSpPr txBox="1"/>
            <p:nvPr/>
          </p:nvSpPr>
          <p:spPr>
            <a:xfrm rot="20994277">
              <a:off x="5743872" y="4816579"/>
              <a:ext cx="1375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MX" baseline="-25000" dirty="0"/>
                <a:t>56</a:t>
              </a:r>
              <a:r>
                <a:rPr lang="en-MX" dirty="0"/>
                <a:t>= -0.138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1CC7CE-0DCE-7A43-9073-9AD9D4169915}"/>
                </a:ext>
              </a:extLst>
            </p:cNvPr>
            <p:cNvSpPr txBox="1"/>
            <p:nvPr/>
          </p:nvSpPr>
          <p:spPr>
            <a:xfrm>
              <a:off x="7461989" y="3826191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X" dirty="0"/>
                <a:t>B</a:t>
              </a:r>
              <a:r>
                <a:rPr lang="en-MX" baseline="-25000" dirty="0"/>
                <a:t>6</a:t>
              </a:r>
              <a:r>
                <a:rPr lang="en-MX" dirty="0"/>
                <a:t>(θ</a:t>
              </a:r>
              <a:r>
                <a:rPr lang="en-MX" baseline="-25000" dirty="0"/>
                <a:t>6</a:t>
              </a:r>
              <a:r>
                <a:rPr lang="en-MX" dirty="0"/>
                <a:t>) = 0.218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6764D4-DA1F-C042-8D98-A77BF109549A}"/>
              </a:ext>
            </a:extLst>
          </p:cNvPr>
          <p:cNvSpPr txBox="1"/>
          <p:nvPr/>
        </p:nvSpPr>
        <p:spPr>
          <a:xfrm>
            <a:off x="6285703" y="921585"/>
            <a:ext cx="248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dirty="0"/>
              <a:t>Updated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659451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3D43B-7B70-1C4A-95F1-E15813E7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161" y="42883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Neural Network Classification</a:t>
            </a:r>
            <a:br>
              <a:rPr lang="en-US" b="1" dirty="0"/>
            </a:br>
            <a:br>
              <a:rPr lang="en-US" dirty="0"/>
            </a:br>
            <a:r>
              <a:rPr lang="en-MX" sz="3100" b="1" dirty="0"/>
              <a:t>Example 1: </a:t>
            </a:r>
            <a:endParaRPr lang="en-MX" b="1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7C74-4275-9E48-92CF-001D2FAB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Using </a:t>
            </a:r>
            <a:r>
              <a:rPr lang="en-US" sz="2400" dirty="0" err="1"/>
              <a:t>lode_digits</a:t>
            </a:r>
            <a:r>
              <a:rPr lang="en-US" sz="2400" dirty="0"/>
              <a:t> dataset that, consists of 1,797 samples, where each sample is represented as a fixed-size 8×8 matrix.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There are 10 possible classes or labels (0, 1, 2, 3, ..., 9).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Each class contains approximately 180 samples, and the features are integer numbers between 0 and 16.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This dataset is available in Scikit-learn.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In this exercise, you will implement a neural network using the Python library </a:t>
            </a:r>
            <a:r>
              <a:rPr lang="en-US" sz="2400" dirty="0" err="1"/>
              <a:t>Keras</a:t>
            </a:r>
            <a:r>
              <a:rPr lang="en-US" sz="2400" dirty="0"/>
              <a:t> to train and test a model for the automatic recognition of handwritten.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MX" sz="2400" dirty="0"/>
          </a:p>
        </p:txBody>
      </p:sp>
    </p:spTree>
    <p:extLst>
      <p:ext uri="{BB962C8B-B14F-4D97-AF65-F5344CB8AC3E}">
        <p14:creationId xmlns:p14="http://schemas.microsoft.com/office/powerpoint/2010/main" val="3758115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152A-FD57-8D49-98F7-7BCBA0E0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b="1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A98F1-666F-024B-9968-354328D0D186}"/>
              </a:ext>
            </a:extLst>
          </p:cNvPr>
          <p:cNvSpPr txBox="1"/>
          <p:nvPr/>
        </p:nvSpPr>
        <p:spPr>
          <a:xfrm>
            <a:off x="838200" y="1690688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load_digits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1A5E6-6EC4-B642-985D-7C3A5ABBAEDD}"/>
              </a:ext>
            </a:extLst>
          </p:cNvPr>
          <p:cNvSpPr txBox="1"/>
          <p:nvPr/>
        </p:nvSpPr>
        <p:spPr>
          <a:xfrm>
            <a:off x="838200" y="3151279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images=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load_digits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images.data.shape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images.target.shape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6C91D-BE9B-0441-AF1B-692C466BE0CE}"/>
              </a:ext>
            </a:extLst>
          </p:cNvPr>
          <p:cNvSpPr txBox="1"/>
          <p:nvPr/>
        </p:nvSpPr>
        <p:spPr>
          <a:xfrm>
            <a:off x="838200" y="4398915"/>
            <a:ext cx="11480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index,(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image,label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zip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images.data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images.target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])):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,index+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np.reshape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(image,(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)),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plt.cm.gray_r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"Training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{label}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909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698D41-39EF-9442-873B-21B38BC37CEA}"/>
              </a:ext>
            </a:extLst>
          </p:cNvPr>
          <p:cNvSpPr txBox="1"/>
          <p:nvPr/>
        </p:nvSpPr>
        <p:spPr>
          <a:xfrm>
            <a:off x="437137" y="397752"/>
            <a:ext cx="11754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x_train,x_test,y_train,y_test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samples,labels,test_size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,random_state=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0CC43-8C4B-4149-B2B2-0A113B852310}"/>
              </a:ext>
            </a:extLst>
          </p:cNvPr>
          <p:cNvSpPr txBox="1"/>
          <p:nvPr/>
        </p:nvSpPr>
        <p:spPr>
          <a:xfrm>
            <a:off x="437137" y="1689711"/>
            <a:ext cx="1151445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keras.models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Sequential </a:t>
            </a:r>
          </a:p>
          <a:p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keras.layers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Dense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Define the neural network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Sequential()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input_shape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],)))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256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64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(Dense(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softmax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Compile the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sz="16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compile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(optimizer=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adam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,loss=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'sparse_categorical_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crossentropy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,metrics=[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Train the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epochs=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batch_size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,validation_split=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Evaluate the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test_loss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model.evaluate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'Test accuracy:'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test_acc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9391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25E2B4-F5EC-AD47-BE1D-D45D55A7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84" y="97568"/>
            <a:ext cx="10370838" cy="2061837"/>
          </a:xfrm>
        </p:spPr>
        <p:txBody>
          <a:bodyPr>
            <a:normAutofit/>
          </a:bodyPr>
          <a:lstStyle/>
          <a:p>
            <a:r>
              <a:rPr lang="en-US" b="1" dirty="0"/>
              <a:t>Neural Network Classification</a:t>
            </a:r>
            <a:br>
              <a:rPr lang="en-US" sz="3200" b="1" dirty="0"/>
            </a:br>
            <a:br>
              <a:rPr lang="en-US" sz="3200" dirty="0"/>
            </a:br>
            <a:r>
              <a:rPr lang="en-MX" sz="3200" dirty="0"/>
              <a:t>Example 2: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C9C2-990C-CD45-84FC-EE6DEB843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517" y="2473494"/>
            <a:ext cx="10629142" cy="806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/>
              </a:rPr>
              <a:t>Implement a </a:t>
            </a:r>
            <a:r>
              <a:rPr lang="en-US" sz="2000" dirty="0"/>
              <a:t>Neural Network Regression model </a:t>
            </a:r>
            <a:r>
              <a:rPr lang="en-US" sz="2000" dirty="0">
                <a:effectLst/>
              </a:rPr>
              <a:t>using </a:t>
            </a:r>
            <a:r>
              <a:rPr lang="en-US" sz="2000" dirty="0" err="1"/>
              <a:t>tensorflow</a:t>
            </a:r>
            <a:r>
              <a:rPr lang="en-US" sz="2000" dirty="0"/>
              <a:t> library in </a:t>
            </a:r>
            <a:r>
              <a:rPr lang="en-US" sz="2000" dirty="0">
                <a:effectLst/>
              </a:rPr>
              <a:t>python and the following </a:t>
            </a:r>
            <a:r>
              <a:rPr lang="en-US" sz="2000" dirty="0"/>
              <a:t>dataset (</a:t>
            </a:r>
            <a:r>
              <a:rPr lang="en-US" sz="2000" dirty="0" err="1"/>
              <a:t>insurance.csv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MX" sz="2000" dirty="0"/>
          </a:p>
        </p:txBody>
      </p:sp>
      <p:pic>
        <p:nvPicPr>
          <p:cNvPr id="5" name="Picture 4" descr="A screenshot of a number&#10;&#10;Description automatically generated">
            <a:extLst>
              <a:ext uri="{FF2B5EF4-FFF2-40B4-BE49-F238E27FC236}">
                <a16:creationId xmlns:a16="http://schemas.microsoft.com/office/drawing/2014/main" id="{27E21A9A-5607-5B46-AF23-BE965CA21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47"/>
          <a:stretch/>
        </p:blipFill>
        <p:spPr>
          <a:xfrm>
            <a:off x="2662350" y="3408004"/>
            <a:ext cx="6867300" cy="2724737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20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D85B-F94F-D942-84F7-9F7C9D46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95" y="226625"/>
            <a:ext cx="10515600" cy="1325563"/>
          </a:xfrm>
        </p:spPr>
        <p:txBody>
          <a:bodyPr/>
          <a:lstStyle/>
          <a:p>
            <a:r>
              <a:rPr lang="en-MX" b="1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26E3E-3317-8C42-A27E-6A444F7D2866}"/>
              </a:ext>
            </a:extLst>
          </p:cNvPr>
          <p:cNvSpPr txBox="1"/>
          <p:nvPr/>
        </p:nvSpPr>
        <p:spPr>
          <a:xfrm>
            <a:off x="657895" y="1552188"/>
            <a:ext cx="610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Importing the libraries </a:t>
            </a:r>
            <a:endParaRPr lang="en-US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EBCD2-3EDC-0844-9E93-571F495193D2}"/>
              </a:ext>
            </a:extLst>
          </p:cNvPr>
          <p:cNvSpPr txBox="1"/>
          <p:nvPr/>
        </p:nvSpPr>
        <p:spPr>
          <a:xfrm>
            <a:off x="657895" y="3015232"/>
            <a:ext cx="10964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Importing the dataset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"/content/drive/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MyDrive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/AI course/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insurance.csv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ED736-1448-4743-988B-942F198E7FA8}"/>
              </a:ext>
            </a:extLst>
          </p:cNvPr>
          <p:cNvSpPr txBox="1"/>
          <p:nvPr/>
        </p:nvSpPr>
        <p:spPr>
          <a:xfrm>
            <a:off x="657895" y="4215561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Analysis the dataset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df.dtypes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df.nunique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df.isna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9F2C5-A7F1-1345-B8D6-45F696A59D95}"/>
              </a:ext>
            </a:extLst>
          </p:cNvPr>
          <p:cNvSpPr txBox="1"/>
          <p:nvPr/>
        </p:nvSpPr>
        <p:spPr>
          <a:xfrm>
            <a:off x="657895" y="5656451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Encoding categorical data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pd.get_dummies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df,drop_first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df.shape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30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EEDE30-6393-7346-A32C-FB76905BABFB}"/>
              </a:ext>
            </a:extLst>
          </p:cNvPr>
          <p:cNvSpPr txBox="1"/>
          <p:nvPr/>
        </p:nvSpPr>
        <p:spPr>
          <a:xfrm>
            <a:off x="607841" y="719623"/>
            <a:ext cx="109763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Data Visualization Building the Correlation matrix </a:t>
            </a:r>
            <a:endParaRPr lang="en-US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sns.heatmap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df.corr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annot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,cmap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"Blues"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4C6B3-85EE-D74E-9DF2-9AEA3CE73DEB}"/>
              </a:ext>
            </a:extLst>
          </p:cNvPr>
          <p:cNvSpPr txBox="1"/>
          <p:nvPr/>
        </p:nvSpPr>
        <p:spPr>
          <a:xfrm>
            <a:off x="629528" y="2400830"/>
            <a:ext cx="106105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#Extracting the Independent and Dependent variables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df.drop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charges"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,axis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df[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"charges"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y.head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1C624-86E6-A946-8FC7-5AFD2C58AEE7}"/>
              </a:ext>
            </a:extLst>
          </p:cNvPr>
          <p:cNvSpPr txBox="1"/>
          <p:nvPr/>
        </p:nvSpPr>
        <p:spPr>
          <a:xfrm>
            <a:off x="629528" y="4359036"/>
            <a:ext cx="9555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Splitting the dataset into the Training set and Test set </a:t>
            </a:r>
            <a:endParaRPr lang="en-US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x_train,x_test,y_train,y_test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x,y,test_size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571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5BD8CF-B03D-0C44-833C-374321F01D55}"/>
              </a:ext>
            </a:extLst>
          </p:cNvPr>
          <p:cNvSpPr txBox="1"/>
          <p:nvPr/>
        </p:nvSpPr>
        <p:spPr>
          <a:xfrm>
            <a:off x="464233" y="368289"/>
            <a:ext cx="94675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Built the model and Fitting the Training set </a:t>
            </a:r>
            <a:endParaRPr lang="en-US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tensorflow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tf.keras.Sequential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input_shape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x_train.shape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],)),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tf.keras.layers.Dense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)])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compile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(optimizer=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adam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,loss=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mse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,metrics=[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mae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x_train,y_train,epochs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,validation_split=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884CB-DCDB-FF48-8A13-26EBF88F8D60}"/>
              </a:ext>
            </a:extLst>
          </p:cNvPr>
          <p:cNvSpPr txBox="1"/>
          <p:nvPr/>
        </p:nvSpPr>
        <p:spPr>
          <a:xfrm>
            <a:off x="464233" y="4272677"/>
            <a:ext cx="113104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689954"/>
                </a:solidFill>
                <a:effectLst/>
                <a:latin typeface="Menlo" panose="020B0609030804020204" pitchFamily="49" charset="0"/>
              </a:rPr>
              <a:t># Model evaluation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loss,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model.evaluate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"Loss (MSE):"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loss)</a:t>
            </a:r>
          </a:p>
          <a:p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"MAE:"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r2_score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"R2 Score:"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r2_score(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1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40887</TotalTime>
  <Words>3913</Words>
  <Application>Microsoft Macintosh PowerPoint</Application>
  <PresentationFormat>Widescreen</PresentationFormat>
  <Paragraphs>597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Courier New</vt:lpstr>
      <vt:lpstr>KaTeX_Main</vt:lpstr>
      <vt:lpstr>KaTeX_Math</vt:lpstr>
      <vt:lpstr>Menlo</vt:lpstr>
      <vt:lpstr>Office Theme</vt:lpstr>
      <vt:lpstr>Machine Learning Neural Networks</vt:lpstr>
      <vt:lpstr>Neural networks</vt:lpstr>
      <vt:lpstr>From brain to machine neural networks</vt:lpstr>
      <vt:lpstr>Biological Neuron (Brain)</vt:lpstr>
      <vt:lpstr>Human brain </vt:lpstr>
      <vt:lpstr>Neural networks in ML </vt:lpstr>
      <vt:lpstr>Neural networks components</vt:lpstr>
      <vt:lpstr>Neural networks</vt:lpstr>
      <vt:lpstr>Connections</vt:lpstr>
      <vt:lpstr>Weights and Biases</vt:lpstr>
      <vt:lpstr>Learning rule</vt:lpstr>
      <vt:lpstr>Neural networks layers</vt:lpstr>
      <vt:lpstr>Propagation functions</vt:lpstr>
      <vt:lpstr>Forward propagation</vt:lpstr>
      <vt:lpstr>Forward propagation</vt:lpstr>
      <vt:lpstr>Forward propagation</vt:lpstr>
      <vt:lpstr>PowerPoint Presentation</vt:lpstr>
      <vt:lpstr>Activation functions Types</vt:lpstr>
      <vt:lpstr>Sigmoid function</vt:lpstr>
      <vt:lpstr>Softmax funtion</vt:lpstr>
      <vt:lpstr>Tanh function </vt:lpstr>
      <vt:lpstr>ReLU (Rectified Linear Unit) function</vt:lpstr>
      <vt:lpstr>Vanishing gradient problem</vt:lpstr>
      <vt:lpstr>Sigmoid derivative</vt:lpstr>
      <vt:lpstr>Tanh derivative</vt:lpstr>
      <vt:lpstr>ReLU derivative </vt:lpstr>
      <vt:lpstr>Backpropagation</vt:lpstr>
      <vt:lpstr>Cost function</vt:lpstr>
      <vt:lpstr>Cost </vt:lpstr>
      <vt:lpstr>Gradients descent</vt:lpstr>
      <vt:lpstr>δj​ (error term) calculations</vt:lpstr>
      <vt:lpstr>PowerPoint Presentation</vt:lpstr>
      <vt:lpstr>Neral network example</vt:lpstr>
      <vt:lpstr>Solution:  Step 1:  calculate y_pred (aj)</vt:lpstr>
      <vt:lpstr>Step 2: Calculate error (Loss)</vt:lpstr>
      <vt:lpstr>Gradients (ΔW)</vt:lpstr>
      <vt:lpstr>Gradients (ΔW)</vt:lpstr>
      <vt:lpstr>Step 3: Update weights and bias </vt:lpstr>
      <vt:lpstr>PowerPoint Presentation</vt:lpstr>
      <vt:lpstr>Neural Network Classification  Example 1: </vt:lpstr>
      <vt:lpstr>Code</vt:lpstr>
      <vt:lpstr>PowerPoint Presentation</vt:lpstr>
      <vt:lpstr>Neural Network Classification  Example 2: </vt:lpstr>
      <vt:lpstr>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Imad Hammoodi AL-Jarah</dc:creator>
  <cp:lastModifiedBy>Ahmed Imad Hammoodi AL-Jarah</cp:lastModifiedBy>
  <cp:revision>68</cp:revision>
  <dcterms:created xsi:type="dcterms:W3CDTF">2026-02-10T00:07:09Z</dcterms:created>
  <dcterms:modified xsi:type="dcterms:W3CDTF">2026-05-20T16:43:22Z</dcterms:modified>
</cp:coreProperties>
</file>